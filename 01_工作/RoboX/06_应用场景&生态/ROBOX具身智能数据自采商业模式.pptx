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svg"/><Relationship Id="rId1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svg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6.svg"/><Relationship Id="rId7" Type="http://schemas.openxmlformats.org/officeDocument/2006/relationships/image" Target="../media/image35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0.svg"/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8.svg"/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0F172A', display: 'flex', flexDirection: 'column', justifyContent: 'center', alignItems: 'center', position: 'relative', overflow: 'hidden' }}&gt;&#10;  &lt;svg width=&quot;1280&quot; height=&quot;720&quot; viewBox=&quot;0 0 1280 720&quot; style={{ position: 'absolute', top: 0, left: 0, zIndex: 0 }}&gt;&#10;    &lt;defs&gt;&#10;      &lt;linearGradient id=&quot;gridGrad&quot; x1=&quot;0%&quot; y1=&quot;0%&quot; x2=&quot;100%&quot; y2=&quot;100%&quot;&gt;&#10;        &lt;stop offset=&quot;0%&quot; stopColor=&quot;#2563EB&quot; stopOpacity=&quot;0.15&quot; /&gt;&#10;        &lt;stop offset=&quot;100%&quot; stopColor=&quot;#06B6D4&quot; stopOpacity=&quot;0.05&quot; /&gt;&#10;      &lt;/linearGradient&gt;&#10;      &lt;radialGradient id=&quot;glow1&quot; cx=&quot;80%&quot; cy=&quot;20%&quot; r=&quot;40%&quot;&gt;&#10;        &lt;stop offset=&quot;0%&quot; stopColor=&quot;#2563EB&quot; stopOpacity=&quot;0.25&quot; /&gt;&#10;        &lt;stop offset=&quot;100%&quot; stopColor=&quot;#2563EB&quot; stopOpacity=&quot;0&quot; /&gt;&#10;      &lt;/radialGradient&gt;&#10;      &lt;radialGradient id=&quot;glow2&quot; cx=&quot;20%&quot; cy=&quot;80%&quot; r=&quot;35%&quot;&gt;&#10;        &lt;stop offset=&quot;0%&quot; stopColor=&quot;#8B5CF6&quot; stopOpacity=&quot;0.2&quot; /&gt;&#10;        &lt;stop offset=&quot;100%&quot; stopColor=&quot;#8B5CF6&quot; stopOpacity=&quot;0&quot; /&gt;&#10;      &lt;/radialGradient&gt;&#10;    &lt;/defs&gt;&#10;    &lt;rect width=&quot;1280&quot; height=&quot;720&quot; fill=&quot;url(#gridGrad)&quot; /&gt;&#10;    &lt;rect width=&quot;1280&quot; height=&quot;720&quot; fill=&quot;url(#glow1)&quot; /&gt;&#10;    &lt;rect width=&quot;1280&quot; height=&quot;720&quot; fill=&quot;url(#glow2)&quot; /&gt;&#10;    {Array.from({ length: 18 }).map((_, i) =&gt; (&#10;      &lt;line key={`h${i}`} x1=&quot;0&quot; y1={i * 40} x2=&quot;1280&quot; y2={i * 40} stroke=&quot;#2563EB&quot; strokeWidth=&quot;0.5&quot; opacity=&quot;0.08&quot; /&gt;&#10;    ))}&#10;    {Array.from({ length: 32 }).map((_, i) =&gt; (&#10;      &lt;line key={`v${i}`} x1={i * 40} y1=&quot;0&quot; x2={i * 40} y2=&quot;720&quot; stroke=&quot;#2563EB&quot; strokeWidth=&quot;0.5&quot; opacity=&quot;0.08&quot; /&gt;&#10;    ))}&#10;    &lt;circle cx=&quot;1020&quot; cy=&quot;150&quot; r=&quot;6&quot; fill=&quot;#06B6D4&quot; opacity=&quot;0.6&quot; /&gt;&#10;    &lt;circle cx=&quot;260&quot; cy=&quot;580&quot; r=&quot;5&quot; fill=&quot;#8B5CF6&quot; opacity=&quot;0.5&quot; /&gt;&#10;    &lt;circle cx=&quot;640&quot; cy=&quot;360&quot; r=&quot;3&quot; fill=&quot;#2563EB&quot; opacity=&quot;0.4&quot; /&gt;&#10;  &lt;/svg&gt;&#10;  &lt;Box style={{ zIndex: 1, flexDirection: 'column', alignItems: 'center', gap: 24, width: '100%', padding: '0 80px' }}&gt;&#10;    &lt;Box style={{ flexDirection: 'row', alignItems: 'center', gap: 16 }}&gt;&#10;      &lt;svg width=&quot;48&quot; height=&quot;48&quot; viewBox=&quot;0 0 48 48&quot;&gt;&#10;        &lt;rect x=&quot;4&quot; y=&quot;4&quot; width=&quot;40&quot; height=&quot;40&quot; rx=&quot;10&quot; fill=&quot;none&quot; stroke=&quot;#06B6D4&quot; strokeWidth=&quot;2&quot; /&gt;&#10;        &lt;circle cx=&quot;24&quot; cy=&quot;24&quot; r=&quot;8&quot; fill=&quot;none&quot; stroke=&quot;#2563EB&quot; strokeWidth=&quot;2&quot; /&gt;&#10;        &lt;circle cx=&quot;24&quot; cy=&quot;24&quot; r=&quot;3&quot; fill=&quot;#8B5CF6&quot; /&gt;&#10;      &lt;/svg&gt;&#10;      &lt;Text style={{ fontSize: 22, color: '#06B6D4', letterSpacing: 4, fontWeight: 600 }}&gt;ROBOX&lt;/Text&gt;&#10;    &lt;/Box&gt;&#10;    &lt;Text style={{ fontSize: 56, color: '#FFFFFF', fontWeight: 'bold', textAlign: 'center', lineHeight: 1.2, letterSpacing: 2 }}&gt;&#10;      具身智能数据自采&lt;br /&gt;商业模式&#10;    &lt;/Text&gt;&#10;    &lt;Box style={{ width: 120, height: 3, background: 'linear-gradient(90deg, #2563EB, #06B6D4)' }} /&gt;&#10;    &lt;Text style={{ fontSize: 20, color: '#94A3B8', textAlign: 'center', lineHeight: 1.6 }}&gt;&#10;      国内三城模式解析与ROBOX行动策略&#10;    &lt;/Text&gt;&#10;    &lt;Text style={{ fontSize: 16, color: '#475569', textAlign: 'center', marginTop: 16 }}&gt;&#10;      2026年8月 · 战略讨论稿&#10;    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5425" y="1600200"/>
            <a:ext cx="457200" cy="457200"/>
          </a:xfrm>
          <a:prstGeom prst="rect">
            <a:avLst/>
          </a:prstGeom>
        </p:spPr>
      </p:pic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5915025" y="1704975"/>
            <a:ext cx="971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300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ROBOX</a:t>
            </a:r>
            <a:endParaRPr lang="en-US" sz="1650" b="1" spc="300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3886200" y="2286000"/>
            <a:ext cx="4419600" cy="15430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4200" b="1" spc="1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具身智能数据自采</a:t>
            </a:r>
            <a:endParaRPr lang="zh-CN" sz="4200" b="1" spc="1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sz="4200" b="1" spc="1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商业模式</a:t>
            </a:r>
            <a:endParaRPr lang="zh-CN" sz="4200" b="1" spc="1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24500" y="4057650"/>
            <a:ext cx="1143000" cy="28575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0" scaled="1"/>
          </a:gradFill>
        </p:spPr>
        <p:txBody>
          <a:bodyPr/>
          <a:p/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4524375" y="4314825"/>
            <a:ext cx="3152775" cy="3714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5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国内三城模式解析与</a:t>
            </a:r>
            <a:r>
              <a:rPr lang="en-US" sz="15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ROBOX</a:t>
            </a:r>
            <a:r>
              <a:rPr lang="zh-CN" sz="15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行动策略</a:t>
            </a:r>
            <a:endParaRPr lang="zh-CN" sz="15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5276850" y="5067300"/>
            <a:ext cx="1647825" cy="1905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战略讨论稿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0" name="" descr="&lt;Slide style={{ width: '1280px', height: '720px', background: '#F1F5F9', display: 'flex', flexDirection: 'row', padding: '60px 60px 20px 60px' }}&gt;&#10;  &lt;Box style={{ width: '38%', background: 'linear-gradient(180deg, #0F172A 0%, #1E293B 100%)', borderRadius: 16, padding: '40px 32px', flexDirection: 'column', justifyContent: 'space-between', marginRight: 32 }}&gt;&#10;    &lt;Box style={{ flexDirection: 'column', gap: 20 }}&gt;&#10;      &lt;svg width=&quot;40&quot; height=&quot;40&quot; viewBox=&quot;0 0 40 40&quot;&gt;&#10;        &lt;rect x=&quot;4&quot; y=&quot;4&quot; width=&quot;32&quot; height=&quot;32&quot; rx=&quot;8&quot; fill=&quot;none&quot; stroke=&quot;#06B6D4&quot; strokeWidth=&quot;2&quot; /&gt;&#10;        &lt;circle cx=&quot;20&quot; cy=&quot;20&quot; r=&quot;6&quot; fill=&quot;none&quot; stroke=&quot;#2563EB&quot; strokeWidth=&quot;2&quot; /&gt;&#10;      &lt;/svg&gt;&#10;      &lt;Text style={{ fontSize: 36, color: '#FFFFFF', fontWeight: 'bold', lineHeight: 1.2 }}&gt;目录&lt;/Text&gt;&#10;      &lt;Text style={{ fontSize: 16, color: '#64748B', lineHeight: 1.6 }}&gt;&#10;        CONTENTS&#10;      &lt;/Text&gt;&#10;    &lt;/Box&gt;&#10;    &lt;Box style={{ flexDirection: 'column', gap: 8 }}&gt;&#10;      &lt;Text style={{ fontSize: 14, color: '#475569' }}&gt;ROBOX Robotics&lt;/Text&gt;&#10;      &lt;Text style={{ fontSize: 14, color: '#475569' }}&gt;2026.08&lt;/Text&gt;&#10;    &lt;/Box&gt;&#10;  &lt;/Box&gt;&#10;  &lt;Box style={{ flex: 1, flexDirection: 'column', justifyContent: 'center', gap: 40, padding: '20px 0' }}&gt;&#10;    &lt;Box style={{ flexDirection: 'row', alignItems: 'flex-start', gap: 24 }}&gt;&#10;      &lt;Box style={{ width: 56, height: 56, borderRadius: 12, background: 'linear-gradient(135deg, #2563EB 0%, #06B6D4 100%)', justifyContent: 'center', alignItems: 'center' }}&gt;&#10;        &lt;Text style={{ fontSize: 28, color: '#FFFFFF', fontWeight: 'bold' }}&gt;1&lt;/Text&gt;&#10;      &lt;/Box&gt;&#10;      &lt;Box style={{ flex: 1, flexDirection: 'column', gap: 8 }}&gt;&#10;        &lt;Text style={{ fontSize: 24, color: '#0F172A', fontWeight: 'bold' }}&gt;国内代表性数据自采模式&lt;/Text&gt;&#10;        &lt;Text style={{ fontSize: 16, color: '#64748B', lineHeight: 1.6 }}&gt;&#10;          青岛模式（产教融合） · 无锡模式（城市级数据基建） · 上海模式（三层体系并行）&#10;        &lt;/Text&gt;&#10;      &lt;/Box&gt;&#10;    &lt;/Box&gt;&#10;    &lt;Box style={{ width: '100%', height: 1, background: '#E2E8F0' }} /&gt;&#10;    &lt;Box style={{ flexDirection: 'row', alignItems: 'flex-start', gap: 24 }}&gt;&#10;      &lt;Box style={{ width: 56, height: 56, borderRadius: 12, background: 'linear-gradient(135deg, #06B6D4 0%, #8B5CF6 100%)', justifyContent: 'center', alignItems: 'center' }}&gt;&#10;        &lt;Text style={{ fontSize: 28, color: '#FFFFFF', fontWeight: 'bold' }}&gt;2&lt;/Text&gt;&#10;      &lt;/Box&gt;&#10;      &lt;Box style={{ flex: 1, flexDirection: 'column', gap: 8 }}&gt;&#10;        &lt;Text style={{ fontSize: 24, color: '#0F172A', fontWeight: 'bold' }}&gt;ROBOX下一步行动&lt;/Text&gt;&#10;        &lt;Text style={{ fontSize: 16, color: '#64748B', lineHeight: 1.6 }}&gt;&#10;          余杭本地青岛起步争取无锡 · 外埠直接沟通无锡模式 · 对接上海抢占标准话语权&#10;        &lt;/Text&gt;&#10;      &lt;/Box&gt;&#10;    &lt;/Box&gt;&#10;    &lt;Box style={{ width: '100%', height: 1, background: '#E2E8F0' }} /&gt;&#10;    &lt;Box style={{ flexDirection: 'row', alignItems: 'flex-start', gap: 24 }}&gt;&#10;      &lt;Box style={{ width: 56, height: 56, borderRadius: 12, background: 'linear-gradient(135deg, #8B5CF6 0%, #2563EB 100%)', justifyContent: 'center', alignItems: 'center' }}&gt;&#10;        &lt;Text style={{ fontSize: 28, color: '#FFFFFF', fontWeight: 'bold' }}&gt;3&lt;/Text&gt;&#10;      &lt;/Box&gt;&#10;      &lt;Box style={{ flex: 1, flexDirection: 'column', gap: 8 }}&gt;&#10;        &lt;Text style={{ fontSize: 24, color: '#0F172A', fontWeight: 'bold' }}&gt;合作伙伴与供应商总结&lt;/Text&gt;&#10;        &lt;Text style={{ fontSize: 16, color: '#64748B', lineHeight: 1.6 }}&gt;&#10;          硬件设备 · 数据合作 · 标准联盟 三类生态伙伴&#10;        &lt;/Text&gt;&#10;      &lt;/Box&gt;&#10;    &lt;/Box&gt;&#10;  &lt;/Box&gt;&#10;  &lt;Box style={{ position: 'absolute', bottom: 20, right: 60, flexDirection: 'row', alignItems: 'center', gap: 8 }}&gt;&#10;    &lt;Text style={{ fontSize: 14, color: '#94A3B8' }}&gt;ROBOX&lt;/Text&gt;&#10;    &lt;Text style={{ fontSize: 14, color: '#94A3B8' }}&gt;|&lt;/Text&gt;&#10;    &lt;Text style={{ fontSize: 14, color: '#94A3B8' }}&gt;02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矩形 1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</p:spPr>
        <p:txBody>
          <a:bodyPr/>
          <a:p/>
        </p:txBody>
      </p:sp>
      <p:sp>
        <p:nvSpPr>
          <p:cNvPr id="162" name="圆角矩形 161"/>
          <p:cNvSpPr/>
          <p:nvPr/>
        </p:nvSpPr>
        <p:spPr>
          <a:xfrm>
            <a:off x="571500" y="571500"/>
            <a:ext cx="4200525" cy="6096000"/>
          </a:xfrm>
          <a:prstGeom prst="roundRect">
            <a:avLst>
              <a:gd name="adj" fmla="val 3628"/>
            </a:avLst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5400000" scaled="1"/>
          </a:gradFill>
        </p:spPr>
        <p:txBody>
          <a:bodyPr/>
          <a:p/>
        </p:txBody>
      </p:sp>
      <p:pic>
        <p:nvPicPr>
          <p:cNvPr id="163" name="图片 16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300" y="952500"/>
            <a:ext cx="381000" cy="381000"/>
          </a:xfrm>
          <a:prstGeom prst="rect">
            <a:avLst/>
          </a:prstGeom>
        </p:spPr>
      </p:pic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876300" y="1524000"/>
            <a:ext cx="3590925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876300" y="2209800"/>
            <a:ext cx="35909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en-US"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876300" y="5886450"/>
            <a:ext cx="3590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ROBOX Robotics</a:t>
            </a:r>
            <a:endParaRPr lang="en-US" sz="105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876300" y="6124575"/>
            <a:ext cx="3590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2026.08</a:t>
            </a:r>
            <a:endParaRPr lang="en-US" sz="105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圆角矩形 167"/>
          <p:cNvSpPr/>
          <p:nvPr/>
        </p:nvSpPr>
        <p:spPr>
          <a:xfrm>
            <a:off x="5076825" y="1876425"/>
            <a:ext cx="533400" cy="533400"/>
          </a:xfrm>
          <a:prstGeom prst="roundRect">
            <a:avLst>
              <a:gd name="adj" fmla="val 21429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5257800" y="1981200"/>
            <a:ext cx="17145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5838825" y="1876425"/>
            <a:ext cx="57816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国内代表性数据自采模式</a:t>
            </a:r>
            <a:endParaRPr lang="zh-CN"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5838825" y="2228850"/>
            <a:ext cx="57816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青岛模式（产教融合）</a:t>
            </a: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无锡模式（城市级数据基建）</a:t>
            </a: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上海模式（三层体系并行）</a:t>
            </a:r>
            <a:endParaRPr lang="zh-CN"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矩形 171"/>
          <p:cNvSpPr/>
          <p:nvPr/>
        </p:nvSpPr>
        <p:spPr>
          <a:xfrm>
            <a:off x="5076825" y="2905125"/>
            <a:ext cx="6543675" cy="9525"/>
          </a:xfrm>
          <a:prstGeom prst="rect">
            <a:avLst/>
          </a:prstGeom>
          <a:solidFill>
            <a:srgbClr val="E2E8F0"/>
          </a:solidFill>
        </p:spPr>
        <p:txBody>
          <a:bodyPr/>
          <a:p/>
        </p:txBody>
      </p:sp>
      <p:sp>
        <p:nvSpPr>
          <p:cNvPr id="173" name="圆角矩形 172"/>
          <p:cNvSpPr/>
          <p:nvPr/>
        </p:nvSpPr>
        <p:spPr>
          <a:xfrm>
            <a:off x="5076825" y="3295650"/>
            <a:ext cx="533400" cy="533400"/>
          </a:xfrm>
          <a:prstGeom prst="roundRect">
            <a:avLst>
              <a:gd name="adj" fmla="val 21429"/>
            </a:avLst>
          </a:prstGeom>
          <a:gradFill>
            <a:gsLst>
              <a:gs pos="0">
                <a:srgbClr val="06B6D4"/>
              </a:gs>
              <a:gs pos="100000">
                <a:srgbClr val="8B5CF6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5257800" y="3400425"/>
            <a:ext cx="17145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5838825" y="3295650"/>
            <a:ext cx="57816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ROBOX</a:t>
            </a:r>
            <a:r>
              <a:rPr lang="zh-CN"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下一步行动</a:t>
            </a:r>
            <a:endParaRPr lang="zh-CN"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5838825" y="3648075"/>
            <a:ext cx="57816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余杭本地青岛起步争取无锡</a:t>
            </a: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外埠直接沟通无锡模式</a:t>
            </a: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对接上海抢占标准话语权</a:t>
            </a:r>
            <a:endParaRPr lang="zh-CN"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矩形 176"/>
          <p:cNvSpPr/>
          <p:nvPr/>
        </p:nvSpPr>
        <p:spPr>
          <a:xfrm>
            <a:off x="5076825" y="4324350"/>
            <a:ext cx="6543675" cy="9525"/>
          </a:xfrm>
          <a:prstGeom prst="rect">
            <a:avLst/>
          </a:prstGeom>
          <a:solidFill>
            <a:srgbClr val="E2E8F0"/>
          </a:solidFill>
        </p:spPr>
        <p:txBody>
          <a:bodyPr/>
          <a:p/>
        </p:txBody>
      </p:sp>
      <p:sp>
        <p:nvSpPr>
          <p:cNvPr id="178" name="圆角矩形 177"/>
          <p:cNvSpPr/>
          <p:nvPr/>
        </p:nvSpPr>
        <p:spPr>
          <a:xfrm>
            <a:off x="5076825" y="4714875"/>
            <a:ext cx="533400" cy="533400"/>
          </a:xfrm>
          <a:prstGeom prst="roundRect">
            <a:avLst>
              <a:gd name="adj" fmla="val 21429"/>
            </a:avLst>
          </a:prstGeom>
          <a:gradFill>
            <a:gsLst>
              <a:gs pos="0">
                <a:srgbClr val="8B5CF6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5257800" y="4819650"/>
            <a:ext cx="17145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5838825" y="4714875"/>
            <a:ext cx="57816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合作伙伴与供应商总结</a:t>
            </a:r>
            <a:endParaRPr lang="zh-CN" sz="1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5838825" y="5067300"/>
            <a:ext cx="57816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硬件设备</a:t>
            </a: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数据合作</a:t>
            </a: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标准联盟</a:t>
            </a: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三类生态伙伴</a:t>
            </a:r>
            <a:endParaRPr lang="zh-CN"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10496550" y="6505575"/>
            <a:ext cx="47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ROBOX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11049000" y="6505575"/>
            <a:ext cx="38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|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02 / 16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" name="" descr="&lt;Slide style={{ width: '1280px', height: '720px', background: '#0F172A', display: 'flex', flexDirection: 'column', justifyContent: 'center', alignItems: 'center', position: 'relative', overflow: 'hidden' }}&gt;&#10;  &lt;svg width=&quot;1280&quot; height=&quot;720&quot; viewBox=&quot;0 0 1280 720&quot; style={{ position: 'absolute', top: 0, left: 0, zIndex: 0 }}&gt;&#10;    &lt;defs&gt;&#10;      &lt;linearGradient id=&quot;sec1Grad&quot; x1=&quot;0%&quot; y1=&quot;0%&quot; x2=&quot;100%&quot; y2=&quot;100%&quot;&gt;&#10;        &lt;stop offset=&quot;0%&quot; stopColor=&quot;#2563EB&quot; stopOpacity=&quot;0.12&quot; /&gt;&#10;        &lt;stop offset=&quot;100%&quot; stopColor=&quot;#06B6D4&quot; stopOpacity=&quot;0.03&quot; /&gt;&#10;      &lt;/linearGradient&gt;&#10;    &lt;/defs&gt;&#10;    &lt;rect width=&quot;1280&quot; height=&quot;720&quot; fill=&quot;url(#sec1Grad)&quot; /&gt;&#10;    {Array.from({ length: 8 }).map((_, i) =&gt; (&#10;      &lt;circle key={i} cx={100 + i * 150} cy={100 + (i % 3) * 200} r={3 + i * 0.5} fill=&quot;#2563EB&quot; opacity={0.1 + i * 0.02} /&gt;&#10;    ))}&#10;    &lt;path d=&quot;M 0 500 Q 320 400 640 450 T 1280 380&quot; stroke=&quot;#06B6D4&quot; strokeWidth=&quot;1.5&quot; fill=&quot;none&quot; opacity=&quot;0.15&quot; /&gt;&#10;    &lt;path d=&quot;M 0 580 Q 320 480 640 530 T 1280 460&quot; stroke=&quot;#8B5CF6&quot; strokeWidth=&quot;1.5&quot; fill=&quot;none&quot; opacity=&quot;0.1&quot; /&gt;&#10;  &lt;/svg&gt;&#10;  &lt;Box style={{ zIndex: 1, flexDirection: 'column', alignItems: 'center', gap: 28 }}&gt;&#10;    &lt;Box style={{ flexDirection: 'row', alignItems: 'center', gap: 16 }}&gt;&#10;      &lt;Box style={{ width: 48, height: 2, background: '#06B6D4' }} /&gt;&#10;      &lt;Text style={{ fontSize: 18, color: '#06B6D4', letterSpacing: 6, fontWeight: 600 }}&gt;PART 01&lt;/Text&gt;&#10;      &lt;Box style={{ width: 48, height: 2, background: '#06B6D4' }} /&gt;&#10;    &lt;/Box&gt;&#10;    &lt;Text style={{ fontSize: 52, color: '#FFFFFF', fontWeight: 'bold', textAlign: 'center', lineHeight: 1.2 }}&gt;&#10;      国内代表性数据自采模式&#10;    &lt;/Text&gt;&#10;    &lt;Text style={{ fontSize: 20, color: '#94A3B8', textAlign: 'center', lineHeight: 1.6 }}&gt;&#10;      青岛模式 · 无锡模式 · 上海模式&#10;    &lt;/Text&gt;&#10;    &lt;Box style={{ width: 80, height: 3, background: 'linear-gradient(90deg, #2563EB, #8B5CF6)', marginTop: 16 }} /&gt;&#10;  &lt;/Box&gt;&#10;  &lt;Box style={{ position: 'absolute', bottom: 20, right: 60, zIndex: 1 }}&gt;&#10;    &lt;Text style={{ fontSize: 14, color: '#475569' }}&gt;03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矩形 18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txBody>
          <a:bodyPr/>
          <a:p/>
        </p:txBody>
      </p:sp>
      <p:pic>
        <p:nvPicPr>
          <p:cNvPr id="187" name="图片 18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8" name="矩形 187"/>
          <p:cNvSpPr/>
          <p:nvPr/>
        </p:nvSpPr>
        <p:spPr>
          <a:xfrm>
            <a:off x="4924425" y="2390775"/>
            <a:ext cx="457200" cy="19050"/>
          </a:xfrm>
          <a:prstGeom prst="rect">
            <a:avLst/>
          </a:prstGeom>
          <a:solidFill>
            <a:srgbClr val="06B6D4"/>
          </a:solidFill>
        </p:spPr>
        <p:txBody>
          <a:bodyPr/>
          <a:p/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5534025" y="2295525"/>
            <a:ext cx="11334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450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PART 01</a:t>
            </a:r>
            <a:endParaRPr lang="en-US" sz="1350" b="1" spc="450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矩形 189"/>
          <p:cNvSpPr/>
          <p:nvPr/>
        </p:nvSpPr>
        <p:spPr>
          <a:xfrm>
            <a:off x="6819900" y="2390775"/>
            <a:ext cx="457200" cy="19050"/>
          </a:xfrm>
          <a:prstGeom prst="rect">
            <a:avLst/>
          </a:prstGeom>
          <a:solidFill>
            <a:srgbClr val="06B6D4"/>
          </a:solidFill>
        </p:spPr>
        <p:txBody>
          <a:bodyPr/>
          <a:p/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3371850" y="2771775"/>
            <a:ext cx="5448300" cy="7143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国内代表性数据自采模式</a:t>
            </a:r>
            <a:endParaRPr lang="zh-CN" sz="3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4791075" y="3752850"/>
            <a:ext cx="2609850" cy="3714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5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青岛模式</a:t>
            </a:r>
            <a:r>
              <a:rPr lang="en-US" sz="15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5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无锡模式</a:t>
            </a:r>
            <a:r>
              <a:rPr lang="en-US" sz="15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5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上海模式</a:t>
            </a:r>
            <a:endParaRPr lang="zh-CN" sz="15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" name="矩形 192"/>
          <p:cNvSpPr/>
          <p:nvPr/>
        </p:nvSpPr>
        <p:spPr>
          <a:xfrm>
            <a:off x="5715000" y="4543425"/>
            <a:ext cx="762000" cy="28575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8B5CF6"/>
              </a:gs>
            </a:gsLst>
            <a:lin ang="0" scaled="1"/>
          </a:gradFill>
        </p:spPr>
        <p:txBody>
          <a:bodyPr/>
          <a:p/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03 / 16</a:t>
            </a:r>
            <a:endParaRPr lang="en-US" sz="105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" descr="&lt;Slide style={{ width: '1280px', height: '720px', background: '#F1F5F9', display: 'flex', flexDirection: 'column', padding: '20px 60px 20px 60px' }}&gt;&#10;  &lt;Box style={{ flexDirection: 'row', alignItems: 'center', gap: 16, marginBottom: 8 }}&gt;&#10;    &lt;Box style={{ width: 6, height: 36, background: 'linear-gradient(180deg, #2563EB, #06B6D4)', borderRadius: 3 }} /&gt;&#10;    &lt;Text style={{ fontSize: 32, color: '#0F172A', fontWeight: 'bold' }}&gt;青岛模式：产教融合人才基地&lt;/Text&gt;&#10;  &lt;/Box&gt;&#10;  &lt;Box style={{ flex: 1, flexDirection: 'row', gap: 32, marginTop: 16 }}&gt;&#10;    &lt;Box style={{ width: '52%', background: '#FFFFFF', borderRadius: 16, padding: 28, boxShadow: '0 4px 20px rgba(0,0,0,0.06)' }}&gt;&#10;      &lt;Text style={{ fontSize: 18, color: '#64748B', marginBottom: 20, fontWeight: 600 }}&gt;产教融合三角架构&lt;/Text&gt;&#10;      &lt;svg width=&quot;100%&quot; height=&quot;380&quot; viewBox=&quot;0 0 480 380&quot;&gt;&#10;        &lt;defs&gt;&#10;          &lt;linearGradient id=&quot;qdGrad1&quot; x1=&quot;0%&quot; y1=&quot;0%&quot; x2=&quot;100%&quot; y2=&quot;100%&quot;&gt;&#10;            &lt;stop offset=&quot;0%&quot; stopColor=&quot;#2563EB&quot; /&gt;&#10;            &lt;stop offset=&quot;100%&quot; stopColor=&quot;#06B6D4&quot; /&gt;&#10;          &lt;/linearGradient&gt;&#10;        &lt;/defs&gt;&#10;        &lt;rect x=&quot;170&quot; y=&quot;20&quot; width=&quot;140&quot; height=&quot;70&quot; rx=&quot;12&quot; fill=&quot;url(#qdGrad1)&quot; /&gt;&#10;        &lt;text x=&quot;240&quot; y=&quot;50&quot; textAnchor=&quot;middle&quot; fill=&quot;#FFFFFF&quot; fontSize=&quot;16&quot; fontWeight=&quot;bold&quot;&gt;职业院校&lt;/text&gt;&#10;        &lt;text x=&quot;240&quot; y=&quot;72&quot; textAnchor=&quot;middle&quot; fill=&quot;#DBEAFE&quot; fontSize=&quot;12&quot;&gt;场地+学生+学分&lt;/text&gt;&#10;        &lt;rect x=&quot;30&quot; y=&quot;250&quot; width=&quot;140&quot; height=&quot;70&quot; rx=&quot;12&quot; fill=&quot;#06B6D4&quot; opacity=&quot;0.9&quot; /&gt;&#10;        &lt;text x=&quot;100&quot; y=&quot;280&quot; textAnchor=&quot;middle&quot; fill=&quot;#FFFFFF&quot; fontSize=&quot;16&quot; fontWeight=&quot;bold&quot;&gt;企业&lt;/text&gt;&#10;        &lt;text x=&quot;100&quot; y=&quot;302&quot; textAnchor=&quot;middle&quot; fill=&quot;#CFFAFE&quot; fontSize=&quot;12&quot;&gt;订单培养+售后中心&lt;/text&gt;&#10;        &lt;rect x=&quot;310&quot; y=&quot;250&quot; width=&quot;140&quot; height=&quot;70&quot; rx=&quot;12&quot; fill=&quot;#8B5CF6&quot; opacity=&quot;0.9&quot; /&gt;&#10;        &lt;text x=&quot;380&quot; y=&quot;280&quot; textAnchor=&quot;middle&quot; fill=&quot;#FFFFFF&quot; fontSize=&quot;16&quot; fontWeight=&quot;bold&quot;&gt;省政府&lt;/text&gt;&#10;        &lt;text x=&quot;380&quot; y=&quot;302&quot; textAnchor=&quot;middle&quot; fill=&quot;#EDE9FE&quot; fontSize=&quot;12&quot;&gt;重点建设+政策背书&lt;/text&gt;&#10;        &lt;line x1=&quot;240&quot; y1=&quot;90&quot; x2=&quot;100&quot; y2=&quot;250&quot; stroke=&quot;#2563EB&quot; strokeWidth=&quot;2&quot; opacity=&quot;0.5&quot; /&gt;&#10;        &lt;line x1=&quot;240&quot; y1=&quot;90&quot; x2=&quot;380&quot; y2=&quot;250&quot; stroke=&quot;#2563EB&quot; strokeWidth=&quot;2&quot; opacity=&quot;0.5&quot; /&gt;&#10;        &lt;line x1=&quot;170&quot; y1=&quot;285&quot; x2=&quot;310&quot; y2=&quot;285&quot; stroke=&quot;#06B6D4&quot; strokeWidth=&quot;2&quot; opacity=&quot;0.4&quot; strokeDasharray=&quot;6 4&quot; /&gt;&#10;        &lt;circle cx=&quot;240&quot; cy=&quot;180&quot; r=&quot;42&quot; fill=&quot;#F1F5F9&quot; stroke=&quot;#2563EB&quot; strokeWidth=&quot;2&quot; opacity=&quot;0.6&quot; /&gt;&#10;        &lt;text x=&quot;240&quot; y=&quot;176&quot; textAnchor=&quot;middle&quot; fill=&quot;#0F172A&quot; fontSize=&quot;13&quot; fontWeight=&quot;bold&quot;&gt;数据采集&lt;/text&gt;&#10;        &lt;text x=&quot;240&quot; y=&quot;194&quot; textAnchor=&quot;middle&quot; fill=&quot;#64748B&quot; fontSize=&quot;11&quot;&gt;1500h/年&lt;/text&gt;&#10;        &lt;text x=&quot;100&quot; y=&quot;200&quot; textAnchor=&quot;middle&quot; fill=&quot;#2563EB&quot; fontSize=&quot;11&quot;&gt;提供设备&lt;/text&gt;&#10;        &lt;text x=&quot;380&quot; y=&quot;200&quot; textAnchor=&quot;middle&quot; fill=&quot;#8B5CF6&quot; fontSize=&quot;11&quot;&gt;省级认证&lt;/text&gt;&#10;        &lt;text x=&quot;180&quot; y=&quot;340&quot; textAnchor=&quot;middle&quot; fill=&quot;#64748B&quot; fontSize=&quot;12&quot;&gt;学生 = 采集员 + 标注员&lt;/text&gt;&#10;      &lt;/svg&gt;&#10;    &lt;/Box&gt;&#10;    &lt;Box style={{ flex: 1, flexDirection: 'column', gap: 16, justifyContent: 'center' }}&gt;&#10;      &lt;Box style={{ background: '#FFFFFF', borderRadius: 12, padding: '20px 24px', borderLeft: '4px solid #2563EB', boxShadow: '0 2px 12px rgba(0,0,0,0.04)' }}&gt;&#10;        &lt;Text style={{ fontSize: 18, color: '#0F172A', fontWeight: 'bold', marginBottom: 6 }}&gt;核心载体&lt;/Text&gt;&#10;        &lt;Text style={{ fontSize: 15, color: '#64748B', lineHeight: 1.6 }}&gt;青岛职业技术学院，1000㎡实训基地，人形机器人10台+灵巧手10个+机械臂24台&lt;/Text&gt;&#10;      &lt;/Box&gt;&#10;      &lt;Box style={{ background: '#FFFFFF', borderRadius: 12, padding: '20px 24px', borderLeft: '4px solid #06B6D4', boxShadow: '0 2px 12px rgba(0,0,0,0.04)' }}&gt;&#10;        &lt;Text style={{ fontSize: 18, color: '#0F172A', fontWeight: 'bold', marginBottom: 6 }}&gt;采集方式&lt;/Text&gt;&#10;        &lt;Text style={{ fontSize: 15, color: '#64748B', lineHeight: 1.6 }}&gt;主从遥操作 (Master-Slave Teleoperation，主从遥操作)，同一动作重复100-200次，学生完成采集+清洗+标注&lt;/Text&gt;&#10;      &lt;/Box&gt;&#10;      &lt;Box style={{ background: '#FFFFFF', borderRadius: 12, padding: '20px 24px', borderLeft: '4px solid #8B5CF6', boxShadow: '0 2px 12px rgba(0,0,0,0.04)' }}&gt;&#10;        &lt;Text style={{ fontSize: 18, color: '#0F172A', fontWeight: 'bold', marginBottom: 6 }}&gt;关键要点&lt;/Text&gt;&#10;        &lt;Text style={{ fontSize: 15, color: '#64748B', lineHeight: 1.6 }}&gt;年规划1500小时高质量数据；&quot;课堂即岗位，作业即产品&quot;；入选山东省首批26家重点建设单位&lt;/Text&gt;&#10;      &lt;/Box&gt;&#10;    &lt;/Box&gt;&#10;  &lt;/Box&gt;&#10;  &lt;Box style={{ position: 'absolute', bottom: 20, right: 60 }}&gt;&#10;    &lt;Text style={{ fontSize: 14, color: '#94A3B8' }}&gt;ROBOX | 04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矩形 1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</p:spPr>
        <p:txBody>
          <a:bodyPr/>
          <a:p/>
        </p:txBody>
      </p:sp>
      <p:sp>
        <p:nvSpPr>
          <p:cNvPr id="197" name="圆角矩形 196"/>
          <p:cNvSpPr/>
          <p:nvPr/>
        </p:nvSpPr>
        <p:spPr>
          <a:xfrm>
            <a:off x="571500" y="209550"/>
            <a:ext cx="57150" cy="3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781050" y="190500"/>
            <a:ext cx="39624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青岛模式：产教融合人才基地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圆角矩形 198"/>
          <p:cNvSpPr/>
          <p:nvPr/>
        </p:nvSpPr>
        <p:spPr>
          <a:xfrm>
            <a:off x="571500" y="790575"/>
            <a:ext cx="5743575" cy="5876925"/>
          </a:xfrm>
          <a:prstGeom prst="roundRect">
            <a:avLst>
              <a:gd name="adj" fmla="val 2653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838200" y="1057275"/>
            <a:ext cx="5210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产教融合三角架构</a:t>
            </a:r>
            <a:endParaRPr lang="zh-CN" sz="135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1" name="图片 20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1457325"/>
            <a:ext cx="5210175" cy="3619500"/>
          </a:xfrm>
          <a:prstGeom prst="rect">
            <a:avLst/>
          </a:prstGeom>
        </p:spPr>
      </p:pic>
      <p:sp>
        <p:nvSpPr>
          <p:cNvPr id="202" name="圆角矩形 201"/>
          <p:cNvSpPr/>
          <p:nvPr/>
        </p:nvSpPr>
        <p:spPr>
          <a:xfrm>
            <a:off x="6657975" y="1781175"/>
            <a:ext cx="5000625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effectLst>
            <a:outerShdw blurRad="1143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03" name="任意多边形 202"/>
          <p:cNvSpPr/>
          <p:nvPr/>
        </p:nvSpPr>
        <p:spPr>
          <a:xfrm>
            <a:off x="6657975" y="1781175"/>
            <a:ext cx="5000625" cy="1200150"/>
          </a:xfrm>
          <a:custGeom>
            <a:avLst/>
            <a:gdLst/>
            <a:ahLst/>
            <a:cxnLst/>
            <a:pathLst>
              <a:path w="525" h="12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8"/>
                </a:lnTo>
                <a:cubicBezTo>
                  <a:pt x="4" y="122"/>
                  <a:pt x="7" y="125"/>
                  <a:pt x="10" y="126"/>
                </a:cubicBezTo>
                <a:cubicBezTo>
                  <a:pt x="4" y="125"/>
                  <a:pt x="0" y="120"/>
                  <a:pt x="0" y="11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</p:spPr>
        <p:txBody>
          <a:bodyPr/>
          <a:p/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6886575" y="1971675"/>
            <a:ext cx="45053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核心载体</a:t>
            </a:r>
            <a:endParaRPr lang="zh-CN"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6886575" y="2238375"/>
            <a:ext cx="45053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青岛职业技术学院，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1000㎡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实训基地，人形机器人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台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灵巧手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机械臂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台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圆角矩形 205"/>
          <p:cNvSpPr/>
          <p:nvPr/>
        </p:nvSpPr>
        <p:spPr>
          <a:xfrm>
            <a:off x="6657975" y="3133725"/>
            <a:ext cx="5000625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effectLst>
            <a:outerShdw blurRad="1143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07" name="任意多边形 206"/>
          <p:cNvSpPr/>
          <p:nvPr/>
        </p:nvSpPr>
        <p:spPr>
          <a:xfrm>
            <a:off x="6657975" y="3133725"/>
            <a:ext cx="5000625" cy="1200150"/>
          </a:xfrm>
          <a:custGeom>
            <a:avLst/>
            <a:gdLst/>
            <a:ahLst/>
            <a:cxnLst/>
            <a:pathLst>
              <a:path w="525" h="12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8"/>
                </a:lnTo>
                <a:cubicBezTo>
                  <a:pt x="4" y="122"/>
                  <a:pt x="7" y="125"/>
                  <a:pt x="10" y="126"/>
                </a:cubicBezTo>
                <a:cubicBezTo>
                  <a:pt x="4" y="125"/>
                  <a:pt x="0" y="120"/>
                  <a:pt x="0" y="11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6B6D4"/>
          </a:solidFill>
        </p:spPr>
        <p:txBody>
          <a:bodyPr/>
          <a:p/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6886575" y="3324225"/>
            <a:ext cx="45053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采集方式</a:t>
            </a:r>
            <a:endParaRPr lang="zh-CN"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6886575" y="3590925"/>
            <a:ext cx="45053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主从遥操作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(Master-Slave Teleoperation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，主从遥操作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，同一动作重复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100-200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次，学生完成采集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清洗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标注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圆角矩形 209"/>
          <p:cNvSpPr/>
          <p:nvPr/>
        </p:nvSpPr>
        <p:spPr>
          <a:xfrm>
            <a:off x="6657975" y="4486275"/>
            <a:ext cx="5000625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effectLst>
            <a:outerShdw blurRad="1143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11" name="任意多边形 210"/>
          <p:cNvSpPr/>
          <p:nvPr/>
        </p:nvSpPr>
        <p:spPr>
          <a:xfrm>
            <a:off x="6657975" y="4486275"/>
            <a:ext cx="5000625" cy="1200150"/>
          </a:xfrm>
          <a:custGeom>
            <a:avLst/>
            <a:gdLst/>
            <a:ahLst/>
            <a:cxnLst/>
            <a:pathLst>
              <a:path w="525" h="12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8"/>
                </a:lnTo>
                <a:cubicBezTo>
                  <a:pt x="4" y="122"/>
                  <a:pt x="7" y="125"/>
                  <a:pt x="10" y="126"/>
                </a:cubicBezTo>
                <a:cubicBezTo>
                  <a:pt x="4" y="125"/>
                  <a:pt x="0" y="120"/>
                  <a:pt x="0" y="11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8B5CF6"/>
          </a:solidFill>
        </p:spPr>
        <p:txBody>
          <a:bodyPr/>
          <a:p/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6886575" y="4676775"/>
            <a:ext cx="45053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关键要点</a:t>
            </a:r>
            <a:endParaRPr lang="zh-CN"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6886575" y="4943475"/>
            <a:ext cx="45053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年规划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1500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小时高质量数据；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课堂即岗位，作业即产品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；入选山东省首批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26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家重点建设单位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10582275" y="6505575"/>
            <a:ext cx="1038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ROBOX | 04 / 16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5" name="" descr="&lt;Slide style={{ width: '1280px', height: '720px', background: '#F1F5F9', display: 'flex', flexDirection: 'column', padding: '20px 60px 20px 60px' }}&gt;&#10;  &lt;Box style={{ flexDirection: 'row', alignItems: 'center', gap: 16, marginBottom: 16 }}&gt;&#10;    &lt;Box style={{ width: 6, height: 36, background: 'linear-gradient(180deg, #2563EB, #06B6D4)', borderRadius: 3 }} /&gt;&#10;    &lt;Text style={{ fontSize: 32, color: '#0F172A', fontWeight: 'bold' }}&gt;青岛模式：运营细节与合作生态&lt;/Text&gt;&#10;  &lt;/Box&gt;&#10;  &lt;Box style={{ flex: 1, flexDirection: 'column', gap: 20 }}&gt;&#10;    &lt;Table&#10;      style={{ width: '100%', height: 'auto' }}&#10;      defaultTextStyle={{ fontSize: 15, textAlign: 'left', color: '#1A1A1A' }}&#10;      defaultCellStyle={{&#10;        border: {&#10;          left: { width: 1, color: '#E2E8F0' },&#10;          right: { width: 1, color: '#E2E8F0' },&#10;          top: { width: 1, color: '#E2E8F0' },&#10;          bottom: { width: 1, color: '#E2E8F0' },&#10;        },&#10;        padding: { top: 10, bottom: 10, left: 14, right: 14 },&#10;      }}&#10;      cells={[&#10;        [&#10;          { text: '维度', textStyle: { bold: true, color: '#FFFFFF', fontSize: 15 }, cellStyle: { background: { color: '#0F172A' } } },&#10;          { text: '具体信息', textStyle: { bold: true, color: '#FFFFFF', fontSize: 15 }, cellStyle: { background: { color: '#0F172A' } } },&#10;        ],&#10;        [&#10;          { text: '学校', textStyle: { bold: true, color: '#2563EB' } },&#10;          '青岛职业技术学院 — 信息学院副院长徐占鹏、AI专业教师陈静',&#10;        ],&#10;        [&#10;          { text: '硬件规模', cellStyle: { background: { color: '#F8FAFC' } }, textStyle: { bold: true, color: '#2563EB' } },&#10;          { text: '人形机器人10台、四足4台、灵巧手10个、机械臂24台+30台套、算力服务器15台套', cellStyle: { background: { color: '#F8FAFC' } } },&#10;        ],&#10;        [&#10;          { text: '四个实训室', textStyle: { bold: true, color: '#2563EB' } },&#10;          '(1) 数据采集与处理  (2) 售后服务与检测维修  (3) 机器人实训  (4) 智能感知与创新',&#10;        ],&#10;        [&#10;          { text: '越疆科技', cellStyle: { background: { color: '#F8FAFC' } }, textStyle: { bold: true, color: '#06B6D4' } },&#10;          { text: '华北区售后服务中心落户校内，学生直接维修返修M1Pro四轴协作机器人 (4-Axis Collaborative Robot，四轴协作机器人)', cellStyle: { background: { color: '#F8FAFC' } } },&#10;        ],&#10;        [&#10;          { text: '海尔集团', textStyle: { bold: true, color: '#06B6D4' } },&#10;          '订单式人才培养 — 学校按海尔需求培养特定技能学生，毕业即就业',&#10;        ],&#10;        [&#10;          { text: '青岛数据集团', cellStyle: { background: { color: '#F8FAFC' } }, textStyle: { bold: true, color: '#06B6D4' } },&#10;          { text: '订单式人才培养（同上模式）', cellStyle: { background: { color: '#F8FAFC' } } },&#10;        ],&#10;        [&#10;          { text: '文达通', textStyle: { bold: true, color: '#06B6D4' } },&#10;          '联合打造省级训练场',&#10;        ],&#10;        [&#10;          { text: '省级背书', cellStyle: { background: { color: '#F8FAFC' } }, textStyle: { bold: true, color: '#8B5CF6' } },&#10;          { text: '2026年7月入选山东省首批26家重点建设单位（产教融合型），面向在校师生+企业员工开放', cellStyle: { background: { color: '#F8FAFC' } } },&#10;        ],&#10;        [&#10;          { text: '学生收益', textStyle: { bold: true, color: '#8B5CF6' } },&#10;          '实操经验 + 学分认证 + 实习证明 + 就业竞争力（&quot;未毕业、已上岗&quot;）',&#10;        ],&#10;      ]}&#10;    /&gt;&#10;    &lt;Box style={{ background: '#0F172A', borderRadius: 12, padding: '16px 24px', flexDirection: 'row', alignItems: 'center', gap: 16 }}&gt;&#10;      &lt;FAIcon name='lightbulb' style={{ fill: '#06B6D4', width: 28, height: 28 }} /&gt;&#10;      &lt;Text style={{ fontSize: 16, color: '#E2E8F0', lineHeight: 1.5 }}&gt;&#10;        &lt;span style={{ color: '#06B6D4', fontWeight: 'bold' }}&gt;核心洞察：&lt;/span&gt;启动成本最低的模式 — 学生&quot;免费&quot;劳动以学分/实习证明置换，年产能1500小时但几乎零人力成本&#10;      &lt;/Text&gt;&#10;    &lt;/Box&gt;&#10;  &lt;/Box&gt;&#10;  &lt;Box style={{ position: 'absolute', bottom: 20, right: 60 }}&gt;&#10;    &lt;Text style={{ fontSize: 14, color: '#94A3B8' }}&gt;ROBOX | 05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矩形 2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</p:spPr>
        <p:txBody>
          <a:bodyPr/>
          <a:p/>
        </p:txBody>
      </p:sp>
      <p:sp>
        <p:nvSpPr>
          <p:cNvPr id="217" name="圆角矩形 216"/>
          <p:cNvSpPr/>
          <p:nvPr/>
        </p:nvSpPr>
        <p:spPr>
          <a:xfrm>
            <a:off x="571500" y="209550"/>
            <a:ext cx="57150" cy="3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781050" y="190500"/>
            <a:ext cx="42672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青岛模式：运营细节与合作生态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19" name="表格 218"/>
          <p:cNvGraphicFramePr/>
          <p:nvPr/>
        </p:nvGraphicFramePr>
        <p:xfrm>
          <a:off x="571500" y="714375"/>
          <a:ext cx="11049000" cy="3009900"/>
        </p:xfrm>
        <a:graphic>
          <a:graphicData uri="http://schemas.openxmlformats.org/drawingml/2006/table">
            <a:tbl>
              <a:tblPr/>
              <a:tblGrid>
                <a:gridCol w="1198519"/>
                <a:gridCol w="9850481"/>
              </a:tblGrid>
              <a:tr h="3009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维度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具体信息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009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学校</a:t>
                      </a:r>
                      <a:endParaRPr sz="1125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青岛职业技术学院 — 信息学院副院长徐占鹏、AI专业教师陈静</a:t>
                      </a:r>
                      <a:endParaRPr sz="1125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09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硬件规模</a:t>
                      </a:r>
                      <a:endParaRPr sz="1125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人形机器人10台、四足4台、灵巧手10个、机械臂24台+30台套、算力服务器15台套</a:t>
                      </a:r>
                      <a:endParaRPr sz="1125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009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四个实训室</a:t>
                      </a:r>
                      <a:endParaRPr sz="1125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(1) 数据采集与处理  (2) 售后服务与检测维修  (3) 机器人实训  (4) 智能感知与创新</a:t>
                      </a:r>
                      <a:endParaRPr sz="1125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09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6B6D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越疆科技</a:t>
                      </a:r>
                      <a:endParaRPr sz="1125" b="1">
                        <a:solidFill>
                          <a:srgbClr val="06B6D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华北区售后服务中心落户校内，学生直接维修返修M1Pro四轴协作机器人 (4-Axis Collaborative Robot，四轴协作机器人)</a:t>
                      </a:r>
                      <a:endParaRPr sz="1125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009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6B6D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海尔集团</a:t>
                      </a:r>
                      <a:endParaRPr sz="1125" b="1">
                        <a:solidFill>
                          <a:srgbClr val="06B6D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订单式人才培养 — 学校按海尔需求培养特定技能学生，毕业即就业</a:t>
                      </a:r>
                      <a:endParaRPr sz="1125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09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6B6D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青岛数据集团</a:t>
                      </a:r>
                      <a:endParaRPr sz="1125" b="1">
                        <a:solidFill>
                          <a:srgbClr val="06B6D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订单式人才培养（同上模式）</a:t>
                      </a:r>
                      <a:endParaRPr sz="1125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009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6B6D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文达通</a:t>
                      </a:r>
                      <a:endParaRPr sz="1125" b="1">
                        <a:solidFill>
                          <a:srgbClr val="06B6D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联合打造省级训练场</a:t>
                      </a:r>
                      <a:endParaRPr sz="1125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09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8B5CF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省级背书</a:t>
                      </a:r>
                      <a:endParaRPr sz="1125" b="1">
                        <a:solidFill>
                          <a:srgbClr val="8B5CF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2026年7月入选山东省首批26家重点建设单位（产教融合型），面向在校师生+企业员工开放</a:t>
                      </a:r>
                      <a:endParaRPr sz="1125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009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8B5CF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学生收益</a:t>
                      </a:r>
                      <a:endParaRPr sz="1125" b="1">
                        <a:solidFill>
                          <a:srgbClr val="8B5CF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实操经验 + 学分认证 + 实习证明 + 就业竞争力（"未毕业、已上岗"）</a:t>
                      </a:r>
                      <a:endParaRPr sz="1125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20" name="圆角矩形 219"/>
          <p:cNvSpPr/>
          <p:nvPr/>
        </p:nvSpPr>
        <p:spPr>
          <a:xfrm>
            <a:off x="571500" y="3914775"/>
            <a:ext cx="11049000" cy="581025"/>
          </a:xfrm>
          <a:prstGeom prst="roundRect">
            <a:avLst>
              <a:gd name="adj" fmla="val 19672"/>
            </a:avLst>
          </a:prstGeom>
          <a:solidFill>
            <a:srgbClr val="0F172A"/>
          </a:solidFill>
        </p:spPr>
        <p:txBody>
          <a:bodyPr/>
          <a:p/>
        </p:txBody>
      </p:sp>
      <p:pic>
        <p:nvPicPr>
          <p:cNvPr id="221" name="图片 22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0100" y="4076700"/>
            <a:ext cx="266700" cy="266700"/>
          </a:xfrm>
          <a:prstGeom prst="rect">
            <a:avLst/>
          </a:prstGeom>
        </p:spPr>
      </p:pic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1219200" y="4067175"/>
            <a:ext cx="73723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核心洞察：</a:t>
            </a:r>
            <a:r>
              <a:rPr lang="zh-CN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启动成本最低的模式</a:t>
            </a:r>
            <a:r>
              <a:rPr lang="en-US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 </a:t>
            </a:r>
            <a:r>
              <a:rPr lang="zh-CN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学生</a:t>
            </a:r>
            <a:r>
              <a:rPr lang="en-US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免费</a:t>
            </a:r>
            <a:r>
              <a:rPr lang="en-US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劳动以学分</a:t>
            </a:r>
            <a:r>
              <a:rPr lang="en-US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实习证明置换，年产能</a:t>
            </a:r>
            <a:r>
              <a:rPr lang="en-US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1500</a:t>
            </a:r>
            <a:r>
              <a:rPr lang="zh-CN" sz="12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小时但几乎零人力成本</a:t>
            </a:r>
            <a:endParaRPr lang="zh-CN" sz="12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10582275" y="6505575"/>
            <a:ext cx="1038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ROBOX | 05 / 16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4" name="" descr="&lt;Slide style={{ width: '1280px', height: '720px', background: '#F1F5F9', display: 'flex', flexDirection: 'column', padding: '20px 60px 20px 60px' }}&gt;&#10;  &lt;Box style={{ flexDirection: 'row', alignItems: 'center', gap: 16, marginBottom: 8 }}&gt;&#10;    &lt;Box style={{ width: 6, height: 36, background: 'linear-gradient(180deg, #2563EB, #8B5CF6)', borderRadius: 3 }} /&gt;&#10;    &lt;Text style={{ fontSize: 32, color: '#0F172A', fontWeight: 'bold' }}&gt;无锡模式：城市级数据基础设施&lt;/Text&gt;&#10;  &lt;/Box&gt;&#10;  &lt;Box style={{ flex: 1, flexDirection: 'row', gap: 32, alignItems: 'center' }}&gt;&#10;    &lt;Box style={{ width: '45%', flexDirection: 'column', gap: 20, justifyContent: 'center' }}&gt;&#10;      &lt;Box style={{ background: 'linear-gradient(135deg, #0F172A 0%, #1E293B 100%)', borderRadius: 20, padding: '40px 32px', flexDirection: 'column', alignItems: 'center', gap: 12, position: 'relative', overflow: 'hidden' }}&gt;&#10;        &lt;svg width=&quot;200&quot; height=&quot;200&quot; viewBox=&quot;0 0 200 200&quot; style={{ position: 'absolute', top: -40, right: -40, opacity: 0.08 }}&gt;&#10;          &lt;circle cx=&quot;100&quot; cy=&quot;100&quot; r=&quot;80&quot; fill=&quot;none&quot; stroke=&quot;#06B6D4&quot; strokeWidth=&quot;2&quot; /&gt;&#10;          &lt;circle cx=&quot;100&quot; cy=&quot;100&quot; r=&quot;50&quot; fill=&quot;none&quot; stroke=&quot;#2563EB&quot; strokeWidth=&quot;2&quot; /&gt;&#10;        &lt;/svg&gt;&#10;        &lt;Text style={{ fontSize: 16, color: '#64748B', letterSpacing: 2 }}&gt;已签数据订单&lt;/Text&gt;&#10;        &lt;Text style={{ fontSize: 84, fontWeight: 'bold', backgroundImage: 'linear-gradient(135deg, #2563EB 0%, #8B5CF6 100%)', backgroundClip: 'text', color: 'transparent', lineHeight: 1.0 }}&gt;&#10;          4万+&#10;        &lt;/Text&gt;&#10;        &lt;Text style={{ fontSize: 20, color: '#06B6D4' }}&gt;小时&lt;/Text&gt;&#10;        &lt;Box style={{ width: 60, height: 2, background: '#334155', margin: '8px 0' }} /&gt;&#10;        &lt;Text style={{ fontSize: 15, color: '#94A3B8', textAlign: 'center' }}&gt;20家核心客户签约&lt;/Text&gt;&#10;        &lt;Text style={{ fontSize: 15, color: '#94A3B8', textAlign: 'center' }}&gt;精准对接10万小时需求&lt;/Text&gt;&#10;      &lt;/Box&gt;&#10;    &lt;/Box&gt;&#10;    &lt;Box style={{ flex: 1, flexDirection: 'column', gap: 14 }}&gt;&#10;      &lt;Box style={{ background: '#FFFFFF', borderRadius: 12, padding: '18px 22px', boxShadow: '0 2px 12px rgba(0,0,0,0.04)', borderLeft: '4px solid #2563EB' }}&gt;&#10;        &lt;Text style={{ fontSize: 17, color: '#0F172A', fontWeight: 'bold', marginBottom: 4 }}&gt;组织架构&lt;/Text&gt;&#10;        &lt;Text style={{ fontSize: 14, color: '#64748B', lineHeight: 1.5 }}&gt;无锡数据集团（国资，注册6.92亿）+ 华智AI（子公司）+ 穹彻智能（CEO卢策吾/上海交大）&lt;/Text&gt;&#10;      &lt;/Box&gt;&#10;      &lt;Box style={{ background: '#FFFFFF', borderRadius: 12, padding: '18px 22px', boxShadow: '0 2px 12px rgba(0,0,0,0.04)', borderLeft: '4px solid #06B6D4' }}&gt;&#10;        &lt;Text style={{ fontSize: 17, color: '#0F172A', fontWeight: 'bold', marginBottom: 4 }}&gt;&quot;三真&quot;原则&lt;/Text&gt;&#10;        &lt;Text style={{ fontSize: 14, color: '#64748B', lineHeight: 1.5 }}&gt;真实场景（工厂产线）+ 真实设备（工人实际使用）+ 真人操作（资深技工）&lt;/Text&gt;&#10;      &lt;/Box&gt;&#10;      &lt;Box style={{ background: '#FFFFFF', borderRadius: 12, padding: '18px 22px', boxShadow: '0 2px 12px rgba(0,0,0,0.04)', borderLeft: '4px solid #8B5CF6' }}&gt;&#10;        &lt;Text style={{ fontSize: 17, color: '#0F172A', fontWeight: 'bold', marginBottom: 4 }}&gt;&quot;无本体&quot;数采创新&lt;/Text&gt;&#10;        &lt;Text style={{ fontSize: 14, color: '#64748B', lineHeight: 1.5 }}&gt;工人穿戴轻量化非侵入式终端，不停产，单日百GB级数据捕捉，已落地贝斯特/新日电动车&lt;/Text&gt;&#10;      &lt;/Box&gt;&#10;      &lt;Box style={{ background: '#FFFFFF', borderRadius: 12, padding: '18px 22px', boxShadow: '0 2px 12px rgba(0,0,0,0.04)', borderLeft: '4px solid #2563EB' }}&gt;&#10;        &lt;Text style={{ fontSize: 17, color: '#0F172A', fontWeight: 'bold', marginBottom: 4 }}&gt;数据采集5.0&lt;/Text&gt;&#10;        &lt;Text style={{ fontSize: 14, color: '#64748B', lineHeight: 1.5 }}&gt;与帕西尼联合研发EGO (Egocentric，第一视角) 设备，&quot;视觉—触觉—空间语义&quot;三位一体+数字水印确权&lt;/Text&gt;&#10;      &lt;/Box&gt;&#10;    &lt;/Box&gt;&#10;  &lt;/Box&gt;&#10;  &lt;Box style={{ position: 'absolute', bottom: 20, right: 60 }}&gt;&#10;    &lt;Text style={{ fontSize: 14, color: '#94A3B8' }}&gt;ROBOX | 06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矩形 2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</p:spPr>
        <p:txBody>
          <a:bodyPr/>
          <a:p/>
        </p:txBody>
      </p:sp>
      <p:sp>
        <p:nvSpPr>
          <p:cNvPr id="226" name="圆角矩形 225"/>
          <p:cNvSpPr/>
          <p:nvPr/>
        </p:nvSpPr>
        <p:spPr>
          <a:xfrm>
            <a:off x="571500" y="209550"/>
            <a:ext cx="57150" cy="3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8B5CF6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781050" y="190500"/>
            <a:ext cx="42672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无锡模式：城市级数据基础设施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圆角矩形 227"/>
          <p:cNvSpPr/>
          <p:nvPr/>
        </p:nvSpPr>
        <p:spPr>
          <a:xfrm>
            <a:off x="5886450" y="1800225"/>
            <a:ext cx="57721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effectLst>
            <a:outerShdw blurRad="1143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29" name="任意多边形 228"/>
          <p:cNvSpPr/>
          <p:nvPr/>
        </p:nvSpPr>
        <p:spPr>
          <a:xfrm>
            <a:off x="5886450" y="1800225"/>
            <a:ext cx="5772150" cy="1066800"/>
          </a:xfrm>
          <a:custGeom>
            <a:avLst/>
            <a:gdLst/>
            <a:ahLst/>
            <a:cxnLst/>
            <a:pathLst>
              <a:path w="606" h="112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4"/>
                </a:lnTo>
                <a:cubicBezTo>
                  <a:pt x="4" y="108"/>
                  <a:pt x="7" y="111"/>
                  <a:pt x="10" y="112"/>
                </a:cubicBezTo>
                <a:cubicBezTo>
                  <a:pt x="4" y="111"/>
                  <a:pt x="0" y="106"/>
                  <a:pt x="0" y="100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</p:spPr>
        <p:txBody>
          <a:bodyPr/>
          <a:p/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6096000" y="1971675"/>
            <a:ext cx="5314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组织架构</a:t>
            </a:r>
            <a:endParaRPr lang="zh-CN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6096000" y="2209800"/>
            <a:ext cx="53149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无锡数据集团（国资，注册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6.92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亿）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华智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（子公司）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穹彻智能（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CEO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卢策吾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上海交大）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" name="圆角矩形 231"/>
          <p:cNvSpPr/>
          <p:nvPr/>
        </p:nvSpPr>
        <p:spPr>
          <a:xfrm>
            <a:off x="5886450" y="3000375"/>
            <a:ext cx="5772150" cy="82867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effectLst>
            <a:outerShdw blurRad="1143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33" name="任意多边形 232"/>
          <p:cNvSpPr/>
          <p:nvPr/>
        </p:nvSpPr>
        <p:spPr>
          <a:xfrm>
            <a:off x="5886450" y="3000375"/>
            <a:ext cx="5772150" cy="828675"/>
          </a:xfrm>
          <a:custGeom>
            <a:avLst/>
            <a:gdLst/>
            <a:ahLst/>
            <a:cxnLst/>
            <a:pathLst>
              <a:path w="606" h="8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79"/>
                </a:lnTo>
                <a:cubicBezTo>
                  <a:pt x="4" y="83"/>
                  <a:pt x="7" y="86"/>
                  <a:pt x="10" y="87"/>
                </a:cubicBezTo>
                <a:cubicBezTo>
                  <a:pt x="4" y="86"/>
                  <a:pt x="0" y="81"/>
                  <a:pt x="0" y="7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6B6D4"/>
          </a:solidFill>
        </p:spPr>
        <p:txBody>
          <a:bodyPr/>
          <a:p/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6096000" y="3171825"/>
            <a:ext cx="5314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三真</a:t>
            </a:r>
            <a:r>
              <a:rPr lang="en-US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原则</a:t>
            </a:r>
            <a:endParaRPr lang="zh-CN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6096000" y="3409950"/>
            <a:ext cx="53149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真实场景（工厂产线）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真实设备（工人实际使用）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真人操作（资深技工）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" name="圆角矩形 235"/>
          <p:cNvSpPr/>
          <p:nvPr/>
        </p:nvSpPr>
        <p:spPr>
          <a:xfrm>
            <a:off x="5886450" y="3962400"/>
            <a:ext cx="5772150" cy="82867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effectLst>
            <a:outerShdw blurRad="1143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37" name="任意多边形 236"/>
          <p:cNvSpPr/>
          <p:nvPr/>
        </p:nvSpPr>
        <p:spPr>
          <a:xfrm>
            <a:off x="5886450" y="3962400"/>
            <a:ext cx="5772150" cy="828675"/>
          </a:xfrm>
          <a:custGeom>
            <a:avLst/>
            <a:gdLst/>
            <a:ahLst/>
            <a:cxnLst/>
            <a:pathLst>
              <a:path w="606" h="8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79"/>
                </a:lnTo>
                <a:cubicBezTo>
                  <a:pt x="4" y="83"/>
                  <a:pt x="7" y="86"/>
                  <a:pt x="10" y="87"/>
                </a:cubicBezTo>
                <a:cubicBezTo>
                  <a:pt x="4" y="86"/>
                  <a:pt x="0" y="81"/>
                  <a:pt x="0" y="7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8B5CF6"/>
          </a:solidFill>
        </p:spPr>
        <p:txBody>
          <a:bodyPr/>
          <a:p/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6096000" y="4133850"/>
            <a:ext cx="5314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无本体</a:t>
            </a:r>
            <a:r>
              <a:rPr lang="en-US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数采创新</a:t>
            </a:r>
            <a:endParaRPr lang="zh-CN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6096000" y="4371975"/>
            <a:ext cx="53149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工人穿戴轻量化非侵入式终端，不停产，单日百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GB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级数据捕捉，已落地贝斯特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新日电动车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" name="圆角矩形 239"/>
          <p:cNvSpPr/>
          <p:nvPr/>
        </p:nvSpPr>
        <p:spPr>
          <a:xfrm>
            <a:off x="5886450" y="4924425"/>
            <a:ext cx="57721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effectLst>
            <a:outerShdw blurRad="1143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41" name="任意多边形 240"/>
          <p:cNvSpPr/>
          <p:nvPr/>
        </p:nvSpPr>
        <p:spPr>
          <a:xfrm>
            <a:off x="5886450" y="4924425"/>
            <a:ext cx="5772150" cy="1066800"/>
          </a:xfrm>
          <a:custGeom>
            <a:avLst/>
            <a:gdLst/>
            <a:ahLst/>
            <a:cxnLst/>
            <a:pathLst>
              <a:path w="606" h="112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4"/>
                </a:lnTo>
                <a:cubicBezTo>
                  <a:pt x="4" y="108"/>
                  <a:pt x="7" y="111"/>
                  <a:pt x="10" y="112"/>
                </a:cubicBezTo>
                <a:cubicBezTo>
                  <a:pt x="4" y="111"/>
                  <a:pt x="0" y="106"/>
                  <a:pt x="0" y="100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</p:spPr>
        <p:txBody>
          <a:bodyPr/>
          <a:p/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6096000" y="5095875"/>
            <a:ext cx="5314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数据采集</a:t>
            </a:r>
            <a:r>
              <a:rPr lang="en-US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5.0</a:t>
            </a:r>
            <a:endParaRPr lang="en-US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6096000" y="5334000"/>
            <a:ext cx="53149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与帕西尼联合研发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EGO (Egocentric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，第一视角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)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设备，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视觉—触觉—空间语义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三位一体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数字水印确权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" name="圆角矩形 243"/>
          <p:cNvSpPr/>
          <p:nvPr/>
        </p:nvSpPr>
        <p:spPr>
          <a:xfrm>
            <a:off x="571500" y="2038350"/>
            <a:ext cx="4972050" cy="3228975"/>
          </a:xfrm>
          <a:prstGeom prst="roundRect">
            <a:avLst>
              <a:gd name="adj" fmla="val 5900"/>
            </a:avLst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2543175" y="2419350"/>
            <a:ext cx="1028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已签数据订单</a:t>
            </a:r>
            <a:endParaRPr lang="zh-CN" sz="1200" spc="1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2105025" y="2724150"/>
            <a:ext cx="1905000" cy="962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00" b="1">
                <a:gradFill>
                  <a:gsLst>
                    <a:gs pos="0">
                      <a:srgbClr val="2563EB"/>
                    </a:gs>
                    <a:gs pos="100000">
                      <a:srgbClr val="8B5CF6"/>
                    </a:gs>
                  </a:gsLst>
                  <a:lin ang="27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sz="6300" b="1">
                <a:gradFill>
                  <a:gsLst>
                    <a:gs pos="0">
                      <a:srgbClr val="2563EB"/>
                    </a:gs>
                    <a:gs pos="100000">
                      <a:srgbClr val="8B5CF6"/>
                    </a:gs>
                  </a:gsLst>
                  <a:lin ang="27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万</a:t>
            </a:r>
            <a:r>
              <a:rPr lang="en-US" sz="6300" b="1">
                <a:gradFill>
                  <a:gsLst>
                    <a:gs pos="0">
                      <a:srgbClr val="2563EB"/>
                    </a:gs>
                    <a:gs pos="100000">
                      <a:srgbClr val="8B5CF6"/>
                    </a:gs>
                  </a:gsLst>
                  <a:lin ang="27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endParaRPr lang="en-US" sz="6300" b="1">
              <a:gradFill>
                <a:gsLst>
                  <a:gs pos="0">
                    <a:srgbClr val="2563EB"/>
                  </a:gs>
                  <a:gs pos="100000">
                    <a:srgbClr val="8B5CF6"/>
                  </a:gs>
                </a:gsLst>
                <a:lin ang="2700000" scaled="1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2867025" y="3800475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小时</a:t>
            </a:r>
            <a:endParaRPr lang="zh-CN" sz="1500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8" name="矩形 247"/>
          <p:cNvSpPr/>
          <p:nvPr/>
        </p:nvSpPr>
        <p:spPr>
          <a:xfrm>
            <a:off x="2771775" y="4219575"/>
            <a:ext cx="571500" cy="19050"/>
          </a:xfrm>
          <a:prstGeom prst="rect">
            <a:avLst/>
          </a:prstGeom>
          <a:solidFill>
            <a:srgbClr val="334155"/>
          </a:solidFill>
        </p:spPr>
        <p:txBody>
          <a:bodyPr/>
          <a:p/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2476500" y="4429125"/>
            <a:ext cx="117157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家核心客户签约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2333625" y="4714875"/>
            <a:ext cx="1457325" cy="171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精准对接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万小时需求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1" name="图片 250"/>
          <p:cNvPicPr>
            <a:picLocks noChangeAspect="1"/>
          </p:cNvPicPr>
          <p:nvPr/>
        </p:nvPicPr>
        <p:blipFill>
          <a:blip r:embed="rId1">
            <a:alphaModFix amt="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19550" y="1657350"/>
            <a:ext cx="1905000" cy="1905000"/>
          </a:xfrm>
          <a:custGeom>
            <a:avLst/>
            <a:gdLst/>
            <a:ahLst/>
            <a:cxnLst/>
            <a:pathLst>
              <a:path w="200" h="200">
                <a:moveTo>
                  <a:pt x="141" y="40"/>
                </a:moveTo>
                <a:cubicBezTo>
                  <a:pt x="151" y="40"/>
                  <a:pt x="160" y="49"/>
                  <a:pt x="160" y="60"/>
                </a:cubicBezTo>
                <a:lnTo>
                  <a:pt x="160" y="200"/>
                </a:lnTo>
                <a:lnTo>
                  <a:pt x="0" y="200"/>
                </a:lnTo>
                <a:lnTo>
                  <a:pt x="0" y="40"/>
                </a:lnTo>
                <a:lnTo>
                  <a:pt x="140" y="40"/>
                </a:lnTo>
                <a:close/>
              </a:path>
            </a:pathLst>
          </a:custGeom>
        </p:spPr>
      </p:pic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10582275" y="6505575"/>
            <a:ext cx="1038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ROBOX | 06 / 16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3" name="" descr="&lt;Slide style={{ width: '1280px', height: '720px', background: '#F1F5F9', display: 'flex', flexDirection: 'column', padding: '20px 60px 20px 60px' }}&gt;&#10;  &lt;Box style={{ flexDirection: 'row', alignItems: 'center', gap: 16, marginBottom: 16 }}&gt;&#10;    &lt;Box style={{ width: 6, height: 36, background: 'linear-gradient(180deg, #2563EB, #06B6D4)', borderRadius: 3 }} /&gt;&#10;    &lt;Text style={{ fontSize: 32, color: '#0F172A', fontWeight: 'bold' }}&gt;无锡模式：商业闭环与四重收益&lt;/Text&gt;&#10;  &lt;/Box&gt;&#10;  &lt;Box style={{ flex: 1, flexDirection: 'row', gap: 28 }}&gt;&#10;    &lt;Box style={{ width: '55%', background: '#FFFFFF', borderRadius: 16, padding: 24, boxShadow: '0 4px 20px rgba(0,0,0,0.06)' }}&gt;&#10;      &lt;Text style={{ fontSize: 18, color: '#64748B', marginBottom: 20, fontWeight: 600 }}&gt;数据采集→治理→交易闭环&lt;/Text&gt;&#10;      &lt;svg width=&quot;100%&quot; height=&quot;420&quot; viewBox=&quot;0 0 560 420&quot;&gt;&#10;        &lt;defs&gt;&#10;          &lt;marker id=&quot;arrowWX&quot; markerWidth=&quot;10&quot; markerHeight=&quot;10&quot; refX=&quot;8&quot; refY=&quot;3&quot; orient=&quot;auto&quot;&gt;&#10;            &lt;path d=&quot;M0,0 L8,3 L0,6 Z&quot; fill=&quot;#2563EB&quot; /&gt;&#10;          &lt;/marker&gt;&#10;        &lt;/defs&gt;&#10;        &lt;rect x=&quot;40&quot; y=&quot;20&quot; width=&quot;200&quot; height=&quot;60&quot; rx=&quot;10&quot; fill=&quot;#2563EB&quot; opacity=&quot;0.9&quot; /&gt;&#10;        &lt;text x=&quot;140&quot; y=&quot;48&quot; textAnchor=&quot;middle&quot; fill=&quot;#FFFFFF&quot; fontSize=&quot;15&quot; fontWeight=&quot;bold&quot;&gt;企业工厂（三真原则）&lt;/text&gt;&#10;        &lt;text x=&quot;140&quot; y=&quot;68&quot; textAnchor=&quot;middle&quot; fill=&quot;#DBEAFE&quot; fontSize=&quot;12&quot;&gt;工人穿戴非侵入式终端&lt;/text&gt;&#10;        &lt;rect x=&quot;320&quot; y=&quot;20&quot; width=&quot;200&quot; height=&quot;60&quot; rx=&quot;10&quot; fill=&quot;#06B6D4&quot; opacity=&quot;0.9&quot; /&gt;&#10;        &lt;text x=&quot;420&quot; y=&quot;48&quot; textAnchor=&quot;middle&quot; fill=&quot;#FFFFFF&quot; fontSize=&quot;15&quot; fontWeight=&quot;bold&quot;&gt;原始数据&lt;/text&gt;&#10;        &lt;text x=&quot;420&quot; y=&quot;68&quot; textAnchor=&quot;middle&quot; fill=&quot;#CFFAFE&quot; fontSize=&quot;12&quot;&gt;单日百GB级&lt;/text&gt;&#10;        &lt;line x1=&quot;240&quot; y1=&quot;50&quot; x2=&quot;320&quot; y2=&quot;50&quot; stroke=&quot;#2563EB&quot; strokeWidth=&quot;2&quot; markerEnd=&quot;url(#arrowWX)&quot; /&gt;&#10;        &lt;rect x=&quot;320&quot; y=&quot;130&quot; width=&quot;200&quot; height=&quot;60&quot; rx=&quot;10&quot; fill=&quot;#0F172A&quot; /&gt;&#10;        &lt;text x=&quot;420&quot; y=&quot;158&quot; textAnchor=&quot;middle&quot; fill=&quot;#FFFFFF&quot; fontSize=&quot;15&quot; fontWeight=&quot;bold&quot;&gt;华智AI治理平台&lt;/text&gt;&#10;        &lt;text x=&quot;420&quot; y=&quot;178&quot; textAnchor=&quot;middle&quot; fill=&quot;#94A3B8&quot; fontSize=&quot;12&quot;&gt;脱敏→评估→核查&lt;/text&gt;&#10;        &lt;line x1=&quot;420&quot; y1=&quot;80&quot; x2=&quot;420&quot; y2=&quot;130&quot; stroke=&quot;#06B6D4&quot; strokeWidth=&quot;2&quot; markerEnd=&quot;url(#arrowWX)&quot; /&gt;&#10;        &lt;rect x=&quot;320&quot; y=&quot;240&quot; width=&quot;200&quot; height=&quot;60&quot; rx=&quot;10&quot; fill=&quot;#8B5CF6&quot; opacity=&quot;0.9&quot; /&gt;&#10;        &lt;text x=&quot;420&quot; y=&quot;268&quot; textAnchor=&quot;middle&quot; fill=&quot;#FFFFFF&quot; fontSize=&quot;15&quot; fontWeight=&quot;bold&quot;&gt;数据确权&lt;/text&gt;&#10;        &lt;text x=&quot;420&quot; y=&quot;288&quot; textAnchor=&quot;middle&quot; fill=&quot;#EDE9FE&quot; fontSize=&quot;12&quot;&gt;数字水印 + 3D建模&lt;/text&gt;&#10;        &lt;line x1=&quot;420&quot; y1=&quot;190&quot; x2=&quot;420&quot; y2=&quot;240&quot; stroke=&quot;#8B5CF6&quot; strokeWidth=&quot;2&quot; markerEnd=&quot;url(#arrowWX)&quot; /&gt;&#10;        &lt;rect x=&quot;40&quot; y=&quot;240&quot; width=&quot;200&quot; height=&quot;60&quot; rx=&quot;10&quot; fill=&quot;#2563EB&quot; opacity=&quot;0.9&quot; /&gt;&#10;        &lt;text x=&quot;140&quot; y=&quot;268&quot; textAnchor=&quot;middle&quot; fill=&quot;#FFFFFF&quot; fontSize=&quot;15&quot; fontWeight=&quot;bold&quot;&gt;数据产品化&lt;/text&gt;&#10;        &lt;text x=&quot;140&quot; y=&quot;288&quot; textAnchor=&quot;middle&quot; fill=&quot;#DBEAFE&quot; fontSize=&quot;12&quot;&gt;按小时/License出售&lt;/text&gt;&#10;        &lt;line x1=&quot;320&quot; y1=&quot;270&quot; x2=&quot;240&quot; y2=&quot;270&quot; stroke=&quot;#2563EB&quot; strokeWidth=&quot;2&quot; markerEnd=&quot;url(#arrowWX)&quot; /&gt;&#10;        &lt;rect x=&quot;40&quot; y=&quot;350&quot; width=&quot;480&quot; height=&quot;56&quot; rx=&quot;10&quot; fill=&quot;#06B6D4&quot; opacity=&quot;0.15&quot; stroke=&quot;#06B6D4&quot; strokeWidth=&quot;1.5&quot; /&gt;&#10;        &lt;text x=&quot;280&quot; y=&quot;374&quot; textAnchor=&quot;middle&quot; fill=&quot;#0F172A&quot; fontSize=&quot;14&quot; fontWeight=&quot;bold&quot;&gt;出售给机器人公司（20家客户已签约）&lt;/text&gt;&#10;        &lt;text x=&quot;280&quot; y=&quot;394&quot; textAnchor=&quot;middle&quot; fill=&quot;#64748B&quot; fontSize=&quot;12&quot;&gt;穹彻智能在手订单8000万+ | 融资方含红杉中国/阿里巴巴&lt;/text&gt;&#10;        &lt;line x1=&quot;140&quot; y1=&quot;300&quot; x2=&quot;140&quot; y2=&quot;350&quot; stroke=&quot;#2563EB&quot; strokeWidth=&quot;2&quot; markerEnd=&quot;url(#arrowWX)&quot; /&gt;&#10;      &lt;/svg&gt;&#10;    &lt;/Box&gt;&#10;    &lt;Box style={{ flex: 1, flexDirection: 'column', gap: 12, justifyContent: 'center' }}&gt;&#10;      &lt;Text style={{ fontSize: 18, color: '#0F172A', fontWeight: 'bold', marginBottom: 4 }}&gt;参与企业四重收益&lt;/Text&gt;&#10;      &lt;Box style={{ background: '#FFFFFF', borderRadius: 10, padding: '16px 20px', boxShadow: '0 2px 8px rgba(0,0,0,0.04)' }}&gt;&#10;        &lt;Box style={{ flexDirection: 'row', alignItems: 'center', gap: 12, marginBottom: 6 }}&gt;&#10;          &lt;Box style={{ width: 32, height: 32, borderRadius: 8, background: '#2563EB', justifyContent: 'center', alignItems: 'center' }}&gt;&#10;            &lt;Text style={{ fontSize: 16, color: '#FFFFFF', fontWeight: 'bold' }}&gt;1&lt;/Text&gt;&#10;          &lt;/Box&gt;&#10;          &lt;Text style={{ fontSize: 16, color: '#0F172A', fontWeight: 'bold' }}&gt;数据资产化分润&lt;/Text&gt;&#10;        &lt;/Box&gt;&#10;        &lt;Text style={{ fontSize: 14, color: '#64748B', lineHeight: 1.5, marginLeft: 44 }}&gt;数据出售后按比例分润给工厂&lt;/Text&gt;&#10;      &lt;/Box&gt;&#10;      &lt;Box style={{ background: '#FFFFFF', borderRadius: 10, padding: '16px 20px', boxShadow: '0 2px 8px rgba(0,0,0,0.04)' }}&gt;&#10;        &lt;Box style={{ flexDirection: 'row', alignItems: 'center', gap: 12, marginBottom: 6 }}&gt;&#10;          &lt;Box style={{ width: 32, height: 32, borderRadius: 8, background: '#06B6D4', justifyContent: 'center', alignItems: 'center' }}&gt;&#10;            &lt;Text style={{ fontSize: 16, color: '#FFFFFF', fontWeight: 'bold' }}&gt;2&lt;/Text&gt;&#10;          &lt;/Box&gt;&#10;          &lt;Text style={{ fontSize: 16, color: '#0F172A', fontWeight: 'bold' }}&gt;行业大模型使用权&lt;/Text&gt;&#10;        &lt;/Box&gt;&#10;        &lt;Text style={{ fontSize: 14, color: '#64748B', lineHeight: 1.5, marginLeft: 44 }}&gt;穹彻智能工业基座模型优先使用&lt;/Text&gt;&#10;      &lt;/Box&gt;&#10;      &lt;Box style={{ background: '#FFFFFF', borderRadius: 10, padding: '16px 20px', boxShadow: '0 2px 8px rgba(0,0,0,0.04)' }}&gt;&#10;        &lt;Box style={{ flexDirection: 'row', alignItems: 'center', gap: 12, marginBottom: 6 }}&gt;&#10;          &lt;Box style={{ width: 32, height: 32, borderRadius: 8, background: '#8B5CF6', justifyContent: 'center', alignItems: 'center' }}&gt;&#10;            &lt;Text style={{ fontSize: 16, color: '#FFFFFF', fontWeight: 'bold' }}&gt;3&lt;/Text&gt;&#10;          &lt;/Box&gt;&#10;          &lt;Text style={{ fontSize: 16, color: '#0F172A', fontWeight: 'bold' }}&gt;设备采购抵扣&lt;/Text&gt;&#10;        &lt;/Box&gt;&#10;        &lt;Text style={{ fontSize: 14, color: '#64748B', lineHeight: 1.5, marginLeft: 44 }}&gt;数据贡献折算为设备采购抵扣额度&lt;/Text&gt;&#10;      &lt;/Box&gt;&#10;      &lt;Box style={{ background: '#FFFFFF', borderRadius: 10, padding: '16px 20px', boxShadow: '0 2px 8px rgba(0,0,0,0.04)' }}&gt;&#10;        &lt;Box style={{ flexDirection: 'row', alignItems: 'center', gap: 12, marginBottom: 6 }}&gt;&#10;          &lt;Box style={{ width: 32, height: 32, borderRadius: 8, background: '#0F172A', justifyContent: 'center', alignItems: 'center' }}&gt;&#10;            &lt;Text style={{ fontSize: 16, color: '#FFFFFF', fontWeight: 'bold' }}&gt;4&lt;/Text&gt;&#10;          &lt;/Box&gt;&#10;          &lt;Text style={{ fontSize: 16, color: '#0F172A', fontWeight: 'bold' }}&gt;算力资源支持&lt;/Text&gt;&#10;        &lt;/Box&gt;&#10;        &lt;Text style={{ fontSize: 14, color: '#64748B', lineHeight: 1.5, marginLeft: 44 }}&gt;全国八大智算云服务节点之一&lt;/Text&gt;&#10;      &lt;/Box&gt;&#10;    &lt;/Box&gt;&#10;  &lt;/Box&gt;&#10;  &lt;Box style={{ position: 'absolute', bottom: 20, right: 60 }}&gt;&#10;    &lt;Text style={{ fontSize: 14, color: '#94A3B8' }}&gt;ROBOX | 07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矩形 2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</p:spPr>
        <p:txBody>
          <a:bodyPr/>
          <a:p/>
        </p:txBody>
      </p:sp>
      <p:sp>
        <p:nvSpPr>
          <p:cNvPr id="255" name="圆角矩形 254"/>
          <p:cNvSpPr/>
          <p:nvPr/>
        </p:nvSpPr>
        <p:spPr>
          <a:xfrm>
            <a:off x="571500" y="209550"/>
            <a:ext cx="57150" cy="3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781050" y="190500"/>
            <a:ext cx="42672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无锡模式：商业闭环与四重收益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圆角矩形 256"/>
          <p:cNvSpPr/>
          <p:nvPr/>
        </p:nvSpPr>
        <p:spPr>
          <a:xfrm>
            <a:off x="571500" y="714375"/>
            <a:ext cx="6076950" cy="5953125"/>
          </a:xfrm>
          <a:prstGeom prst="roundRect">
            <a:avLst>
              <a:gd name="adj" fmla="val 2560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800100" y="942975"/>
            <a:ext cx="56197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数据采集→治理→交易闭环</a:t>
            </a:r>
            <a:endParaRPr lang="zh-CN" sz="135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9" name="图片 25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0100" y="1343025"/>
            <a:ext cx="5619750" cy="4000500"/>
          </a:xfrm>
          <a:prstGeom prst="rect">
            <a:avLst/>
          </a:prstGeom>
        </p:spPr>
      </p:pic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6915150" y="1514475"/>
            <a:ext cx="4705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参与企业四重收益</a:t>
            </a:r>
            <a:endParaRPr lang="zh-CN"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圆角矩形 260"/>
          <p:cNvSpPr/>
          <p:nvPr/>
        </p:nvSpPr>
        <p:spPr>
          <a:xfrm>
            <a:off x="6915150" y="1876425"/>
            <a:ext cx="470535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effectLst>
            <a:outerShdw blurRad="762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62" name="圆角矩形 261"/>
          <p:cNvSpPr/>
          <p:nvPr/>
        </p:nvSpPr>
        <p:spPr>
          <a:xfrm>
            <a:off x="7105650" y="20288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7210425" y="2085975"/>
            <a:ext cx="95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7524750" y="2085975"/>
            <a:ext cx="1066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数据资产化分润</a:t>
            </a:r>
            <a:endParaRPr 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7524750" y="2390775"/>
            <a:ext cx="39052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数据出售后按比例分润给工厂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圆角矩形 265"/>
          <p:cNvSpPr/>
          <p:nvPr/>
        </p:nvSpPr>
        <p:spPr>
          <a:xfrm>
            <a:off x="6915150" y="2905125"/>
            <a:ext cx="470535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effectLst>
            <a:outerShdw blurRad="762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67" name="圆角矩形 266"/>
          <p:cNvSpPr/>
          <p:nvPr/>
        </p:nvSpPr>
        <p:spPr>
          <a:xfrm>
            <a:off x="7105650" y="30575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</p:spPr>
        <p:txBody>
          <a:bodyPr/>
          <a:p/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7210425" y="3114675"/>
            <a:ext cx="95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7524750" y="3114675"/>
            <a:ext cx="1219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行业大模型使用权</a:t>
            </a:r>
            <a:endParaRPr 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7524750" y="3419475"/>
            <a:ext cx="39052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穹彻智能工业基座模型优先使用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1" name="圆角矩形 270"/>
          <p:cNvSpPr/>
          <p:nvPr/>
        </p:nvSpPr>
        <p:spPr>
          <a:xfrm>
            <a:off x="6915150" y="3933825"/>
            <a:ext cx="470535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effectLst>
            <a:outerShdw blurRad="762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72" name="圆角矩形 271"/>
          <p:cNvSpPr/>
          <p:nvPr/>
        </p:nvSpPr>
        <p:spPr>
          <a:xfrm>
            <a:off x="7105650" y="40862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</p:spPr>
        <p:txBody>
          <a:bodyPr/>
          <a:p/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7210425" y="4143375"/>
            <a:ext cx="95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7524750" y="4143375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设备采购抵扣</a:t>
            </a:r>
            <a:endParaRPr 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7524750" y="4448175"/>
            <a:ext cx="39052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数据贡献折算为设备采购抵扣额度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圆角矩形 275"/>
          <p:cNvSpPr/>
          <p:nvPr/>
        </p:nvSpPr>
        <p:spPr>
          <a:xfrm>
            <a:off x="6915150" y="4962525"/>
            <a:ext cx="470535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effectLst>
            <a:outerShdw blurRad="762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77" name="圆角矩形 276"/>
          <p:cNvSpPr/>
          <p:nvPr/>
        </p:nvSpPr>
        <p:spPr>
          <a:xfrm>
            <a:off x="7105650" y="51149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7210425" y="5172075"/>
            <a:ext cx="95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7524750" y="5172075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算力资源支持</a:t>
            </a:r>
            <a:endParaRPr 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7524750" y="5476875"/>
            <a:ext cx="39052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全国八大智算云服务节点之一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10582275" y="6505575"/>
            <a:ext cx="1038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ROBOX | 07 / 16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2" name="" descr="&lt;Slide style={{ width: '1280px', height: '720px', background: '#F1F5F9', display: 'flex', flexDirection: 'column', padding: '20px 60px 20px 60px' }}&gt;&#10;  &lt;Box style={{ flexDirection: 'row', alignItems: 'center', gap: 16, marginBottom: 16 }}&gt;&#10;    &lt;Box style={{ width: 6, height: 36, background: 'linear-gradient(180deg, #2563EB, #8B5CF6)', borderRadius: 3 }} /&gt;&#10;    &lt;Text style={{ fontSize: 32, color: '#0F172A', fontWeight: 'bold' }}&gt;上海模式：三层体系并行&lt;/Text&gt;&#10;  &lt;/Box&gt;&#10;  &lt;Box style={{ flexDirection: 'column', gap: 16 }}&gt;&#10;    &lt;Box style={{ background: '#FFFFFF', borderRadius: 16, padding: '20px 28px', boxShadow: '0 4px 20px rgba(0,0,0,0.06)' }}&gt;&#10;      &lt;svg width=&quot;100%&quot; height=&quot;300&quot; viewBox=&quot;0 0 1160 300&quot;&gt;&#10;        &lt;defs&gt;&#10;          &lt;linearGradient id=&quot;shLayer1&quot; x1=&quot;0%&quot; y1=&quot;0%&quot; x2=&quot;100%&quot; y2=&quot;0%&quot;&gt;&#10;            &lt;stop offset=&quot;0%&quot; stopColor=&quot;#2563EB&quot; /&gt;&#10;            &lt;stop offset=&quot;100%&quot; stopColor=&quot;#06B6D4&quot; /&gt;&#10;          &lt;/linearGradient&gt;&#10;          &lt;linearGradient id=&quot;shLayer2&quot; x1=&quot;0%&quot; y1=&quot;0%&quot; x2=&quot;100%&quot; y2=&quot;0%&quot;&gt;&#10;            &lt;stop offset=&quot;0%&quot; stopColor=&quot;#06B6D4&quot; /&gt;&#10;            &lt;stop offset=&quot;100%&quot; stopColor=&quot;#8B5CF6&quot; /&gt;&#10;          &lt;/linearGradient&gt;&#10;          &lt;linearGradient id=&quot;shLayer3&quot; x1=&quot;0%&quot; y1=&quot;0%&quot; x2=&quot;100%&quot; y2=&quot;0%&quot;&gt;&#10;            &lt;stop offset=&quot;0%&quot; stopColor=&quot;#8B5CF6&quot; /&gt;&#10;            &lt;stop offset=&quot;100%&quot; stopColor=&quot;#2563EB&quot; /&gt;&#10;          &lt;/linearGradient&gt;&#10;        &lt;/defs&gt;&#10;        &lt;rect x=&quot;20&quot; y=&quot;10&quot; width=&quot;350&quot; height=&quot;80&quot; rx=&quot;12&quot; fill=&quot;url(#shLayer1)&quot; opacity=&quot;0.95&quot; /&gt;&#10;        &lt;text x=&quot;195&quot; y=&quot;42&quot; textAnchor=&quot;middle&quot; fill=&quot;#FFFFFF&quot; fontSize=&quot;18&quot; fontWeight=&quot;bold&quot;&gt;第一层：协会&quot;四维联动&quot;&lt;/text&gt;&#10;        &lt;text x=&quot;195&quot; y=&quot;66&quot; textAnchor=&quot;middle&quot; fill=&quot;#DBEAFE&quot; fontSize=&quot;13&quot;&gt;政府+独角兽+学校+场景&lt;/text&gt;&#10;        &lt;text x=&quot;195&quot; y=&quot;84&quot; textAnchor=&quot;middle&quot; fill=&quot;#DBEAFE&quot; fontSize=&quot;12&quot;&gt;数据采集→确权→分成→交易&lt;/text&gt;&#10;        &lt;rect x=&quot;405&quot; y=&quot;10&quot; width=&quot;350&quot; height=&quot;80&quot; rx=&quot;12&quot; fill=&quot;url(#shLayer2)&quot; opacity=&quot;0.95&quot; /&gt;&#10;        &lt;text x=&quot;580&quot; y=&quot;42&quot; textAnchor=&quot;middle&quot; fill=&quot;#FFFFFF&quot; fontSize=&quot;18&quot; fontWeight=&quot;bold&quot;&gt;第二层：国地中心&quot;1+N&quot;&lt;/text&gt;&#10;        &lt;text x=&quot;580&quot; y=&quot;66&quot; textAnchor=&quot;middle&quot; fill=&quot;#CFFAFE&quot; fontSize=&quot;13&quot;&gt;国家级标准化训练场&lt;/text&gt;&#10;        &lt;text x=&quot;580&quot; y=&quot;84&quot; textAnchor=&quot;middle&quot; fill=&quot;#CFFAFE&quot; fontSize=&quot;12&quot;&gt;9个分训练场+80项国标&lt;/text&gt;&#10;        &lt;rect x=&quot;790&quot; y=&quot;10&quot; width=&quot;350&quot; height=&quot;80&quot; rx=&quot;12&quot; fill=&quot;url(#shLayer3)&quot; opacity=&quot;0.95&quot; /&gt;&#10;        &lt;text x=&quot;965&quot; y=&quot;42&quot; textAnchor=&quot;middle&quot; fill=&quot;#FFFFFF&quot; fontSize=&quot;18&quot; fontWeight=&quot;bold&quot;&gt;第三层：复兴岛&quot;一景三实&quot;&lt;/text&gt;&#10;        &lt;text x=&quot;965&quot; y=&quot;66&quot; textAnchor=&quot;middle&quot; fill=&quot;#EDE9FE&quot; fontSize=&quot;13&quot;&gt;实景+实验+实测+实训&lt;/text&gt;&#10;        &lt;text x=&quot;965&quot; y=&quot;84&quot; textAnchor=&quot;middle&quot; fill=&quot;#EDE9FE&quot; fontSize=&quot;12&quot;&gt;机器人&quot;持证上岗&quot;&lt;/text&gt;&#10;        &lt;line x1=&quot;370&quot; y1=&quot;50&quot; x2=&quot;405&quot; y2=&quot;50&quot; stroke=&quot;#64748B&quot; strokeWidth=&quot;2&quot; strokeDasharray=&quot;4 3&quot; /&gt;&#10;        &lt;line x1=&quot;755&quot; y1=&quot;50&quot; x2=&quot;790&quot; y2=&quot;50&quot; stroke=&quot;#64748B&quot; strokeWidth=&quot;2&quot; strokeDasharray=&quot;4 3&quot; /&gt;&#10;        &lt;rect x=&quot;20&quot; y=&quot;130&quot; width=&quot;350&quot; height=&quot;150&quot; rx=&quot;12&quot; fill=&quot;#F8FAFC&quot; stroke=&quot;#2563EB&quot; strokeWidth=&quot;1&quot; opacity=&quot;0.8&quot; /&gt;&#10;        &lt;text x=&quot;195&quot; y=&quot;160&quot; textAnchor=&quot;middle&quot; fill=&quot;#2563EB&quot; fontSize=&quot;14&quot; fontWeight=&quot;bold&quot;&gt;商业模式&lt;/text&gt;&#10;        &lt;text x=&quot;195&quot; y=&quot;185&quot; textAnchor=&quot;middle&quot; fill=&quot;#475569&quot; fontSize=&quot;12&quot;&gt;AI微专业进校园（上海交大授学分）&lt;/text&gt;&#10;        &lt;text x=&quot;195&quot; y=&quot;205&quot; textAnchor=&quot;middle&quot; fill=&quot;#475569&quot; fontSize=&quot;12&quot;&gt;OPC平台一次开发多地复用&lt;/text&gt;&#10;        &lt;text x=&quot;195&quot; y=&quot;225&quot; textAnchor=&quot;middle&quot; fill=&quot;#475569&quot; fontSize=&quot;12&quot;&gt;产教融合资金采购设备课程&lt;/text&gt;&#10;        &lt;text x=&quot;195&quot; y=&quot;250&quot; textAnchor=&quot;middle&quot; fill=&quot;#8B5CF6&quot; fontSize=&quot;12&quot; fontWeight=&quot;bold&quot;&gt;参照德清无问智科已跑通模式&lt;/text&gt;&#10;        &lt;rect x=&quot;405&quot; y=&quot;130&quot; width=&quot;350&quot; height=&quot;150&quot; rx=&quot;12&quot; fill=&quot;#F8FAFC&quot; stroke=&quot;#06B6D4&quot; strokeWidth=&quot;1&quot; opacity=&quot;0.8&quot; /&gt;&#10;        &lt;text x=&quot;580&quot; y=&quot;160&quot; textAnchor=&quot;middle&quot; fill=&quot;#06B6D4&quot; fontSize=&quot;14&quot; fontWeight=&quot;bold&quot;&gt;标准制定&lt;/text&gt;&#10;        &lt;text x=&quot;580&quot; y=&quot;185&quot; textAnchor=&quot;middle&quot; fill=&quot;#475569&quot; fontSize=&quot;12&quot;&gt;白虎-VTouch数据集60000分钟&lt;/text&gt;&#10;        &lt;text x=&quot;580&quot; y=&quot;205&quot; textAnchor=&quot;middle&quot; fill=&quot;#475569&quot; fontSize=&quot;12&quot;&gt;首批6000分钟已OpenLoong开源&lt;/text&gt;&#10;        &lt;text x=&quot;580&quot; y=&quot;225&quot; textAnchor=&quot;middle&quot; fill=&quot;#475569&quot; fontSize=&quot;12&quot;&gt;视触觉多模态 · 380+任务类型&lt;/text&gt;&#10;        &lt;text x=&quot;580&quot; y=&quot;250&quot; textAnchor=&quot;middle&quot; fill=&quot;#8B5CF6&quot; fontSize=&quot;12&quot; fontWeight=&quot;bold&quot;&gt;与ROBOX TacWM直接对标&lt;/text&gt;&#10;        &lt;rect x=&quot;790&quot; y=&quot;130&quot; width=&quot;350&quot; height=&quot;150&quot; rx=&quot;12&quot; fill=&quot;#F8FAFC&quot; stroke=&quot;#8B5CF6&quot; strokeWidth=&quot;1&quot; opacity=&quot;0.8&quot; /&gt;&#10;        &lt;text x=&quot;965&quot; y=&quot;160&quot; textAnchor=&quot;middle&quot; fill=&quot;#8B5CF6&quot; fontSize=&quot;14&quot; fontWeight=&quot;bold&quot;&gt;场景验证&lt;/text&gt;&#10;        &lt;text x=&quot;965&quot; y=&quot;185&quot; textAnchor=&quot;middle&quot; fill=&quot;#475569&quot; fontSize=&quot;12&quot;&gt;32支创客团队+43位专家&lt;/text&gt;&#10;        &lt;text x=&quot;965&quot; y=&quot;205&quot; textAnchor=&quot;middle&quot; fill=&quot;#475569&quot; fontSize=&quot;12&quot;&gt;春训/夏训/秋训营三期&lt;/text&gt;&#10;        &lt;text x=&quot;965&quot; y=&quot;225&quot; textAnchor=&quot;middle&quot; fill=&quot;#475569&quot; fontSize=&quot;12&quot;&gt;四大城市场景运行&lt;/text&gt;&#10;        &lt;text x=&quot;965&quot; y=&quot;250&quot; textAnchor=&quot;middle&quot; fill=&quot;#8B5CF6&quot; fontSize=&quot;12&quot; fontWeight=&quot;bold&quot;&gt;运行数据实时回流反哺模型&lt;/text&gt;&#10;      &lt;/svg&gt;&#10;    &lt;/Box&gt;&#10;    &lt;Box style={{ flexDirection: 'row', gap: 16 }}&gt;&#10;      &lt;Box style={{ flex: 1, background: '#0F172A', borderRadius: 10, padding: '14px 20px', flexDirection: 'row', alignItems: 'center', gap: 12 }}&gt;&#10;        &lt;FAIcon name='building' style={{ fill: '#2563EB', width: 24, height: 24 }} /&gt;&#10;        &lt;Text style={{ fontSize: 14, color: '#E2E8F0' }}&gt;协会搭台：&lt;span style={{ color: '#06B6D4', fontWeight: 'bold' }}&gt;商业模式输出&lt;/span&gt;，长三角推广中&lt;/Text&gt;&#10;      &lt;/Box&gt;&#10;      &lt;Box style={{ flex: 1, background: '#0F172A', borderRadius: 10, padding: '14px 20px', flexDirection: 'row', alignItems: 'center', gap: 12 }}&gt;&#10;        &lt;FAIcon name='flag' style={{ fill: '#06B6D4', width: 24, height: 24 }} /&gt;&#10;        &lt;Text style={{ fontSize: 14, color: '#E2E8F0' }}&gt;国地中心：&lt;span style={{ color: '#06B6D4', fontWeight: 'bold' }}&gt;国家标准制定&lt;/span&gt;，年产能百万小时&lt;/Text&gt;&#10;      &lt;/Box&gt;&#10;      &lt;Box style={{ flex: 1, background: '#0F172A', borderRadius: 10, padding: '14px 20px', flexDirection: 'row', alignItems: 'center', gap: 12 }}&gt;&#10;        &lt;FAIcon name='map-marker-alt' style={{ fill: '#8B5CF6', width: 24, height: 24 }} /&gt;&#10;        &lt;Text style={{ fontSize: 14, color: '#E2E8F0' }}&gt;复兴岛：&lt;span style={{ color: '#8B5CF6', fontWeight: 'bold' }}&gt;真实场景验证&lt;/span&gt;，闭环数据&lt;/Text&gt;&#10;      &lt;/Box&gt;&#10;    &lt;/Box&gt;&#10;  &lt;/Box&gt;&#10;  &lt;Box style={{ position: 'absolute', bottom: 20, right: 60 }}&gt;&#10;    &lt;Text style={{ fontSize: 14, color: '#94A3B8' }}&gt;ROBOX | 08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矩形 2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</p:spPr>
        <p:txBody>
          <a:bodyPr/>
          <a:p/>
        </p:txBody>
      </p:sp>
      <p:sp>
        <p:nvSpPr>
          <p:cNvPr id="284" name="圆角矩形 283"/>
          <p:cNvSpPr/>
          <p:nvPr/>
        </p:nvSpPr>
        <p:spPr>
          <a:xfrm>
            <a:off x="571500" y="209550"/>
            <a:ext cx="57150" cy="3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8B5CF6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781050" y="190500"/>
            <a:ext cx="33528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上海模式：三层体系并行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" name="圆角矩形 285"/>
          <p:cNvSpPr/>
          <p:nvPr/>
        </p:nvSpPr>
        <p:spPr>
          <a:xfrm>
            <a:off x="571500" y="714375"/>
            <a:ext cx="11049000" cy="32385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287" name="图片 28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904875"/>
            <a:ext cx="10515600" cy="2857500"/>
          </a:xfrm>
          <a:prstGeom prst="rect">
            <a:avLst/>
          </a:prstGeom>
        </p:spPr>
      </p:pic>
      <p:sp>
        <p:nvSpPr>
          <p:cNvPr id="288" name="圆角矩形 287"/>
          <p:cNvSpPr/>
          <p:nvPr/>
        </p:nvSpPr>
        <p:spPr>
          <a:xfrm>
            <a:off x="571500" y="4105275"/>
            <a:ext cx="3581400" cy="495300"/>
          </a:xfrm>
          <a:prstGeom prst="roundRect">
            <a:avLst>
              <a:gd name="adj" fmla="val 19231"/>
            </a:avLst>
          </a:prstGeom>
          <a:solidFill>
            <a:srgbClr val="0F172A"/>
          </a:solidFill>
        </p:spPr>
        <p:txBody>
          <a:bodyPr/>
          <a:p/>
        </p:txBody>
      </p:sp>
      <p:pic>
        <p:nvPicPr>
          <p:cNvPr id="289" name="图片 28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4238625"/>
            <a:ext cx="228600" cy="228600"/>
          </a:xfrm>
          <a:prstGeom prst="rect">
            <a:avLst/>
          </a:prstGeom>
        </p:spPr>
      </p:pic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1104900" y="4276725"/>
            <a:ext cx="2400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协会搭台：</a:t>
            </a:r>
            <a:r>
              <a:rPr lang="zh-CN" sz="105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商业模式输出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，长三角推广中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" name="圆角矩形 290"/>
          <p:cNvSpPr/>
          <p:nvPr/>
        </p:nvSpPr>
        <p:spPr>
          <a:xfrm>
            <a:off x="4305300" y="4105275"/>
            <a:ext cx="3581400" cy="495300"/>
          </a:xfrm>
          <a:prstGeom prst="roundRect">
            <a:avLst>
              <a:gd name="adj" fmla="val 19231"/>
            </a:avLst>
          </a:prstGeom>
          <a:solidFill>
            <a:srgbClr val="0F172A"/>
          </a:solidFill>
        </p:spPr>
        <p:txBody>
          <a:bodyPr/>
          <a:p/>
        </p:txBody>
      </p:sp>
      <p:pic>
        <p:nvPicPr>
          <p:cNvPr id="292" name="图片 29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95800" y="4238625"/>
            <a:ext cx="228600" cy="228600"/>
          </a:xfrm>
          <a:prstGeom prst="rect">
            <a:avLst/>
          </a:prstGeom>
        </p:spPr>
      </p:pic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4838700" y="4276725"/>
            <a:ext cx="2533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国地中心：</a:t>
            </a:r>
            <a:r>
              <a:rPr lang="zh-CN" sz="105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国家标准制定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，年产能百万小时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" name="圆角矩形 293"/>
          <p:cNvSpPr/>
          <p:nvPr/>
        </p:nvSpPr>
        <p:spPr>
          <a:xfrm>
            <a:off x="8039100" y="4105275"/>
            <a:ext cx="3581400" cy="495300"/>
          </a:xfrm>
          <a:prstGeom prst="roundRect">
            <a:avLst>
              <a:gd name="adj" fmla="val 19231"/>
            </a:avLst>
          </a:prstGeom>
          <a:solidFill>
            <a:srgbClr val="0F172A"/>
          </a:solidFill>
        </p:spPr>
        <p:txBody>
          <a:bodyPr/>
          <a:p/>
        </p:txBody>
      </p:sp>
      <p:pic>
        <p:nvPicPr>
          <p:cNvPr id="295" name="图片 29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29600" y="4238625"/>
            <a:ext cx="228600" cy="228600"/>
          </a:xfrm>
          <a:prstGeom prst="rect">
            <a:avLst/>
          </a:prstGeom>
        </p:spPr>
      </p:pic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8572500" y="4276725"/>
            <a:ext cx="2000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复兴岛：</a:t>
            </a:r>
            <a:r>
              <a:rPr lang="zh-CN" sz="105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真实场景验证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，闭环数据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10582275" y="6505575"/>
            <a:ext cx="1038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ROBOX | 08 / 16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8" name="" descr="&lt;Slide style={{ width: '1280px', height: '720px', background: '#F1F5F9', display: 'flex', flexDirection: 'column', padding: '20px 60px 20px 60px' }}&gt;&#10;  &lt;Box style={{ flexDirection: 'row', alignItems: 'center', gap: 16, marginBottom: 16 }}&gt;&#10;    &lt;Box style={{ width: 6, height: 36, background: 'linear-gradient(180deg, #06B6D4, #8B5CF6)', borderRadius: 3 }} /&gt;&#10;    &lt;Text style={{ fontSize: 32, color: '#0F172A', fontWeight: 'bold' }}&gt;上海模式：标准制定与开源生态&lt;/Text&gt;&#10;  &lt;/Box&gt;&#10;  &lt;Box style={{ flex: 1, flexDirection: 'column', gap: 16 }}&gt;&#10;    &lt;Table&#10;      style={{ width: '100%', height: 'auto' }}&#10;      defaultTextStyle={{ fontSize: 14, textAlign: 'left', color: '#1A1A1A' }}&#10;      defaultCellStyle={{&#10;        border: {&#10;          left: { width: 1, color: '#E2E8F0' },&#10;          right: { width: 1, color: '#E2E8F0' },&#10;          top: { width: 1, color: '#E2E8F0' },&#10;          bottom: { width: 1, color: '#E2E8F0' },&#10;        },&#10;        padding: { top: 8, bottom: 8, left: 12, right: 12 },&#10;      }}&#10;      cells={[&#10;        [&#10;          { text: '维度', textStyle: { bold: true, color: '#FFFFFF', fontSize: 14 }, cellStyle: { background: { color: '#0F172A' } } },&#10;          { text: '协会&quot;四维联动&quot;', textStyle: { bold: true, color: '#FFFFFF', fontSize: 14 }, cellStyle: { background: { color: '#2563EB' } } },&#10;          { text: '国地中心&quot;1+N&quot;', textStyle: { bold: true, color: '#FFFFFF', fontSize: 14 }, cellStyle: { background: { color: '#06B6D4' } } },&#10;          { text: '复兴岛&quot;一景三实&quot;', textStyle: { bold: true, color: '#FFFFFF', fontSize: 14 }, cellStyle: { background: { color: '#8B5CF6' } } },&#10;        ],&#10;        [&#10;          { text: '定位', textStyle: { bold: true, color: '#2563EB' } },&#10;          '商业模式输出',&#10;          '国家标准制定者',&#10;          '实景验证平台',&#10;        ],&#10;        [&#10;          { text: '核心主体', cellStyle: { background: { color: '#F8FAFC' } }, textStyle: { bold: true, color: '#2563EB' } },&#10;          { text: '上海市计算机行业协会+人工智能研究院', cellStyle: { background: { color: '#F8FAFC' } } },&#10;          { text: '国家地方共建人形机器人创新中心', cellStyle: { background: { color: '#F8FAFC' } } },&#10;          { text: '上海AI行业协会+清华等20余家单位', cellStyle: { background: { color: '#F8FAFC' } } },&#10;        ],&#10;        [&#10;          { text: '已跑通标杆', textStyle: { bold: true, color: '#2563EB' } },&#10;          '德清无问智科（日产千小时，2026在手订单数亿元）',&#10;          '白虎-VTouch（60000分钟视触觉多模态）',&#10;          '首期32支创客团队+43位专家',&#10;        ],&#10;        [&#10;          { text: '数据规模', cellStyle: { background: { color: '#F8FAFC' } }, textStyle: { bold: true, color: '#2563EB' } },&#10;          { text: '日产上千小时', cellStyle: { background: { color: '#F8FAFC' } } },&#10;          { text: '年产能百万小时，2025年归集15万小时', cellStyle: { background: { color: '#F8FAFC' } } },&#10;          { text: '运行数据实时回流', cellStyle: { background: { color: '#F8FAFC' } } },&#10;        ],&#10;        [&#10;          { text: '标准/创新', textStyle: { bold: true, color: '#06B6D4' } },&#10;          'AI微专业进校园（上海交大授学分）+OPC平台',&#10;          '80+项国标+三层标注体系+数据联盟',&#10;          '硅基岛民证（机器人持证上岗）',&#10;        ],&#10;        [&#10;          { text: '开源生态', cellStyle: { background: { color: '#F8FAFC' } }, textStyle: { bold: true, color: '#8B5CF6' } },&#10;          { text: 'OPC一次开发多地复用', cellStyle: { background: { color: '#F8FAFC' } } },&#10;          { text: 'OpenLoong社区首批6000分钟已开源', cellStyle: { background: { color: '#F8FAFC' } } },&#10;          { text: '春训/夏训/秋训营对外开放', cellStyle: { background: { color: '#F8FAFC' } } },&#10;        ],&#10;        [&#10;          { text: 'ROBOX关注点', textStyle: { bold: true, color: '#8B5CF6' } },&#10;          '对接协会体系复用模式',&#10;          '白虎-VTouch与TacWM直接对标',&#10;          '场景验证参考',&#10;        ],&#10;      ]}&#10;    /&gt;&#10;    &lt;Box style={{ background: '#0F172A', borderRadius: 12, padding: '14px 24px', flexDirection: 'row', alignItems: 'center', gap: 16 }}&gt;&#10;      &lt;FAIcon name='exclamation-circle' style={{ fill: '#8B5CF6', width: 24, height: 24 }} /&gt;&#10;      &lt;Text style={{ fontSize: 15, color: '#E2E8F0', lineHeight: 1.5 }}&gt;&#10;        &lt;span style={{ color: '#8B5CF6', fontWeight: 'bold' }}&gt;关键提示：&lt;/span&gt;白虎-VTouch使用GelSight视触觉传感器 (VBTS，基于视觉的触觉传感器) 路线 — 记录触觉图像；ROBOX TacWM (Tactile World Model，触觉世界模型) 是预测性触觉 — 预测接触状态变化，需在数据格式上体现差异化&#10;      &lt;/Text&gt;&#10;    &lt;/Box&gt;&#10;  &lt;/Box&gt;&#10;  &lt;Box style={{ position: 'absolute', bottom: 20, right: 60 }}&gt;&#10;    &lt;Text style={{ fontSize: 14, color: '#94A3B8' }}&gt;ROBOX | 09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矩形 2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</p:spPr>
        <p:txBody>
          <a:bodyPr/>
          <a:p/>
        </p:txBody>
      </p:sp>
      <p:sp>
        <p:nvSpPr>
          <p:cNvPr id="300" name="圆角矩形 299"/>
          <p:cNvSpPr/>
          <p:nvPr/>
        </p:nvSpPr>
        <p:spPr>
          <a:xfrm>
            <a:off x="571500" y="209550"/>
            <a:ext cx="57150" cy="3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8B5CF6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781050" y="190500"/>
            <a:ext cx="42672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上海模式：标准制定与开源生态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02" name="表格 301"/>
          <p:cNvGraphicFramePr/>
          <p:nvPr/>
        </p:nvGraphicFramePr>
        <p:xfrm>
          <a:off x="571500" y="714375"/>
          <a:ext cx="11049000" cy="2333625"/>
        </p:xfrm>
        <a:graphic>
          <a:graphicData uri="http://schemas.openxmlformats.org/drawingml/2006/table">
            <a:tbl>
              <a:tblPr/>
              <a:tblGrid>
                <a:gridCol w="1208229"/>
                <a:gridCol w="3925579"/>
                <a:gridCol w="3202507"/>
                <a:gridCol w="2712685"/>
              </a:tblGrid>
              <a:tr h="2917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维度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协会"四维联动"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国地中心"1+N"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复兴岛"一景三实"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5CF6"/>
                    </a:solidFill>
                  </a:tcPr>
                </a:tc>
              </a:tr>
              <a:tr h="2917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定位</a:t>
                      </a:r>
                      <a:endParaRPr sz="10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商业模式输出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国家标准制定者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实景验证平台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17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核心主体</a:t>
                      </a:r>
                      <a:endParaRPr sz="10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上海市计算机行业协会+人工智能研究院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国家地方共建人形机器人创新中心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上海AI行业协会+清华等20余家单位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917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已跑通标杆</a:t>
                      </a:r>
                      <a:endParaRPr sz="10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德清无问智科（日产千小时，2026在手订单数亿元）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白虎-VTouch（60000分钟视触觉多模态）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首期32支创客团队+43位专家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17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数据规模</a:t>
                      </a:r>
                      <a:endParaRPr sz="10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日产上千小时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年产能百万小时，2025年归集15万小时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运行数据实时回流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917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6B6D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标准/创新</a:t>
                      </a:r>
                      <a:endParaRPr sz="1050" b="1">
                        <a:solidFill>
                          <a:srgbClr val="06B6D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AI微专业进校园（上海交大授学分）+OPC平台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80+项国标+三层标注体系+数据联盟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硅基岛民证（机器人持证上岗）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17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8B5CF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开源生态</a:t>
                      </a:r>
                      <a:endParaRPr sz="1050" b="1">
                        <a:solidFill>
                          <a:srgbClr val="8B5CF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OPC一次开发多地复用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OpenLoong社区首批6000分钟已开源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春训/夏训/秋训营对外开放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9170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8B5CF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ROBOX关注点</a:t>
                      </a:r>
                      <a:endParaRPr sz="1050" b="1">
                        <a:solidFill>
                          <a:srgbClr val="8B5CF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对接协会体系复用模式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白虎-VTouch与TacWM直接对标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场景验证参考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03" name="圆角矩形 302"/>
          <p:cNvSpPr/>
          <p:nvPr/>
        </p:nvSpPr>
        <p:spPr>
          <a:xfrm>
            <a:off x="571500" y="3200400"/>
            <a:ext cx="11049000" cy="781050"/>
          </a:xfrm>
          <a:prstGeom prst="roundRect">
            <a:avLst>
              <a:gd name="adj" fmla="val 14634"/>
            </a:avLst>
          </a:prstGeom>
          <a:solidFill>
            <a:srgbClr val="0F172A"/>
          </a:solidFill>
        </p:spPr>
        <p:txBody>
          <a:bodyPr/>
          <a:p/>
        </p:txBody>
      </p:sp>
      <p:pic>
        <p:nvPicPr>
          <p:cNvPr id="304" name="图片 30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0100" y="3476625"/>
            <a:ext cx="228600" cy="228600"/>
          </a:xfrm>
          <a:prstGeom prst="rect">
            <a:avLst/>
          </a:prstGeom>
        </p:spPr>
      </p:pic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1171575" y="3333750"/>
            <a:ext cx="102203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关键提示：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白虎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-VTouch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GelSight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视触觉传感器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(VBTS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，基于视觉的触觉传感器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)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路线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记录触觉图像；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ROBOX TacWM (Tactile World Model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，触觉世界模型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)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是预测性触觉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预测接触状态变化，需在数据格式上体现差异化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10582275" y="6505575"/>
            <a:ext cx="1038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ROBOX | 09 / 16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 descr="&lt;Slide style={{ width: '1280px', height: '720px', background: '#F1F5F9', display: 'flex', flexDirection: 'column', padding: '20px 60px 20px 60px' }}&gt;&#10;  &lt;Box style={{ flexDirection: 'row', alignItems: 'center', gap: 16, marginBottom: 16 }}&gt;&#10;    &lt;Box style={{ width: 6, height: 36, background: 'linear-gradient(180deg, #2563EB, #8B5CF6)', borderRadius: 3 }} /&gt;&#10;    &lt;Text style={{ fontSize: 32, color: '#0F172A', fontWeight: 'bold' }}&gt;三城模式对比总结&lt;/Text&gt;&#10;  &lt;/Box&gt;&#10;  &lt;Box style={{ flex: 1, flexDirection: 'column', gap: 16 }}&gt;&#10;    &lt;Table&#10;      style={{ width: '100%', height: 'auto' }}&#10;      defaultTextStyle={{ fontSize: 14, textAlign: 'center', color: '#1A1A1A' }}&#10;      defaultCellStyle={{&#10;        border: {&#10;          left: { width: 1, color: '#E2E8F0' },&#10;          right: { width: 1, color: '#E2E8F0' },&#10;          top: { width: 1, color: '#E2E8F0' },&#10;          bottom: { width: 1, color: '#E2E8F0' },&#10;        },&#10;        padding: { top: 10, bottom: 10, left: 10, right: 10 },&#10;      }}&#10;      cells={[&#10;        [&#10;          { text: '维度', textStyle: { bold: true, color: '#FFFFFF', fontSize: 15 }, cellStyle: { background: { color: '#0F172A' } } },&#10;          { text: '青岛模式', textStyle: { bold: true, color: '#FFFFFF', fontSize: 15 }, cellStyle: { background: { color: '#2563EB' } } },&#10;          { text: '无锡模式', textStyle: { bold: true, color: '#FFFFFF', fontSize: 15 }, cellStyle: { background: { color: '#06B6D4' } } },&#10;          { text: '上海模式', textStyle: { bold: true, color: '#FFFFFF', fontSize: 15 }, cellStyle: { background: { color: '#8B5CF6' } } },&#10;        ],&#10;        [&#10;          { text: '定位', textStyle: { bold: true, color: '#2563EB' } },&#10;          '产教融合人才基地',&#10;          '城市级数据交易市场',&#10;          '国家标准制定者',&#10;        ],&#10;        [&#10;          { text: '启动门槛', cellStyle: { background: { color: '#F8FAFC' } }, textStyle: { bold: true, color: '#2563EB' } },&#10;          { text: '低（院校+企业即可）', cellStyle: { background: { color: '#F8FAFC' } }, textStyle: { color: '#10B981', bold: true } },&#10;          { text: '中（需国资+工业场景）', cellStyle: { background: { color: '#F8FAFC' } } },&#10;          { text: '高（需国家级平台）', cellStyle: { background: { color: '#F8FAFC' } } },&#10;        ],&#10;        [&#10;          { text: '数据规模', textStyle: { bold: true, color: '#2563EB' } },&#10;          '年1,500小时',&#10;          '10万小时需求对接',&#10;          '年百万小时',&#10;        ],&#10;        [&#10;          { text: '数据特色', cellStyle: { background: { color: '#F8FAFC' } }, textStyle: { bold: true, color: '#2563EB' } },&#10;          { text: '通用遥操作', cellStyle: { background: { color: '#F8FAFC' } } },&#10;          { text: '工业触觉5.0', cellStyle: { background: { color: '#F8FAFC' } }, textStyle: { color: '#06B6D4', bold: true } },&#10;          { text: '视触觉多模态+开源', cellStyle: { background: { color: '#F8FAFC' } }, textStyle: { color: '#8B5CF6', bold: true } },&#10;        ],&#10;        [&#10;          { text: '商业验证', textStyle: { bold: true, color: '#2563EB' } },&#10;          '订单式培养',&#10;          { text: '已签4万小时订单', textStyle: { color: '#10B981', bold: true } },&#10;          '标准输出',&#10;        ],&#10;        [&#10;          { text: '学生参与', cellStyle: { background: { color: '#F8FAFC' } }, textStyle: { bold: true, color: '#2563EB' } },&#10;          { text: '核心采集+标注力量', cellStyle: { background: { color: '#F8FAFC' } }, textStyle: { color: '#2563EB', bold: true } },&#10;          { text: '万余名一线技工', cellStyle: { background: { color: '#F8FAFC' } } },&#10;          { text: '微专业+学分', cellStyle: { background: { color: '#F8FAFC' } } },&#10;        ],&#10;        [&#10;          { text: 'ROBOX匹配度', textStyle: { bold: true, color: '#8B5CF6' } },&#10;          { text: '最快可复制模式', textStyle: { color: '#2563EB', bold: true } },&#10;          { text: '触觉数据合作', textStyle: { color: '#06B6D4', bold: true } },&#10;          { text: '标准/竞品对标', textStyle: { color: '#8B5CF6', bold: true } },&#10;        ],&#10;      ]}&#10;    /&gt;&#10;    &lt;Box style={{ flexDirection: 'row', gap: 16 }}&gt;&#10;      &lt;Box style={{ flex: 1, background: 'linear-gradient(135deg, #2563EB 0%, #06B6D4 100%)', borderRadius: 12, padding: '16px 20px', flexDirection: 'column', gap: 6 }}&gt;&#10;        &lt;Text style={{ fontSize: 16, color: '#FFFFFF', fontWeight: 'bold' }}&gt;青岛 → 启动&lt;/Text&gt;&#10;        &lt;Text style={{ fontSize: 13, color: '#DBEAFE' }}&gt;成本最低，快速跑通采集流程&lt;/Text&gt;&#10;      &lt;/Box&gt;&#10;      &lt;Box style={{ flex: 1, background: 'linear-gradient(135deg, #06B6D4 0%, #8B5CF6 100%)', borderRadius: 12, padding: '16px 20px', flexDirection: 'column', gap: 6 }}&gt;&#10;        &lt;Text style={{ fontSize: 16, color: '#FFFFFF', fontWeight: 'bold' }}&gt;无锡 → 商业化&lt;/Text&gt;&#10;        &lt;Text style={{ fontSize: 13, color: '#CFFAFE' }}&gt;国资平台+确权+数据产品化出售&lt;/Text&gt;&#10;      &lt;/Box&gt;&#10;      &lt;Box style={{ flex: 1, background: 'linear-gradient(135deg, #8B5CF6 0%, #2563EB 100%)', borderRadius: 12, padding: '16px 20px', flexDirection: 'column', gap: 6 }}&gt;&#10;        &lt;Text style={{ fontSize: 16, color: '#FFFFFF', fontWeight: 'bold' }}&gt;上海 → 标准化&lt;/Text&gt;&#10;        &lt;Text style={{ fontSize: 13, color: '#EDE9FE' }}&gt;加入联盟+分训练场+话语权&lt;/Text&gt;&#10;      &lt;/Box&gt;&#10;    &lt;/Box&gt;&#10;  &lt;/Box&gt;&#10;  &lt;Box style={{ position: 'absolute', bottom: 20, right: 60 }}&gt;&#10;    &lt;Text style={{ fontSize: 14, color: '#94A3B8' }}&gt;ROBOX | 10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</p:spPr>
        <p:txBody>
          <a:bodyPr/>
          <a:p/>
        </p:txBody>
      </p:sp>
      <p:sp>
        <p:nvSpPr>
          <p:cNvPr id="12" name="圆角矩形 11"/>
          <p:cNvSpPr/>
          <p:nvPr/>
        </p:nvSpPr>
        <p:spPr>
          <a:xfrm>
            <a:off x="571500" y="209550"/>
            <a:ext cx="57150" cy="3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8B5CF6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781050" y="190500"/>
            <a:ext cx="24384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三城模式对比总结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571500" y="714375"/>
          <a:ext cx="11049000" cy="2343150"/>
        </p:xfrm>
        <a:graphic>
          <a:graphicData uri="http://schemas.openxmlformats.org/drawingml/2006/table">
            <a:tbl>
              <a:tblPr/>
              <a:tblGrid>
                <a:gridCol w="2094942"/>
                <a:gridCol w="2964464"/>
                <a:gridCol w="3247565"/>
                <a:gridCol w="2742029"/>
              </a:tblGrid>
              <a:tr h="30123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维度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青岛模式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无锡模式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上海模式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5CF6"/>
                    </a:solidFill>
                  </a:tcPr>
                </a:tc>
              </a:tr>
              <a:tr h="29170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定位</a:t>
                      </a:r>
                      <a:endParaRPr sz="10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产教融合人才基地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城市级数据交易市场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国家标准制定者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170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启动门槛</a:t>
                      </a:r>
                      <a:endParaRPr sz="10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0B98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低（院校+企业即可）</a:t>
                      </a:r>
                      <a:endParaRPr sz="1050" b="1">
                        <a:solidFill>
                          <a:srgbClr val="10B98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中（需国资+工业场景）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高（需国家级平台）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9170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数据规模</a:t>
                      </a:r>
                      <a:endParaRPr sz="10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年1,500小时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10万小时需求对接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年百万小时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170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数据特色</a:t>
                      </a:r>
                      <a:endParaRPr sz="10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通用遥操作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6B6D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工业触觉5.0</a:t>
                      </a:r>
                      <a:endParaRPr sz="1050" b="1">
                        <a:solidFill>
                          <a:srgbClr val="06B6D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8B5CF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视触觉多模态+开源</a:t>
                      </a:r>
                      <a:endParaRPr sz="1050" b="1">
                        <a:solidFill>
                          <a:srgbClr val="8B5CF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9170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商业验证</a:t>
                      </a:r>
                      <a:endParaRPr sz="10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订单式培养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0B98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已签4万小时订单</a:t>
                      </a:r>
                      <a:endParaRPr sz="1050" b="1">
                        <a:solidFill>
                          <a:srgbClr val="10B98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标准输出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170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学生参与</a:t>
                      </a:r>
                      <a:endParaRPr sz="10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核心采集+标注力量</a:t>
                      </a:r>
                      <a:endParaRPr sz="10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万余名一线技工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微专业+学分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9170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8B5CF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ROBOX匹配度</a:t>
                      </a:r>
                      <a:endParaRPr sz="1050" b="1">
                        <a:solidFill>
                          <a:srgbClr val="8B5CF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最快可复制模式</a:t>
                      </a:r>
                      <a:endParaRPr sz="10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6B6D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触觉数据合作</a:t>
                      </a:r>
                      <a:endParaRPr sz="1050" b="1">
                        <a:solidFill>
                          <a:srgbClr val="06B6D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8B5CF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标准/竞品对标</a:t>
                      </a:r>
                      <a:endParaRPr sz="1050" b="1">
                        <a:solidFill>
                          <a:srgbClr val="8B5CF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" name="圆角矩形 14"/>
          <p:cNvSpPr/>
          <p:nvPr/>
        </p:nvSpPr>
        <p:spPr>
          <a:xfrm>
            <a:off x="571500" y="3209925"/>
            <a:ext cx="3581400" cy="704850"/>
          </a:xfrm>
          <a:prstGeom prst="roundRect">
            <a:avLst>
              <a:gd name="adj" fmla="val 16216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762000" y="3362325"/>
            <a:ext cx="3200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青岛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启动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762000" y="3609975"/>
            <a:ext cx="3200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DBEAFE"/>
                </a:solidFill>
                <a:latin typeface="微软雅黑" panose="020B0503020204020204" charset="-122"/>
                <a:ea typeface="微软雅黑" panose="020B0503020204020204" charset="-122"/>
              </a:rPr>
              <a:t>成本最低，快速跑通采集流程</a:t>
            </a:r>
            <a:endParaRPr lang="zh-CN" sz="975">
              <a:solidFill>
                <a:srgbClr val="DBEA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305300" y="3209925"/>
            <a:ext cx="3581400" cy="704850"/>
          </a:xfrm>
          <a:prstGeom prst="roundRect">
            <a:avLst>
              <a:gd name="adj" fmla="val 16216"/>
            </a:avLst>
          </a:prstGeom>
          <a:gradFill>
            <a:gsLst>
              <a:gs pos="0">
                <a:srgbClr val="06B6D4"/>
              </a:gs>
              <a:gs pos="100000">
                <a:srgbClr val="8B5CF6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4495800" y="3362325"/>
            <a:ext cx="3200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无锡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商业化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4495800" y="3609975"/>
            <a:ext cx="3200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FFAFE"/>
                </a:solidFill>
                <a:latin typeface="微软雅黑" panose="020B0503020204020204" charset="-122"/>
                <a:ea typeface="微软雅黑" panose="020B0503020204020204" charset="-122"/>
              </a:rPr>
              <a:t>国资平台</a:t>
            </a:r>
            <a:r>
              <a:rPr lang="en-US" sz="975">
                <a:solidFill>
                  <a:srgbClr val="CFFAFE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975">
                <a:solidFill>
                  <a:srgbClr val="CFFAFE"/>
                </a:solidFill>
                <a:latin typeface="微软雅黑" panose="020B0503020204020204" charset="-122"/>
                <a:ea typeface="微软雅黑" panose="020B0503020204020204" charset="-122"/>
              </a:rPr>
              <a:t>确权</a:t>
            </a:r>
            <a:r>
              <a:rPr lang="en-US" sz="975">
                <a:solidFill>
                  <a:srgbClr val="CFFAFE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975">
                <a:solidFill>
                  <a:srgbClr val="CFFAFE"/>
                </a:solidFill>
                <a:latin typeface="微软雅黑" panose="020B0503020204020204" charset="-122"/>
                <a:ea typeface="微软雅黑" panose="020B0503020204020204" charset="-122"/>
              </a:rPr>
              <a:t>数据产品化出售</a:t>
            </a:r>
            <a:endParaRPr lang="zh-CN" sz="975">
              <a:solidFill>
                <a:srgbClr val="CFFA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8039100" y="3209925"/>
            <a:ext cx="3581400" cy="704850"/>
          </a:xfrm>
          <a:prstGeom prst="roundRect">
            <a:avLst>
              <a:gd name="adj" fmla="val 16216"/>
            </a:avLst>
          </a:prstGeom>
          <a:gradFill>
            <a:gsLst>
              <a:gs pos="0">
                <a:srgbClr val="8B5CF6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8229600" y="3362325"/>
            <a:ext cx="3200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标准化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8229600" y="3609975"/>
            <a:ext cx="3200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DE9FE"/>
                </a:solidFill>
                <a:latin typeface="微软雅黑" panose="020B0503020204020204" charset="-122"/>
                <a:ea typeface="微软雅黑" panose="020B0503020204020204" charset="-122"/>
              </a:rPr>
              <a:t>加入联盟</a:t>
            </a:r>
            <a:r>
              <a:rPr lang="en-US" sz="975">
                <a:solidFill>
                  <a:srgbClr val="EDE9FE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975">
                <a:solidFill>
                  <a:srgbClr val="EDE9FE"/>
                </a:solidFill>
                <a:latin typeface="微软雅黑" panose="020B0503020204020204" charset="-122"/>
                <a:ea typeface="微软雅黑" panose="020B0503020204020204" charset="-122"/>
              </a:rPr>
              <a:t>分训练场</a:t>
            </a:r>
            <a:r>
              <a:rPr lang="en-US" sz="975">
                <a:solidFill>
                  <a:srgbClr val="EDE9FE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975">
                <a:solidFill>
                  <a:srgbClr val="EDE9FE"/>
                </a:solidFill>
                <a:latin typeface="微软雅黑" panose="020B0503020204020204" charset="-122"/>
                <a:ea typeface="微软雅黑" panose="020B0503020204020204" charset="-122"/>
              </a:rPr>
              <a:t>话语权</a:t>
            </a:r>
            <a:endParaRPr lang="zh-CN" sz="975">
              <a:solidFill>
                <a:srgbClr val="EDE9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10582275" y="6505575"/>
            <a:ext cx="1038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ROBOX | 10 / 16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 descr="&lt;Slide style={{ width: '1280px', height: '720px', background: '#0F172A', display: 'flex', flexDirection: 'column', justifyContent: 'center', alignItems: 'center', position: 'relative', overflow: 'hidden' }}&gt;&#10;  &lt;svg width=&quot;1280&quot; height=&quot;720&quot; viewBox=&quot;0 0 1280 720&quot; style={{ position: 'absolute', top: 0, left: 0, zIndex: 0 }}&gt;&#10;    &lt;defs&gt;&#10;      &lt;linearGradient id=&quot;sec2Grad&quot; x1=&quot;0%&quot; y1=&quot;0%&quot; x2=&quot;100%&quot; y2=&quot;100%&quot;&gt;&#10;        &lt;stop offset=&quot;0%&quot; stopColor=&quot;#8B5CF6&quot; stopOpacity=&quot;0.12&quot; /&gt;&#10;        &lt;stop offset=&quot;100%&quot; stopColor=&quot;#2563EB&quot; stopOpacity=&quot;0.03&quot; /&gt;&#10;      &lt;/linearGradient&gt;&#10;    &lt;/defs&gt;&#10;    &lt;rect width=&quot;1280&quot; height=&quot;720&quot; fill=&quot;url(#sec2Grad)&quot; /&gt;&#10;    {Array.from({ length: 6 }).map((_, i) =&gt; (&#10;      &lt;circle key={i} cx={150 + i * 180} cy={120 + (i % 2) * 180} r={4 + i} fill=&quot;#8B5CF6&quot; opacity={0.08 + i * 0.02} /&gt;&#10;    ))}&#10;    &lt;path d=&quot;M 0 600 Q 320 500 640 550 T 1280 480&quot; stroke=&quot;#2563EB&quot; strokeWidth=&quot;1.5&quot; fill=&quot;none&quot; opacity=&quot;0.12&quot; /&gt;&#10;    &lt;path d=&quot;M 0 660 Q 320 560 640 610 T 1280 540&quot; stroke=&quot;#06B6D4&quot; strokeWidth=&quot;1.5&quot; fill=&quot;none&quot; opacity=&quot;0.08&quot; /&gt;&#10;  &lt;/svg&gt;&#10;  &lt;Box style={{ zIndex: 1, flexDirection: 'column', alignItems: 'center', gap: 28 }}&gt;&#10;    &lt;Box style={{ flexDirection: 'row', alignItems: 'center', gap: 16 }}&gt;&#10;      &lt;Box style={{ width: 48, height: 2, background: '#8B5CF6' }} /&gt;&#10;      &lt;Text style={{ fontSize: 18, color: '#8B5CF6', letterSpacing: 6, fontWeight: 600 }}&gt;PART 02&lt;/Text&gt;&#10;      &lt;Box style={{ width: 48, height: 2, background: '#8B5CF6' }} /&gt;&#10;    &lt;/Box&gt;&#10;    &lt;Text style={{ fontSize: 52, color: '#FFFFFF', fontWeight: 'bold', textAlign: 'center', lineHeight: 1.2 }}&gt;&#10;      ROBOX下一步行动&#10;    &lt;/Text&gt;&#10;    &lt;Text style={{ fontSize: 20, color: '#94A3B8', textAlign: 'center', lineHeight: 1.6 }}&gt;&#10;      余杭本地起步 · 外埠拓展 · 对接上海抢占标准&#10;    &lt;/Text&gt;&#10;    &lt;Box style={{ width: 80, height: 3, background: 'linear-gradient(90deg, #8B5CF6, #2563EB)', marginTop: 16 }} /&gt;&#10;  &lt;/Box&gt;&#10;  &lt;Box style={{ position: 'absolute', bottom: 20, right: 60, zIndex: 1 }}&gt;&#10;    &lt;Text style={{ fontSize: 14, color: '#475569' }}&gt;11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txBody>
          <a:bodyPr/>
          <a:p/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4924425" y="2390775"/>
            <a:ext cx="457200" cy="19050"/>
          </a:xfrm>
          <a:prstGeom prst="rect">
            <a:avLst/>
          </a:prstGeom>
          <a:solidFill>
            <a:srgbClr val="8B5CF6"/>
          </a:solidFill>
        </p:spPr>
        <p:txBody>
          <a:bodyPr/>
          <a:p/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5534025" y="2295525"/>
            <a:ext cx="11334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450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PART 02</a:t>
            </a:r>
            <a:endParaRPr lang="en-US" sz="1350" b="1" spc="450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819900" y="2390775"/>
            <a:ext cx="457200" cy="19050"/>
          </a:xfrm>
          <a:prstGeom prst="rect">
            <a:avLst/>
          </a:prstGeom>
          <a:solidFill>
            <a:srgbClr val="8B5CF6"/>
          </a:solidFill>
        </p:spPr>
        <p:txBody>
          <a:bodyPr/>
          <a:p/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3943350" y="2771775"/>
            <a:ext cx="4305300" cy="7143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en-US"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ROBOX</a:t>
            </a:r>
            <a:r>
              <a:rPr lang="zh-CN"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下一步行动</a:t>
            </a:r>
            <a:endParaRPr lang="zh-CN" sz="3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4219575" y="3752850"/>
            <a:ext cx="3752850" cy="3714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5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余杭本地起步</a:t>
            </a:r>
            <a:r>
              <a:rPr lang="en-US" sz="15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5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外埠拓展</a:t>
            </a:r>
            <a:r>
              <a:rPr lang="en-US" sz="15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5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对接上海抢占标准</a:t>
            </a:r>
            <a:endParaRPr lang="zh-CN" sz="15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715000" y="4543425"/>
            <a:ext cx="762000" cy="28575"/>
          </a:xfrm>
          <a:prstGeom prst="rect">
            <a:avLst/>
          </a:prstGeom>
          <a:gradFill>
            <a:gsLst>
              <a:gs pos="0">
                <a:srgbClr val="8B5CF6"/>
              </a:gs>
              <a:gs pos="100000">
                <a:srgbClr val="2563EB"/>
              </a:gs>
            </a:gsLst>
            <a:lin ang="0" scaled="1"/>
          </a:gradFill>
        </p:spPr>
        <p:txBody>
          <a:bodyPr/>
          <a:p/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11 / 16</a:t>
            </a:r>
            <a:endParaRPr lang="en-US" sz="105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 descr="&lt;Slide style={{ width: '1280px', height: '720px', background: '#0F172A', display: 'flex', flexDirection: 'column', padding: '40px 60px 20px 60px', position: 'relative', overflow: 'hidden' }}&gt;&#10;  &lt;svg width=&quot;1280&quot; height=&quot;720&quot; viewBox=&quot;0 0 1280 720&quot; style={{ position: 'absolute', top: 0, left: 0, zIndex: 0 }}&gt;&#10;    &lt;defs&gt;&#10;      &lt;radialGradient id=&quot;stratGlow&quot; cx=&quot;50%&quot; cy=&quot;40%&quot; r=&quot;50%&quot;&gt;&#10;        &lt;stop offset=&quot;0%&quot; stopColor=&quot;#2563EB&quot; stopOpacity=&quot;0.15&quot; /&gt;&#10;        &lt;stop offset=&quot;100%&quot; stopColor=&quot;#0F172A&quot; stopOpacity=&quot;0&quot; /&gt;&#10;      &lt;/radialGradient&gt;&#10;    &lt;/defs&gt;&#10;    &lt;rect width=&quot;1280&quot; height=&quot;720&quot; fill=&quot;url(#stratGlow)&quot; /&gt;&#10;  &lt;/svg&gt;&#10;  &lt;Box style={{ zIndex: 1, flexDirection: 'column', gap: 24, height: '100%' }}&gt;&#10;    &lt;Box style={{ flexDirection: 'row', alignItems: 'center', gap: 16 }}&gt;&#10;      &lt;Box style={{ width: 6, height: 36, background: 'linear-gradient(180deg, #2563EB, #8B5CF6)', borderRadius: 3 }} /&gt;&#10;      &lt;Text style={{ fontSize: 32, color: '#FFFFFF', fontWeight: 'bold' }}&gt;ROBOX三线并进策略&lt;/Text&gt;&#10;    &lt;/Box&gt;&#10;    &lt;Box style={{ flex: 1, flexDirection: 'row', gap: 20 }}&gt;&#10;      &lt;Box style={{ flex: 1, background: 'rgba(37, 99, 235, 0.12)', borderRadius: 16, padding: 28, border: '1px solid rgba(37, 99, 235, 0.3)', flexDirection: 'column', gap: 16, position: 'relative' }}&gt;&#10;        &lt;Box style={{ position: 'absolute', top: 20, right: 24 }}&gt;&#10;          &lt;Text style={{ fontSize: 72, fontWeight: 'bold', color: 'rgba(37, 99, 235, 0.2)' }}&gt;01&lt;/Text&gt;&#10;        &lt;/Box&gt;&#10;        &lt;Box style={{ width: 56, height: 56, borderRadius: 14, background: 'linear-gradient(135deg, #2563EB 0%, #06B6D4 100%)', justifyContent: 'center', alignItems: 'center' }}&gt;&#10;          &lt;FAIcon name='home' style={{ fill: '#FFFFFF', width: 28, height: 28 }} /&gt;&#10;        &lt;/Box&gt;&#10;        &lt;Text style={{ fontSize: 24, color: '#FFFFFF', fontWeight: 'bold' }}&gt;余杭本地&lt;/Text&gt;&#10;        &lt;Text style={{ fontSize: 15, color: '#93C5FD', fontWeight: 600 }}&gt;底线用青岛模式&lt;/Text&gt;&#10;        &lt;Text style={{ fontSize: 14, color: '#94A3B8', lineHeight: 1.6 }}&gt;1-2所杭州职业院校，50-100名学生，嵌入教学实训，出具学分+实习证明&lt;/Text&gt;&#10;        &lt;Box style={{ height: 1, background: 'rgba(37, 99, 235, 0.3)' }} /&gt;&#10;        &lt;Text style={{ fontSize: 15, color: '#06B6D4', fontWeight: 600 }}&gt;争取无锡模式&lt;/Text&gt;&#10;        &lt;Text style={{ fontSize: 14, color: '#94A3B8', lineHeight: 1.6 }}&gt;引入余杭区国资平台持设备，数字水印确权，数据产品化出售&lt;/Text&gt;&#10;        &lt;Box style={{ marginTop: 'auto', background: 'rgba(37, 99, 235, 0.2)', borderRadius: 8, padding: '12px 16px' }}&gt;&#10;          &lt;Text style={{ fontSize: 13, color: '#93C5FD' }}&gt;Anson即战力：南湖科学园200+企业网络+余杭区政府关系&lt;/Text&gt;&#10;        &lt;/Box&gt;&#10;      &lt;/Box&gt;&#10;      &lt;Box style={{ flex: 1, background: 'rgba(6, 182, 212, 0.12)', borderRadius: 16, padding: 28, border: '1px solid rgba(6, 182, 212, 0.3)', flexDirection: 'column', gap: 16, position: 'relative' }}&gt;&#10;        &lt;Box style={{ position: 'absolute', top: 20, right: 24 }}&gt;&#10;          &lt;Text style={{ fontSize: 72, fontWeight: 'bold', color: 'rgba(6, 182, 212, 0.2)' }}&gt;02&lt;/Text&gt;&#10;        &lt;/Box&gt;&#10;        &lt;Box style={{ width: 56, height: 56, borderRadius: 14, background: 'linear-gradient(135deg, #06B6D4 0%, #8B5CF6 100%)', justifyContent: 'center', alignItems: 'center' }}&gt;&#10;          &lt;FAIcon name='globe' style={{ fill: '#FFFFFF', width: 28, height: 28 }} /&gt;&#10;        &lt;/Box&gt;&#10;        &lt;Text style={{ fontSize: 24, color: '#FFFFFF', fontWeight: 'bold' }}&gt;其他地区&lt;/Text&gt;&#10;        &lt;Text style={{ fontSize: 15, color: '#67E8F9', fontWeight: 600 }}&gt;直接沟通无锡模式&lt;/Text&gt;&#10;        &lt;Text style={{ fontSize: 14, color: '#94A3B8', lineHeight: 1.6 }}&gt;直接对接无锡数据集团/华智AI，输出ROBOX触觉模型算法，换取工业场景数据&lt;/Text&gt;&#10;        &lt;Box style={{ height: 1, background: 'rgba(6, 182, 212, 0.3)' }} /&gt;&#10;        &lt;Text style={{ fontSize: 15, color: '#8B5CF6', fontWeight: 600 }}&gt;合作路径&lt;/Text&gt;&#10;        &lt;Text style={{ fontSize: 14, color: '#94A3B8', lineHeight: 1.6 }}&gt;ROBOX提供TacWM算法 → 无锡提供工业场景+采集执行 → 数据分润&lt;/Text&gt;&#10;        &lt;Box style={{ marginTop: 'auto', background: 'rgba(6, 182, 212, 0.2)', borderRadius: 8, padding: '12px 16px' }}&gt;&#10;          &lt;Text style={{ fontSize: 13, color: '#67E8F9' }}&gt;穹彻智能融资方含红杉中国/阿里巴巴 — 阿里战略投资推进参考&lt;/Text&gt;&#10;        &lt;/Box&gt;&#10;      &lt;/Box&gt;&#10;      &lt;Box style={{ flex: 1, background: 'rgba(139, 92, 246, 0.12)', borderRadius: 16, padding: 28, border: '1px solid rgba(139, 92, 246, 0.3)', flexDirection: 'column', gap: 16, position: 'relative' }}&gt;&#10;        &lt;Box style={{ position: 'absolute', top: 20, right: 24 }}&gt;&#10;          &lt;Text style={{ fontSize: 72, fontWeight: 'bold', color: 'rgba(139, 92, 246, 0.2)' }}&gt;03&lt;/Text&gt;&#10;        &lt;/Box&gt;&#10;        &lt;Box style={{ width: 56, height: 56, borderRadius: 14, background: 'linear-gradient(135deg, #8B5CF6 0%, #2563EB 100%)', justifyContent: 'center', alignItems: 'center' }}&gt;&#10;          &lt;FAIcon name='flag' style={{ fill: '#FFFFFF', width: 28, height: 28 }} /&gt;&#10;        &lt;/Box&gt;&#10;        &lt;Text style={{ fontSize: 24, color: '#FFFFFF', fontWeight: 'bold' }}&gt;对接上海&lt;/Text&gt;&#10;        &lt;Text style={{ fontSize: 15, color: '#C4B5FD', fontWeight: 600 }}&gt;抢占标准化话语权&lt;/Text&gt;&#10;        &lt;Text style={{ fontSize: 14, color: '#94A3B8', lineHeight: 1.6 }}&gt;成为国地中心&quot;1+N&quot;分训练场 + 加入第一视角具身智能数据联盟&lt;/Text&gt;&#10;        &lt;Box style={{ height: 1, background: 'rgba(139, 92, 246, 0.3)' }} /&gt;&#10;        &lt;Text style={{ fontSize: 15, color: '#06B6D4', fontWeight: 600 }}&gt;差异化壁垒&lt;/Text&gt;&#10;        &lt;Text style={{ fontSize: 14, color: '#94A3B8', lineHeight: 1.6 }}&gt;TacWM预测性触觉 vs 白虎-VTouch记录性触觉，数据标注增加&quot;触觉预测层&quot;&lt;/Text&gt;&#10;        &lt;Box style={{ marginTop: 'auto', background: 'rgba(139, 92, 246, 0.2)', borderRadius: 8, padding: '12px 16px' }}&gt;&#10;          &lt;Text style={{ fontSize: 13, color: '#C4B5FD' }}&gt;OpenLoong开源社区 + 80项国标兼容 → 争取触觉数据标准话语权&lt;/Text&gt;&#10;        &lt;/Box&gt;&#10;      &lt;/Box&gt;&#10;    &lt;/Box&gt;&#10;  &lt;/Box&gt;&#10;  &lt;Box style={{ position: 'absolute', bottom: 20, right: 60, zIndex: 1 }}&gt;&#10;    &lt;Text style={{ fontSize: 14, color: '#475569' }}&gt;ROBOX | 12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txBody>
          <a:bodyPr/>
          <a:p/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圆角矩形 37"/>
          <p:cNvSpPr/>
          <p:nvPr/>
        </p:nvSpPr>
        <p:spPr>
          <a:xfrm>
            <a:off x="571500" y="400050"/>
            <a:ext cx="57150" cy="3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8B5CF6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781050" y="381000"/>
            <a:ext cx="29527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ROBOX</a:t>
            </a: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三线并进策略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571500" y="981075"/>
            <a:ext cx="3552825" cy="5686425"/>
          </a:xfrm>
          <a:prstGeom prst="roundRect">
            <a:avLst>
              <a:gd name="adj" fmla="val 4290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圆角矩形 40"/>
          <p:cNvSpPr/>
          <p:nvPr/>
        </p:nvSpPr>
        <p:spPr>
          <a:xfrm>
            <a:off x="838200" y="1247775"/>
            <a:ext cx="533400" cy="5334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</p:spPr>
        <p:txBody>
          <a:bodyPr/>
          <a:p/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550" y="1381125"/>
            <a:ext cx="266700" cy="266700"/>
          </a:xfrm>
          <a:prstGeom prst="rect">
            <a:avLst/>
          </a:prstGeom>
        </p:spPr>
      </p:pic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838200" y="1933575"/>
            <a:ext cx="30194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余杭本地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838200" y="2362200"/>
            <a:ext cx="30194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底线用青岛模式</a:t>
            </a:r>
            <a:endParaRPr lang="zh-CN" sz="1125" b="1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838200" y="2686050"/>
            <a:ext cx="30194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1-2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所杭州职业院校，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50-100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名学生，嵌入教学实训，出具学分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实习证明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38200" y="3352800"/>
            <a:ext cx="3019425" cy="9525"/>
          </a:xfrm>
          <a:prstGeom prst="rect">
            <a:avLst/>
          </a:prstGeom>
          <a:solidFill>
            <a:srgbClr val="2563EB">
              <a:alpha val="30000"/>
            </a:srgbClr>
          </a:solidFill>
        </p:spPr>
        <p:txBody>
          <a:bodyPr/>
          <a:p/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838200" y="3514725"/>
            <a:ext cx="30194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争取无锡模式</a:t>
            </a:r>
            <a:endParaRPr lang="zh-CN" sz="112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838200" y="3838575"/>
            <a:ext cx="30194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引入余杭区国资平台持设备，数字水印确权，数据产品化出售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838200" y="5867400"/>
            <a:ext cx="3019425" cy="533400"/>
          </a:xfrm>
          <a:prstGeom prst="roundRect">
            <a:avLst>
              <a:gd name="adj" fmla="val 14286"/>
            </a:avLst>
          </a:prstGeom>
          <a:solidFill>
            <a:srgbClr val="2563EB">
              <a:alpha val="20000"/>
            </a:srgbClr>
          </a:solidFill>
        </p:spPr>
        <p:txBody>
          <a:bodyPr/>
          <a:p/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990600" y="5981700"/>
            <a:ext cx="2714625" cy="304800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p>
            <a:pPr>
              <a:lnSpc>
                <a:spcPct val="100000"/>
              </a:lnSpc>
            </a:pPr>
            <a:r>
              <a:rPr lang="zh-CN" altLang="en-US" sz="975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余杭高职院校</a:t>
            </a:r>
            <a:r>
              <a:rPr lang="en-US" sz="975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975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企业网络</a:t>
            </a:r>
            <a:r>
              <a:rPr lang="en-US" sz="975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975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余杭区政府关系</a:t>
            </a:r>
            <a:endParaRPr lang="zh-CN" sz="975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3048000" y="1171575"/>
            <a:ext cx="847725" cy="828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2563EB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5400" b="1">
              <a:solidFill>
                <a:srgbClr val="2563EB">
                  <a:alpha val="2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4314825" y="981075"/>
            <a:ext cx="3562350" cy="5686425"/>
          </a:xfrm>
          <a:prstGeom prst="roundRect">
            <a:avLst>
              <a:gd name="adj" fmla="val 4278"/>
            </a:avLst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圆角矩形 52"/>
          <p:cNvSpPr/>
          <p:nvPr/>
        </p:nvSpPr>
        <p:spPr>
          <a:xfrm>
            <a:off x="4581525" y="1247775"/>
            <a:ext cx="533400" cy="5334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06B6D4"/>
              </a:gs>
              <a:gs pos="100000">
                <a:srgbClr val="8B5CF6"/>
              </a:gs>
            </a:gsLst>
            <a:lin ang="2700000" scaled="1"/>
          </a:gradFill>
        </p:spPr>
        <p:txBody>
          <a:bodyPr/>
          <a:p/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14875" y="1381125"/>
            <a:ext cx="266700" cy="266700"/>
          </a:xfrm>
          <a:prstGeom prst="rect">
            <a:avLst/>
          </a:prstGeom>
        </p:spPr>
      </p:pic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4581525" y="1933575"/>
            <a:ext cx="30289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其他地区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4581525" y="2362200"/>
            <a:ext cx="3028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直接沟通无锡模式</a:t>
            </a:r>
            <a:endParaRPr lang="zh-CN" sz="1125" b="1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4581525" y="2686050"/>
            <a:ext cx="3028950" cy="514350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政府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委托属地数据集团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华智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，输出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ROBOX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触觉模型算法，换取工业场景数据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581525" y="3352800"/>
            <a:ext cx="3028950" cy="9525"/>
          </a:xfrm>
          <a:prstGeom prst="rect">
            <a:avLst/>
          </a:prstGeom>
          <a:solidFill>
            <a:srgbClr val="06B6D4">
              <a:alpha val="30000"/>
            </a:srgbClr>
          </a:solidFill>
        </p:spPr>
        <p:txBody>
          <a:bodyPr/>
          <a:p/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4581525" y="3514725"/>
            <a:ext cx="3028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合作路径</a:t>
            </a:r>
            <a:endParaRPr lang="zh-CN" sz="1125" b="1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4581525" y="3838575"/>
            <a:ext cx="30289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ROBOX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提供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TacWM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算法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无锡提供工业场景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采集执行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数据分润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4581525" y="5867400"/>
            <a:ext cx="3028950" cy="533400"/>
          </a:xfrm>
          <a:prstGeom prst="roundRect">
            <a:avLst>
              <a:gd name="adj" fmla="val 14286"/>
            </a:avLst>
          </a:prstGeom>
          <a:solidFill>
            <a:srgbClr val="06B6D4">
              <a:alpha val="20000"/>
            </a:srgbClr>
          </a:solidFill>
        </p:spPr>
        <p:txBody>
          <a:bodyPr/>
          <a:p/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4733925" y="5981700"/>
            <a:ext cx="2724150" cy="304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穹彻智能融资方含红杉中国</a:t>
            </a:r>
            <a:r>
              <a:rPr lang="en-US" sz="975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75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阿里巴巴</a:t>
            </a:r>
            <a:r>
              <a:rPr lang="en-US" sz="975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 — </a:t>
            </a:r>
            <a:r>
              <a:rPr lang="zh-CN" sz="975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阿里战略投资推进参考</a:t>
            </a:r>
            <a:endParaRPr lang="zh-CN" sz="975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6800850" y="1171575"/>
            <a:ext cx="847725" cy="828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06B6D4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5400" b="1">
              <a:solidFill>
                <a:srgbClr val="06B6D4">
                  <a:alpha val="2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8067675" y="981075"/>
            <a:ext cx="3552825" cy="5686425"/>
          </a:xfrm>
          <a:prstGeom prst="roundRect">
            <a:avLst>
              <a:gd name="adj" fmla="val 4290"/>
            </a:avLst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圆角矩形 64"/>
          <p:cNvSpPr/>
          <p:nvPr/>
        </p:nvSpPr>
        <p:spPr>
          <a:xfrm>
            <a:off x="8334375" y="1247775"/>
            <a:ext cx="533400" cy="5334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8B5CF6"/>
              </a:gs>
              <a:gs pos="100000">
                <a:srgbClr val="2563EB"/>
              </a:gs>
            </a:gsLst>
            <a:lin ang="2700000" scaled="1"/>
          </a:gradFill>
        </p:spPr>
        <p:txBody>
          <a:bodyPr/>
          <a:p/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67725" y="1381125"/>
            <a:ext cx="266700" cy="266700"/>
          </a:xfrm>
          <a:prstGeom prst="rect">
            <a:avLst/>
          </a:prstGeom>
        </p:spPr>
      </p:pic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8334375" y="1933575"/>
            <a:ext cx="30194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对接上海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8334375" y="2362200"/>
            <a:ext cx="30194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B5FD"/>
                </a:solidFill>
                <a:latin typeface="微软雅黑" panose="020B0503020204020204" charset="-122"/>
                <a:ea typeface="微软雅黑" panose="020B0503020204020204" charset="-122"/>
              </a:rPr>
              <a:t>抢占标准化话语权</a:t>
            </a:r>
            <a:endParaRPr lang="zh-CN" sz="1125" b="1">
              <a:solidFill>
                <a:srgbClr val="C4B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8334375" y="2686050"/>
            <a:ext cx="30194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成为国地中心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"1+N"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分训练场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加入第一视角具身智能数据联盟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8334375" y="3352800"/>
            <a:ext cx="3019425" cy="9525"/>
          </a:xfrm>
          <a:prstGeom prst="rect">
            <a:avLst/>
          </a:prstGeom>
          <a:solidFill>
            <a:srgbClr val="8B5CF6">
              <a:alpha val="30000"/>
            </a:srgbClr>
          </a:solidFill>
        </p:spPr>
        <p:txBody>
          <a:bodyPr/>
          <a:p/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8334375" y="3514725"/>
            <a:ext cx="30194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差异化壁垒</a:t>
            </a:r>
            <a:endParaRPr lang="zh-CN" sz="112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8334375" y="3838575"/>
            <a:ext cx="30194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TacWM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预测性触觉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vs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白虎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-VTouch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记录性触觉，数据标注增加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触觉预测层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8334375" y="5867400"/>
            <a:ext cx="3019425" cy="533400"/>
          </a:xfrm>
          <a:prstGeom prst="roundRect">
            <a:avLst>
              <a:gd name="adj" fmla="val 14286"/>
            </a:avLst>
          </a:prstGeom>
          <a:solidFill>
            <a:srgbClr val="8B5CF6">
              <a:alpha val="20000"/>
            </a:srgbClr>
          </a:solidFill>
        </p:spPr>
        <p:txBody>
          <a:bodyPr/>
          <a:p/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8486775" y="5981700"/>
            <a:ext cx="2714625" cy="304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75">
                <a:solidFill>
                  <a:srgbClr val="C4B5FD"/>
                </a:solidFill>
                <a:latin typeface="微软雅黑" panose="020B0503020204020204" charset="-122"/>
                <a:ea typeface="微软雅黑" panose="020B0503020204020204" charset="-122"/>
              </a:rPr>
              <a:t>OpenLoong</a:t>
            </a:r>
            <a:r>
              <a:rPr lang="zh-CN" sz="975">
                <a:solidFill>
                  <a:srgbClr val="C4B5FD"/>
                </a:solidFill>
                <a:latin typeface="微软雅黑" panose="020B0503020204020204" charset="-122"/>
                <a:ea typeface="微软雅黑" panose="020B0503020204020204" charset="-122"/>
              </a:rPr>
              <a:t>开源社区</a:t>
            </a:r>
            <a:r>
              <a:rPr lang="en-US" sz="975">
                <a:solidFill>
                  <a:srgbClr val="C4B5FD"/>
                </a:solidFill>
                <a:latin typeface="微软雅黑" panose="020B0503020204020204" charset="-122"/>
                <a:ea typeface="微软雅黑" panose="020B0503020204020204" charset="-122"/>
              </a:rPr>
              <a:t> + 80</a:t>
            </a:r>
            <a:r>
              <a:rPr lang="zh-CN" sz="975">
                <a:solidFill>
                  <a:srgbClr val="C4B5FD"/>
                </a:solidFill>
                <a:latin typeface="微软雅黑" panose="020B0503020204020204" charset="-122"/>
                <a:ea typeface="微软雅黑" panose="020B0503020204020204" charset="-122"/>
              </a:rPr>
              <a:t>项国标兼容</a:t>
            </a:r>
            <a:r>
              <a:rPr lang="en-US" sz="975">
                <a:solidFill>
                  <a:srgbClr val="C4B5FD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>
                <a:solidFill>
                  <a:srgbClr val="C4B5FD"/>
                </a:solidFill>
                <a:latin typeface="微软雅黑" panose="020B0503020204020204" charset="-122"/>
                <a:ea typeface="微软雅黑" panose="020B0503020204020204" charset="-122"/>
              </a:rPr>
              <a:t>争取触觉数据标准话语权</a:t>
            </a:r>
            <a:endParaRPr lang="zh-CN" sz="975">
              <a:solidFill>
                <a:srgbClr val="C4B5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10544175" y="1171575"/>
            <a:ext cx="847725" cy="828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8B5CF6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5400" b="1">
              <a:solidFill>
                <a:srgbClr val="8B5CF6">
                  <a:alpha val="2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10582275" y="6505575"/>
            <a:ext cx="1038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ROBOX | 12 / 16</a:t>
            </a:r>
            <a:endParaRPr lang="en-US" sz="105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 descr="&lt;Slide style={{ width: '1280px', height: '720px', background: '#F1F5F9', display: 'flex', flexDirection: 'column', padding: '20px 60px 20px 60px' }}&gt;&#10;  &lt;Box style={{ flexDirection: 'row', alignItems: 'center', gap: 16, marginBottom: 16 }}&gt;&#10;    &lt;Box style={{ width: 6, height: 36, background: 'linear-gradient(180deg, #2563EB, #06B6D4)', borderRadius: 3 }} /&gt;&#10;    &lt;Text style={{ fontSize: 32, color: '#0F172A', fontWeight: 'bold' }}&gt;余杭本地：青岛起步，争取无锡&lt;/Text&gt;&#10;  &lt;/Box&gt;&#10;  &lt;Box style={{ flex: 1, flexDirection: 'row', gap: 32 }}&gt;&#10;    &lt;Box style={{ width: '52%', background: '#FFFFFF', borderRadius: 16, padding: 24, boxShadow: '0 4px 20px rgba(0,0,0,0.06)' }}&gt;&#10;      &lt;Text style={{ fontSize: 18, color: '#64748B', marginBottom: 16, fontWeight: 600 }}&gt;三步走时间轴&lt;/Text&gt;&#10;      &lt;svg width=&quot;100%&quot; height=&quot;440&quot; viewBox=&quot;0 0 520 440&quot;&gt;&#10;        &lt;defs&gt;&#10;          &lt;linearGradient id=&quot;tlGrad&quot; x1=&quot;0%&quot; y1=&quot;0%&quot; x2=&quot;0%&quot; y2=&quot;100%&quot;&gt;&#10;            &lt;stop offset=&quot;0%&quot; stopColor=&quot;#2563EB&quot; /&gt;&#10;            &lt;stop offset=&quot;50%&quot; stopColor=&quot;#06B6D4&quot; /&gt;&#10;            &lt;stop offset=&quot;100%&quot; stopColor=&quot;#8B5CF6&quot; /&gt;&#10;          &lt;/linearGradient&gt;&#10;        &lt;/defs&gt;&#10;        &lt;rect x=&quot;30&quot; y=&quot;30&quot; width=&quot;4&quot; height=&quot;380&quot; fill=&quot;url(#tlGrad)&quot; rx=&quot;2&quot; /&gt;&#10;        &lt;circle cx=&quot;32&quot; cy=&quot;60&quot; r=&quot;20&quot; fill=&quot;#2563EB&quot; /&gt;&#10;        &lt;text x=&quot;32&quot; y=&quot;66&quot; textAnchor=&quot;middle&quot; fill=&quot;#FFFFFF&quot; fontSize=&quot;14&quot; fontWeight=&quot;bold&quot;&gt;1&lt;/text&gt;&#10;        &lt;rect x=&quot;70&quot; y=&quot;30&quot; width=&quot;420&quot; height=&quot;100&quot; rx=&quot;12&quot; fill=&quot;#F1F5F9&quot; stroke=&quot;#2563EB&quot; strokeWidth=&quot;1.5&quot; /&gt;&#10;        &lt;text x=&quot;90&quot; y=&quot;58&quot; fill=&quot;#2563EB&quot; fontSize=&quot;15&quot; fontWeight=&quot;bold&quot;&gt;第一步：青岛模式启动（1-2月）&lt;/text&gt;&#10;        &lt;text x=&quot;90&quot; y=&quot;82&quot; fill=&quot;#475569&quot; fontSize=&quot;13&quot;&gt;对接1-2所杭州职业院校（浙大城院/杭电）&lt;/text&gt;&#10;        &lt;text x=&quot;90&quot; y=&quot;102&quot; fill=&quot;#475569&quot; fontSize=&quot;13&quot;&gt;50-100名学生 · 采购入门级遥操作设备&lt;/text&gt;&#10;        &lt;text x=&quot;90&quot; y=&quot;120&quot; fill=&quot;#475569&quot; fontSize=&quot;13&quot;&gt;签三方协议 · 目标月产500-1000小时Ego数据&lt;/text&gt;&#10;        &lt;circle cx=&quot;32&quot; cy=&quot;220&quot; r=&quot;20&quot; fill=&quot;#06B6D4&quot; /&gt;&#10;        &lt;text x=&quot;32&quot; y=&quot;226&quot; textAnchor=&quot;middle&quot; fill=&quot;#FFFFFF&quot; fontSize=&quot;14&quot; fontWeight=&quot;bold&quot;&gt;2&lt;/text&gt;&#10;        &lt;rect x=&quot;70&quot; y=&quot;190&quot; width=&quot;420&quot; height=&quot;100&quot; rx=&quot;12&quot; fill=&quot;#F1F5F9&quot; stroke=&quot;#06B6D4&quot; strokeWidth=&quot;1.5&quot; /&gt;&#10;        &lt;text x=&quot;90&quot; y=&quot;218&quot; fill=&quot;#06B6D4&quot; fontSize=&quot;15&quot; fontWeight=&quot;bold&quot;&gt;第二步：引入无锡机制商业化（3-6月）&lt;/text&gt;&#10;        &lt;text x=&quot;90&quot; y=&quot;242&quot; fill=&quot;#475569&quot; fontSize=&quot;13&quot;&gt;余杭区管委会引入国资平台持设备&lt;/text&gt;&#10;        &lt;text x=&quot;90&quot; y=&quot;262&quot; fill=&quot;#475569&quot; fontSize=&quot;13&quot;&gt;建立数字水印确权 · 帕西尼合作触觉手套&lt;/text&gt;&#10;        &lt;text x=&quot;90&quot; y=&quot;280&quot; fill=&quot;#475569&quot; fontSize=&quot;13&quot;&gt;目标月产5000小时 · 触觉数据占比30%+&lt;/text&gt;&#10;        &lt;circle cx=&quot;32&quot; cy=&quot;380&quot; r=&quot;20&quot; fill=&quot;#8B5CF6&quot; /&gt;&#10;        &lt;text x=&quot;32&quot; y=&quot;386&quot; textAnchor=&quot;middle&quot; fill=&quot;#FFFFFF&quot; fontSize=&quot;14&quot; fontWeight=&quot;bold&quot;&gt;3&lt;/text&gt;&#10;        &lt;rect x=&quot;70&quot; y=&quot;350&quot; width=&quot;420&quot; height=&quot;80&quot; rx=&quot;12&quot; fill=&quot;#F1F5F9&quot; stroke=&quot;#8B5CF6&quot; strokeWidth=&quot;1.5&quot; /&gt;&#10;        &lt;text x=&quot;90&quot; y=&quot;378&quot; fill=&quot;#8B5CF6&quot; fontSize=&quot;15&quot; fontWeight=&quot;bold&quot;&gt;第三步：产品化输出（6-12月）&lt;/text&gt;&#10;        &lt;text x=&quot;90&quot; y=&quot;402&quot; fill=&quot;#475569&quot; fontSize=&quot;13&quot;&gt;按小时/License出售 · 申报&quot;AI+标杆场景&quot;500万补助&lt;/text&gt;&#10;        &lt;text x=&quot;90&quot; y=&quot;420&quot; fill=&quot;#475569&quot; fontSize=&quot;13&quot;&gt;Ego数据300-400元/h · 触觉数据480-600元/h（TacWM溢价）&lt;/text&gt;&#10;      &lt;/svg&gt;&#10;    &lt;/Box&gt;&#10;    &lt;Box style={{ flex: 1, flexDirection: 'column', gap: 14, justifyContent: 'center' }}&gt;&#10;      &lt;Box style={{ background: '#FFFFFF', borderRadius: 12, padding: '18px 22px', boxShadow: '0 2px 12px rgba(0,0,0,0.04)', borderLeft: '4px solid #2563EB' }}&gt;&#10;        &lt;Text style={{ fontSize: 17, color: '#0F172A', fontWeight: 'bold', marginBottom: 6 }}&gt;Anson即战力&lt;/Text&gt;&#10;        &lt;Text style={{ fontSize: 14, color: '#64748B', lineHeight: 1.6 }}&gt;南湖未来科学园200+具身智能企业网络可直接转化为合作伙伴/客户；余杭区管委会/街道办关系网络第一天即可推进&lt;/Text&gt;&#10;      &lt;/Box&gt;&#10;      &lt;Box style={{ background: '#FFFFFF', borderRadius: 12, padding: '18px 22px', boxShadow: '0 2px 12px rgba(0,0,0,0.04)', borderLeft: '4px solid #06B6D4' }}&gt;&#10;        &lt;Text style={{ fontSize: 17, color: '#0F172A', fontWeight: 'bold', marginBottom: 6 }}&gt;三方协议要点&lt;/Text&gt;&#10;        &lt;Text style={{ fontSize: 14, color: '#64748B', lineHeight: 1.6 }}&gt;ROBOX（技术标准+数据产权）+ 高校（场地+学生）+ 管委会（政策背书+补贴申报）&lt;/Text&gt;&#10;      &lt;/Box&gt;&#10;      &lt;Box style={{ background: '#FFFFFF', borderRadius: 12, padding: '18px 22px', boxShadow: '0 2px 12px rgba(0,0,0,0.04)', borderLeft: '4px solid #8B5CF6' }}&gt;&#10;        &lt;Text style={{ fontSize: 17, color: '#0F172A', fontWeight: 'bold', marginBottom: 6 }}&gt;政策资源匹配&lt;/Text&gt;&#10;        &lt;Text style={{ fontSize: 14, color: '#64748B', lineHeight: 1.6 }}&gt;余杭区海创未来领军人才（三年1200万研发+300万房租）+ 算力券（市级2.5亿+省级5亿）+ &quot;AI+标杆场景&quot;500万补助&lt;/Text&gt;&#10;      &lt;/Box&gt;&#10;      &lt;Box style={{ background: '#0F172A', borderRadius: 12, padding: '16px 22px', flexDirection: 'row', alignItems: 'center', gap: 12 }}&gt;&#10;        &lt;FAIcon name='lightbulb' style={{ fill: '#8B5CF6', width: 24, height: 24 }} /&gt;&#10;        &lt;Text style={{ fontSize: 14, color: '#E2E8F0', lineHeight: 1.5 }}&gt;&#10;          &lt;span style={{ color: '#8B5CF6', fontWeight: 'bold' }}&gt;战略价值：&lt;/span&gt;从&quot;技术公司&quot;到&quot;数据基础设施公司&quot;的估值叙事质变&#10;        &lt;/Text&gt;&#10;      &lt;/Box&gt;&#10;    &lt;/Box&gt;&#10;  &lt;/Box&gt;&#10;  &lt;Box style={{ position: 'absolute', bottom: 20, right: 60 }}&gt;&#10;    &lt;Text style={{ fontSize: 14, color: '#94A3B8' }}&gt;ROBOX | 13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</p:spPr>
        <p:txBody>
          <a:bodyPr/>
          <a:p/>
        </p:txBody>
      </p:sp>
      <p:sp>
        <p:nvSpPr>
          <p:cNvPr id="79" name="圆角矩形 78"/>
          <p:cNvSpPr/>
          <p:nvPr/>
        </p:nvSpPr>
        <p:spPr>
          <a:xfrm>
            <a:off x="571500" y="209550"/>
            <a:ext cx="57150" cy="3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781050" y="190500"/>
            <a:ext cx="42672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余杭本地：青岛起步，争取无锡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571500" y="714375"/>
            <a:ext cx="5743575" cy="5953125"/>
          </a:xfrm>
          <a:prstGeom prst="roundRect">
            <a:avLst>
              <a:gd name="adj" fmla="val 2653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800100" y="942975"/>
            <a:ext cx="5286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三步走时间轴</a:t>
            </a:r>
            <a:endParaRPr lang="zh-CN" sz="135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0100" y="1304925"/>
            <a:ext cx="5286375" cy="4191000"/>
          </a:xfrm>
          <a:prstGeom prst="rect">
            <a:avLst/>
          </a:prstGeom>
        </p:spPr>
      </p:pic>
      <p:sp>
        <p:nvSpPr>
          <p:cNvPr id="84" name="圆角矩形 83"/>
          <p:cNvSpPr/>
          <p:nvPr/>
        </p:nvSpPr>
        <p:spPr>
          <a:xfrm>
            <a:off x="6657975" y="1543050"/>
            <a:ext cx="5000625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effectLst>
            <a:outerShdw blurRad="1143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85" name="任意多边形 84"/>
          <p:cNvSpPr/>
          <p:nvPr/>
        </p:nvSpPr>
        <p:spPr>
          <a:xfrm>
            <a:off x="6657975" y="1543050"/>
            <a:ext cx="5000625" cy="1114425"/>
          </a:xfrm>
          <a:custGeom>
            <a:avLst/>
            <a:gdLst/>
            <a:ahLst/>
            <a:cxnLst/>
            <a:pathLst>
              <a:path w="525" h="11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9"/>
                </a:lnTo>
                <a:cubicBezTo>
                  <a:pt x="4" y="113"/>
                  <a:pt x="7" y="116"/>
                  <a:pt x="10" y="117"/>
                </a:cubicBezTo>
                <a:cubicBezTo>
                  <a:pt x="4" y="116"/>
                  <a:pt x="0" y="111"/>
                  <a:pt x="0" y="10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</p:spPr>
        <p:txBody>
          <a:bodyPr/>
          <a:p/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6867525" y="1714500"/>
            <a:ext cx="45434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Anson</a:t>
            </a: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即战力</a:t>
            </a:r>
            <a:endParaRPr lang="zh-CN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6867525" y="1971675"/>
            <a:ext cx="45434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南湖未来科学园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200+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具身智能企业网络可直接转化为合作伙伴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客户；余杭区管委会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街道办关系网络第一天即可推进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圆角矩形 87"/>
          <p:cNvSpPr/>
          <p:nvPr/>
        </p:nvSpPr>
        <p:spPr>
          <a:xfrm>
            <a:off x="6657975" y="2790825"/>
            <a:ext cx="5000625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effectLst>
            <a:outerShdw blurRad="1143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89" name="任意多边形 88"/>
          <p:cNvSpPr/>
          <p:nvPr/>
        </p:nvSpPr>
        <p:spPr>
          <a:xfrm>
            <a:off x="6657975" y="2790825"/>
            <a:ext cx="5000625" cy="1114425"/>
          </a:xfrm>
          <a:custGeom>
            <a:avLst/>
            <a:gdLst/>
            <a:ahLst/>
            <a:cxnLst/>
            <a:pathLst>
              <a:path w="525" h="11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9"/>
                </a:lnTo>
                <a:cubicBezTo>
                  <a:pt x="4" y="113"/>
                  <a:pt x="7" y="116"/>
                  <a:pt x="10" y="117"/>
                </a:cubicBezTo>
                <a:cubicBezTo>
                  <a:pt x="4" y="116"/>
                  <a:pt x="0" y="111"/>
                  <a:pt x="0" y="10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6B6D4"/>
          </a:solidFill>
        </p:spPr>
        <p:txBody>
          <a:bodyPr/>
          <a:p/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6867525" y="2962275"/>
            <a:ext cx="45434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三方协议要点</a:t>
            </a:r>
            <a:endParaRPr lang="zh-CN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6867525" y="3219450"/>
            <a:ext cx="45434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ROBOX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（技术标准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数据产权）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高校（场地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学生）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管委会（政策背书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补贴申报）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圆角矩形 91"/>
          <p:cNvSpPr/>
          <p:nvPr/>
        </p:nvSpPr>
        <p:spPr>
          <a:xfrm>
            <a:off x="6657975" y="4038600"/>
            <a:ext cx="5000625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effectLst>
            <a:outerShdw blurRad="1143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93" name="任意多边形 92"/>
          <p:cNvSpPr/>
          <p:nvPr/>
        </p:nvSpPr>
        <p:spPr>
          <a:xfrm>
            <a:off x="6657975" y="4038600"/>
            <a:ext cx="5000625" cy="1114425"/>
          </a:xfrm>
          <a:custGeom>
            <a:avLst/>
            <a:gdLst/>
            <a:ahLst/>
            <a:cxnLst/>
            <a:pathLst>
              <a:path w="525" h="11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9"/>
                </a:lnTo>
                <a:cubicBezTo>
                  <a:pt x="4" y="113"/>
                  <a:pt x="7" y="116"/>
                  <a:pt x="10" y="117"/>
                </a:cubicBezTo>
                <a:cubicBezTo>
                  <a:pt x="4" y="116"/>
                  <a:pt x="0" y="111"/>
                  <a:pt x="0" y="10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8B5CF6"/>
          </a:solidFill>
        </p:spPr>
        <p:txBody>
          <a:bodyPr/>
          <a:p/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6867525" y="4210050"/>
            <a:ext cx="45434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政策资源匹配</a:t>
            </a:r>
            <a:endParaRPr lang="zh-CN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6867525" y="4467225"/>
            <a:ext cx="45434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余杭区海创未来领军人才（三年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1200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万研发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+300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万房租）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算力券（市级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2.5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亿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省级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亿）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+ "AI+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标杆场景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"500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万补助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圆角矩形 95"/>
          <p:cNvSpPr/>
          <p:nvPr/>
        </p:nvSpPr>
        <p:spPr>
          <a:xfrm>
            <a:off x="6619875" y="5286375"/>
            <a:ext cx="5000625" cy="552450"/>
          </a:xfrm>
          <a:prstGeom prst="roundRect">
            <a:avLst>
              <a:gd name="adj" fmla="val 20690"/>
            </a:avLst>
          </a:prstGeom>
          <a:solidFill>
            <a:srgbClr val="0F172A"/>
          </a:solidFill>
        </p:spPr>
        <p:txBody>
          <a:bodyPr/>
          <a:p/>
        </p:txBody>
      </p:sp>
      <p:pic>
        <p:nvPicPr>
          <p:cNvPr id="97" name="图片 9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9425" y="5448300"/>
            <a:ext cx="228600" cy="228600"/>
          </a:xfrm>
          <a:prstGeom prst="rect">
            <a:avLst/>
          </a:prstGeom>
        </p:spPr>
      </p:pic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7172325" y="5438775"/>
            <a:ext cx="37052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战略价值：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技术公司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到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数据基础设施公司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的估值叙事质变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10582275" y="6505575"/>
            <a:ext cx="1038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ROBOX | 13 / 16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 descr="&lt;Slide style={{ width: '1280px', height: '720px', background: '#F1F5F9', display: 'flex', flexDirection: 'column', padding: '20px 60px 20px 60px' }}&gt;&#10;  &lt;Box style={{ flexDirection: 'row', alignItems: 'center', gap: 16, marginBottom: 16 }}&gt;&#10;    &lt;Box style={{ width: 6, height: 36, background: 'linear-gradient(180deg, #06B6D4, #8B5CF6)', borderRadius: 3 }} /&gt;&#10;    &lt;Text style={{ fontSize: 32, color: '#0F172A', fontWeight: 'bold' }}&gt;外埠拓展与上海对接&lt;/Text&gt;&#10;  &lt;/Box&gt;&#10;  &lt;Box style={{ flex: 1, flexDirection: 'row', gap: 28 }}&gt;&#10;    &lt;Box style={{ width: '58%', background: '#FFFFFF', borderRadius: 16, padding: 24, boxShadow: '0 4px 20px rgba(0,0,0,0.06)' }}&gt;&#10;      &lt;Text style={{ fontSize: 18, color: '#64748B', marginBottom: 16, fontWeight: 600 }}&gt;双路径并行&lt;/Text&gt;&#10;      &lt;svg width=&quot;100%&quot; height=&quot;440&quot; viewBox=&quot;0 0 560 440&quot;&gt;&#10;        &lt;defs&gt;&#10;          &lt;marker id=&quot;arrowExt&quot; markerWidth=&quot;10&quot; markerHeight=&quot;10&quot; refX=&quot;8&quot; refY=&quot;3&quot; orient=&quot;auto&quot;&gt;&#10;            &lt;path d=&quot;M0,0 L8,3 L0,6 Z&quot; fill=&quot;#06B6D4&quot; /&gt;&#10;          &lt;/marker&gt;&#10;          &lt;marker id=&quot;arrowSH&quot; markerWidth=&quot;10&quot; markerHeight=&quot;10&quot; refX=&quot;8&quot; refY=&quot;3&quot; orient=&quot;auto&quot;&gt;&#10;            &lt;path d=&quot;M0,0 L8,3 L0,6 Z&quot; fill=&quot;#8B5CF6&quot; /&gt;&#10;          &lt;/marker&gt;&#10;        &lt;/defs&gt;&#10;        &lt;rect x=&quot;180&quot; y=&quot;10&quot; width=&quot;200&quot; height=&quot;56&quot; rx=&quot;10&quot; fill=&quot;#0F172A&quot; /&gt;&#10;        &lt;text x=&quot;280&quot; y=&quot;36&quot; textAnchor=&quot;middle&quot; fill=&quot;#FFFFFF&quot; fontSize=&quot;15&quot; fontWeight=&quot;bold&quot;&gt;ROBOX&lt;/text&gt;&#10;        &lt;text x=&quot;280&quot; y=&quot;54&quot; textAnchor=&quot;middle&quot; fill=&quot;#94A3B8&quot; fontSize=&quot;12&quot;&gt;TacWM 触觉世界模型&lt;/text&gt;&#10;        &lt;path d=&quot;M 280 66 L 120 130&quot; stroke=&quot;#06B6D4&quot; strokeWidth=&quot;2.5&quot; fill=&quot;none&quot; markerEnd=&quot;url(#arrowExt)&quot; /&gt;&#10;        &lt;path d=&quot;M 280 66 L 440 130&quot; stroke=&quot;#8B5CF6&quot; strokeWidth=&quot;2.5&quot; fill=&quot;none&quot; markerEnd=&quot;url(#arrowSH)&quot; /&gt;&#10;        &lt;rect x=&quot;20&quot; y=&quot;130&quot; width=&quot;200&quot; height=&quot;56&quot; rx=&quot;10&quot; fill=&quot;#06B6D4&quot; opacity=&quot;0.9&quot; /&gt;&#10;        &lt;text x=&quot;120&quot; y=&quot;156&quot; textAnchor=&quot;middle&quot; fill=&quot;#FFFFFF&quot; fontSize=&quot;14&quot; fontWeight=&quot;bold&quot;&gt;路径A：外埠拓展&lt;/text&gt;&#10;        &lt;text x=&quot;120&quot; y=&quot;174&quot; textAnchor=&quot;middle&quot; fill=&quot;#CFFAFE&quot; fontSize=&quot;12&quot;&gt;直接沟通无锡模式&lt;/text&gt;&#10;        &lt;rect x=&quot;340&quot; y=&quot;130&quot; width=&quot;200&quot; height=&quot;56&quot; rx=&quot;10&quot; fill=&quot;#8B5CF6&quot; opacity=&quot;0.9&quot; /&gt;&#10;        &lt;text x=&quot;440&quot; y=&quot;156&quot; textAnchor=&quot;middle&quot; fill=&quot;#FFFFFF&quot; fontSize=&quot;14&quot; fontWeight=&quot;bold&quot;&gt;路径B：对接上海&lt;/text&gt;&#10;        &lt;text x=&quot;440&quot; y=&quot;174&quot; textAnchor=&quot;middle&quot; fill=&quot;#EDE9FE&quot; fontSize=&quot;12&quot;&gt;抢占标准化话语权&lt;/text&gt;&#10;        &lt;rect x=&quot;20&quot; y=&quot;220&quot; width=&quot;240&quot; height=&quot;100&quot; rx=&quot;10&quot; fill=&quot;#F1F5F9&quot; stroke=&quot;#06B6D4&quot; strokeWidth=&quot;1&quot; /&gt;&#10;        &lt;text x=&quot;140&quot; y=&quot;248&quot; textAnchor=&quot;middle&quot; fill=&quot;#06B6D4&quot; fontSize=&quot;13&quot; fontWeight=&quot;bold&quot;&gt;合作对象&lt;/text&gt;&#10;        &lt;text x=&quot;140&quot; y=&quot;270&quot; textAnchor=&quot;middle&quot; fill=&quot;#475569&quot; fontSize=&quot;12&quot;&gt;无锡数据集团 / 华智AI&lt;/text&gt;&#10;        &lt;text x=&quot;140&quot; y=&quot;290&quot; textAnchor=&quot;middle&quot; fill=&quot;#475569&quot; fontSize=&quot;12&quot;&gt;穹彻智能（在手订单8000万+）&lt;/text&gt;&#10;        &lt;text x=&quot;140&quot; y=&quot;308&quot; textAnchor=&quot;middle&quot; fill=&quot;#475569&quot; fontSize=&quot;12&quot;&gt;帕西尼感知（触觉手套）&lt;/text&gt;&#10;        &lt;rect x=&quot;300&quot; y=&quot;220&quot; width=&quot;240&quot; height=&quot;100&quot; rx=&quot;10&quot; fill=&quot;#F1F5F9&quot; stroke=&quot;#8B5CF6&quot; strokeWidth=&quot;1&quot; /&gt;&#10;        &lt;text x=&quot;420&quot; y=&quot;248&quot; textAnchor=&quot;middle&quot; fill=&quot;#8B5CF6&quot; fontSize=&quot;13&quot; fontWeight=&quot;bold&quot;&gt;对接目标&lt;/text&gt;&#10;        &lt;text x=&quot;420&quot; y=&quot;270&quot; textAnchor=&quot;middle&quot; fill=&quot;#475569&quot; fontSize=&quot;12&quot;&gt;国地中心&quot;1+N&quot;分训练场&lt;/text&gt;&#10;        &lt;text x=&quot;420&quot; y=&quot;290&quot; textAnchor=&quot;middle&quot; fill=&quot;#475569&quot; fontSize=&quot;12&quot;&gt;第一视角数据联盟成员&lt;/text&gt;&#10;        &lt;text x=&quot;420&quot; y=&quot;308&quot; textAnchor=&quot;middle&quot; fill=&quot;#475569&quot; fontSize=&quot;12&quot;&gt;OpenLoong开源社区&lt;/text&gt;&#10;        &lt;rect x=&quot;20&quot; y=&quot;350&quot; width=&quot;240&quot; height=&quot;80&quot; rx=&quot;10&quot; fill=&quot;#06B6D4&quot; opacity=&quot;0.1&quot; /&gt;&#10;        &lt;text x=&quot;140&quot; y=&quot;376&quot; textAnchor=&quot;middle&quot; fill=&quot;#06B6D4&quot; fontSize=&quot;13&quot; fontWeight=&quot;bold&quot;&gt;交换机制&lt;/text&gt;&#10;        &lt;text x=&quot;140&quot; y=&quot;396&quot; textAnchor=&quot;middle&quot; fill=&quot;#475569&quot; fontSize=&quot;12&quot;&gt;ROBOX输出触觉算法&lt;/text&gt;&#10;        &lt;text x=&quot;140&quot; y=&quot;414&quot; textAnchor=&quot;middle&quot; fill=&quot;#475569&quot; fontSize=&quot;12&quot;&gt;↔ 获取工业场景数据分润&lt;/text&gt;&#10;        &lt;rect x=&quot;300&quot; y=&quot;350&quot; width=&quot;240&quot; height=&quot;80&quot; rx=&quot;10&quot; fill=&quot;#8B5CF6&quot; opacity=&quot;0.1&quot; /&gt;&#10;        &lt;text x=&quot;420&quot; y=&quot;376&quot; textAnchor=&quot;middle&quot; fill=&quot;#8B5CF6&quot; fontSize=&quot;13&quot; fontWeight=&quot;bold&quot;&gt;差异化壁垒&lt;/text&gt;&#10;        &lt;text x=&quot;420&quot; y=&quot;396&quot; textAnchor=&quot;middle&quot; fill=&quot;#475569&quot; fontSize=&quot;12&quot;&gt;预测性触觉 vs 记录性触觉&lt;/text&gt;&#10;        &lt;text x=&quot;420&quot; y=&quot;414&quot; textAnchor=&quot;middle&quot; fill=&quot;#475569&quot; fontSize=&quot;12&quot;&gt;标注增加&quot;触觉预测层&quot;&lt;/text&gt;&#10;      &lt;/svg&gt;&#10;    &lt;/Box&gt;&#10;    &lt;Box style={{ flex: 1, flexDirection: 'column', gap: 14, justifyContent: 'center' }}&gt;&#10;      &lt;Box style={{ background: '#FFFFFF', borderRadius: 12, padding: '18px 22px', boxShadow: '0 2px 12px rgba(0,0,0,0.04)', borderLeft: '4px solid #06B6D4' }}&gt;&#10;        &lt;Text style={{ fontSize: 17, color: '#0F172A', fontWeight: 'bold', marginBottom: 6 }}&gt;外埠合作关键点&lt;/Text&gt;&#10;        &lt;Text style={{ fontSize: 14, color: '#64748B', lineHeight: 1.6 }}&gt;穹彻智能融资方含红杉中国和阿里巴巴，合作可同时推进阿里战略投资决策&lt;/Text&gt;&#10;      &lt;/Box&gt;&#10;      &lt;Box style={{ background: '#FFFFFF', borderRadius: 12, padding: '18px 22px', boxShadow: '0 2px 12px rgba(0,0,0,0.04)', borderLeft: '4px solid #8B5CF6' }}&gt;&#10;        &lt;Text style={{ fontSize: 17, color: '#0F172A', fontWeight: 'bold', marginBottom: 6 }}&gt;上海对接三个目标&lt;/Text&gt;&#10;        &lt;Text style={{ fontSize: 14, color: '#64748B', lineHeight: 1.6 }}&gt;&lt;span style={{ color: '#8B5CF6', fontWeight: 'bold' }}&gt;1.&lt;/span&gt; 成为国地中心&quot;1+N&quot;杭州分训练场{'\n'}&lt;span style={{ color: '#8B5CF6', fontWeight: 'bold' }}&gt;2.&lt;/span&gt; 加入&quot;第一视角实景具身智能数据联盟&quot;{'\n'}&lt;span style={{ color: '#8B5CF6', fontWeight: 'bold' }}&gt;3.&lt;/span&gt; 参与OpenLoong开源社区贡献触觉数据&lt;/Text&gt;&#10;      &lt;/Box&gt;&#10;      &lt;Box style={{ background: '#FFFFFF', borderRadius: 12, padding: '18px 22px', boxShadow: '0 2px 12px rgba(0,0,0,0.04)', borderLeft: '4px solid #2563EB' }}&gt;&#10;        &lt;Text style={{ fontSize: 17, color: '#0F172A', fontWeight: 'bold', marginBottom: 6 }}&gt;标准兼容策略&lt;/Text&gt;&#10;        &lt;Text style={{ fontSize: 14, color: '#64748B', lineHeight: 1.6 }}&gt;数据格式兼容白虎-VTouch三层标注体系（抽象思维层/动作逻辑层/物理状态层），在其上增加ROBOX独有的&quot;触觉预测层&quot;&lt;/Text&gt;&#10;      &lt;/Box&gt;&#10;      &lt;Box style={{ background: '#0F172A', borderRadius: 12, padding: '16px 22px', flexDirection: 'row', alignItems: 'center', gap: 12 }}&gt;&#10;        &lt;FAIcon name='trophy' style={{ fill: '#8B5CF6', width: 24, height: 24 }} /&gt;&#10;        &lt;Text style={{ fontSize: 14, color: '#E2E8F0', lineHeight: 1.5 }}&gt;&#10;          &lt;span style={{ color: '#8B5CF6', fontWeight: 'bold' }}&gt;终局目标：&lt;/span&gt;从模式复制者 → 标准参与者 → 触觉数据标准定义者&#10;        &lt;/Text&gt;&#10;      &lt;/Box&gt;&#10;    &lt;/Box&gt;&#10;  &lt;/Box&gt;&#10;  &lt;Box style={{ position: 'absolute', bottom: 20, right: 60 }}&gt;&#10;    &lt;Text style={{ fontSize: 14, color: '#94A3B8' }}&gt;ROBOX | 14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矩形 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</p:spPr>
        <p:txBody>
          <a:bodyPr/>
          <a:p/>
        </p:txBody>
      </p:sp>
      <p:sp>
        <p:nvSpPr>
          <p:cNvPr id="102" name="圆角矩形 101"/>
          <p:cNvSpPr/>
          <p:nvPr/>
        </p:nvSpPr>
        <p:spPr>
          <a:xfrm>
            <a:off x="571500" y="209550"/>
            <a:ext cx="57150" cy="3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/>
              </a:gs>
              <a:gs pos="100000">
                <a:srgbClr val="8B5CF6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781050" y="190500"/>
            <a:ext cx="27432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外埠拓展与上海对接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圆角矩形 103"/>
          <p:cNvSpPr/>
          <p:nvPr/>
        </p:nvSpPr>
        <p:spPr>
          <a:xfrm>
            <a:off x="571500" y="714375"/>
            <a:ext cx="6410325" cy="5953125"/>
          </a:xfrm>
          <a:prstGeom prst="roundRect">
            <a:avLst>
              <a:gd name="adj" fmla="val 2560"/>
            </a:avLst>
          </a:prstGeom>
          <a:solidFill>
            <a:srgbClr val="FFFFFF"/>
          </a:solidFill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800100" y="942975"/>
            <a:ext cx="59531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双路径并行</a:t>
            </a:r>
            <a:endParaRPr lang="zh-CN" sz="135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6" name="图片 10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0100" y="1304925"/>
            <a:ext cx="5953125" cy="4191000"/>
          </a:xfrm>
          <a:prstGeom prst="rect">
            <a:avLst/>
          </a:prstGeom>
        </p:spPr>
      </p:pic>
      <p:sp>
        <p:nvSpPr>
          <p:cNvPr id="107" name="圆角矩形 106"/>
          <p:cNvSpPr/>
          <p:nvPr/>
        </p:nvSpPr>
        <p:spPr>
          <a:xfrm>
            <a:off x="7286625" y="1419225"/>
            <a:ext cx="4371975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effectLst>
            <a:outerShdw blurRad="1143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108" name="任意多边形 107"/>
          <p:cNvSpPr/>
          <p:nvPr/>
        </p:nvSpPr>
        <p:spPr>
          <a:xfrm>
            <a:off x="7286625" y="1419225"/>
            <a:ext cx="4371975" cy="1114425"/>
          </a:xfrm>
          <a:custGeom>
            <a:avLst/>
            <a:gdLst/>
            <a:ahLst/>
            <a:cxnLst/>
            <a:pathLst>
              <a:path w="459" h="11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9"/>
                </a:lnTo>
                <a:cubicBezTo>
                  <a:pt x="4" y="113"/>
                  <a:pt x="7" y="116"/>
                  <a:pt x="10" y="117"/>
                </a:cubicBezTo>
                <a:cubicBezTo>
                  <a:pt x="4" y="116"/>
                  <a:pt x="0" y="111"/>
                  <a:pt x="0" y="10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6B6D4"/>
          </a:solidFill>
        </p:spPr>
        <p:txBody>
          <a:bodyPr/>
          <a:p/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7496175" y="1590675"/>
            <a:ext cx="39147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外埠合作关键点</a:t>
            </a:r>
            <a:endParaRPr lang="zh-CN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7496175" y="1847850"/>
            <a:ext cx="39147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穹彻智能融资方含红杉中国和阿里巴巴，合作可同时推进阿里战略投资决策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圆角矩形 110"/>
          <p:cNvSpPr/>
          <p:nvPr/>
        </p:nvSpPr>
        <p:spPr>
          <a:xfrm>
            <a:off x="7286625" y="2667000"/>
            <a:ext cx="4371975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effectLst>
            <a:outerShdw blurRad="1143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112" name="任意多边形 111"/>
          <p:cNvSpPr/>
          <p:nvPr/>
        </p:nvSpPr>
        <p:spPr>
          <a:xfrm>
            <a:off x="7286625" y="2667000"/>
            <a:ext cx="4371975" cy="1371600"/>
          </a:xfrm>
          <a:custGeom>
            <a:avLst/>
            <a:gdLst/>
            <a:ahLst/>
            <a:cxnLst/>
            <a:pathLst>
              <a:path w="459" h="144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36"/>
                </a:lnTo>
                <a:cubicBezTo>
                  <a:pt x="4" y="140"/>
                  <a:pt x="7" y="143"/>
                  <a:pt x="10" y="144"/>
                </a:cubicBezTo>
                <a:cubicBezTo>
                  <a:pt x="4" y="143"/>
                  <a:pt x="0" y="138"/>
                  <a:pt x="0" y="13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8B5CF6"/>
          </a:solidFill>
        </p:spPr>
        <p:txBody>
          <a:bodyPr/>
          <a:p/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7496175" y="2838450"/>
            <a:ext cx="39147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上海对接三个目标</a:t>
            </a:r>
            <a:endParaRPr lang="zh-CN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7496175" y="3095625"/>
            <a:ext cx="3914775" cy="771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成为国地中心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"1+N"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杭州分训练场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en-US" sz="105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加入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第一视角实景具身智能数据联盟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en-US" sz="105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参与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OpenLoong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开源社区贡献触觉数据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圆角矩形 114"/>
          <p:cNvSpPr/>
          <p:nvPr/>
        </p:nvSpPr>
        <p:spPr>
          <a:xfrm>
            <a:off x="7286625" y="4171950"/>
            <a:ext cx="4371975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effectLst>
            <a:outerShdw blurRad="1143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116" name="任意多边形 115"/>
          <p:cNvSpPr/>
          <p:nvPr/>
        </p:nvSpPr>
        <p:spPr>
          <a:xfrm>
            <a:off x="7286625" y="4171950"/>
            <a:ext cx="4371975" cy="1114425"/>
          </a:xfrm>
          <a:custGeom>
            <a:avLst/>
            <a:gdLst/>
            <a:ahLst/>
            <a:cxnLst/>
            <a:pathLst>
              <a:path w="459" h="11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9"/>
                </a:lnTo>
                <a:cubicBezTo>
                  <a:pt x="4" y="113"/>
                  <a:pt x="7" y="116"/>
                  <a:pt x="10" y="117"/>
                </a:cubicBezTo>
                <a:cubicBezTo>
                  <a:pt x="4" y="116"/>
                  <a:pt x="0" y="111"/>
                  <a:pt x="0" y="10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</p:spPr>
        <p:txBody>
          <a:bodyPr/>
          <a:p/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7496175" y="4343400"/>
            <a:ext cx="39147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标准兼容策略</a:t>
            </a:r>
            <a:endParaRPr lang="zh-CN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7496175" y="4600575"/>
            <a:ext cx="39147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数据格式兼容白虎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-VTouch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三层标注体系（抽象思维层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动作逻辑层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物理状态层），在其上增加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ROBOX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独有的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触觉预测层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圆角矩形 118"/>
          <p:cNvSpPr/>
          <p:nvPr/>
        </p:nvSpPr>
        <p:spPr>
          <a:xfrm>
            <a:off x="7248525" y="5419725"/>
            <a:ext cx="4371975" cy="552450"/>
          </a:xfrm>
          <a:prstGeom prst="roundRect">
            <a:avLst>
              <a:gd name="adj" fmla="val 20690"/>
            </a:avLst>
          </a:prstGeom>
          <a:solidFill>
            <a:srgbClr val="0F172A"/>
          </a:solidFill>
        </p:spPr>
        <p:txBody>
          <a:bodyPr/>
          <a:p/>
        </p:txBody>
      </p:sp>
      <p:pic>
        <p:nvPicPr>
          <p:cNvPr id="120" name="图片 11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8075" y="5581650"/>
            <a:ext cx="228600" cy="228600"/>
          </a:xfrm>
          <a:prstGeom prst="rect">
            <a:avLst/>
          </a:prstGeom>
        </p:spPr>
      </p:pic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7791450" y="5572125"/>
            <a:ext cx="36195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终局目标：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从模式复制者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标准参与者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触觉数据标准定义者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10582275" y="6505575"/>
            <a:ext cx="1038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ROBOX | 14 / 16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" descr="&lt;Slide style={{ width: '1280px', height: '720px', background: '#F1F5F9', display: 'flex', flexDirection: 'column', padding: '20px 60px 20px 60px' }}&gt;&#10;  &lt;Box style={{ flexDirection: 'row', alignItems: 'center', gap: 16, marginBottom: 16 }}&gt;&#10;    &lt;Box style={{ width: 6, height: 36, background: 'linear-gradient(180deg, #2563EB, #8B5CF6)', borderRadius: 3 }} /&gt;&#10;    &lt;Text style={{ fontSize: 32, color: '#0F172A', fontWeight: 'bold' }}&gt;合作伙伴与供应商总结&lt;/Text&gt;&#10;  &lt;/Box&gt;&#10;  &lt;Box style={{ flex: 1, flexDirection: 'column', gap: 14 }}&gt;&#10;    &lt;Table&#10;      style={{ width: '100%', height: 'auto' }}&#10;      defaultTextStyle={{ fontSize: 14, textAlign: 'left', color: '#1A1A1A' }}&#10;      defaultCellStyle={{&#10;        border: {&#10;          left: { width: 1, color: '#E2E8F0' },&#10;          right: { width: 1, color: '#E2E8F0' },&#10;          top: { width: 1, color: '#E2E8F0' },&#10;          bottom: { width: 1, color: '#E2E8F0' },&#10;        },&#10;        padding: { top: 10, bottom: 10, left: 12, right: 12 },&#10;      }}&#10;      cells={[&#10;        [&#10;          { text: '类别', textStyle: { bold: true, color: '#FFFFFF', fontSize: 15 }, cellStyle: { background: { color: '#0F172A' } } },&#10;          { text: '伙伴/供应商', textStyle: { bold: true, color: '#FFFFFF', fontSize: 15 }, cellStyle: { background: { color: '#0F172A' } } },&#10;          { text: '角色定位', textStyle: { bold: true, color: '#FFFFFF', fontSize: 15 }, cellStyle: { background: { color: '#0F172A' } } },&#10;          { text: '合作模式', textStyle: { bold: true, color: '#FFFFFF', fontSize: 15 }, cellStyle: { background: { color: '#0F172A' } } },&#10;        ],&#10;        [&#10;          { text: '硬件设备', textStyle: { bold: true, color: '#2563EB' } },&#10;          { text: '维宏股份（A股）', textStyle: { bold: true } },&#10;          'FOC (Field-Oriented Control，磁场定向控制) 驱动器模组',&#10;          '采购标准化模组',&#10;        ],&#10;        [&#10;          { text: '', cellStyle: { background: { color: '#F8FAFC' } } },&#10;          { text: '绿的谐波', cellStyle: { background: { color: '#F8FAFC' } }, textStyle: { bold: true } },&#10;          { text: '谐波减速器（市占率60%+）', cellStyle: { background: { color: '#F8FAFC' } } },&#10;          { text: '采购标准产品', cellStyle: { background: { color: '#F8FAFC' } } },&#10;        ],&#10;        [&#10;          { text: '', textStyle: { bold: true, color: '#2563EB' } },&#10;          { text: '简智/星忆智能', textStyle: { bold: true } },&#10;          'Ego (Egocentric，第一视角) 采集设备',&#10;          '采购入门/高端采集终端',&#10;        ],&#10;        [&#10;          { text: '数据合作', cellStyle: { background: { color: '#F8FAFC' } }, textStyle: { bold: true, color: '#06B6D4' } },&#10;          { text: '帕西尼感知（深圳）', cellStyle: { background: { color: '#F8FAFC' } }, textStyle: { bold: true } },&#10;          { text: '触觉手套PXCap V + 数据采集5.0', cellStyle: { background: { color: '#F8FAFC' } } },&#10;          { text: '联合研发EGO设备 + 触觉数据互补', cellStyle: { background: { color: '#F8FAFC' } } },&#10;        ],&#10;        [&#10;          { text: '', textStyle: { bold: true, color: '#06B6D4' } },&#10;          { text: '无锡数据集团/华智AI', textStyle: { bold: true } },&#10;          '城市级数据基建国资平台',&#10;          'ROBOX输出算法 ↔ 获取工业场景数据',&#10;        ],&#10;        [&#10;          { text: '', cellStyle: { background: { color: '#F8FAFC' } }, textStyle: { bold: true, color: '#06B6D4' } },&#10;          { text: '穹彻智能（上海交大）', cellStyle: { background: { color: '#F8FAFC' } }, textStyle: { bold: true } },&#10;          { text: '模型训练与工业交付（在手订单8000万+）', cellStyle: { background: { color: '#F8FAFC' } } },&#10;          { text: '联合拓展工业场景 + 阿里融资协同', cellStyle: { background: { color: '#F8FAFC' } } },&#10;        ],&#10;        [&#10;          { text: '', textStyle: { bold: true, color: '#06B6D4' } },&#10;          { text: '杭州职业院校', textStyle: { bold: true } },&#10;          '数据采集执行（学生=采集员+标注员）',&#10;          '三方协议：ROBOX+高校+管委会',&#10;        ],&#10;        [&#10;          { text: '标准联盟', cellStyle: { background: { color: '#F8FAFC' } }, textStyle: { bold: true, color: '#8B5CF6' } },&#10;          { text: '国地中心（上海）', cellStyle: { background: { color: '#F8FAFC' } }, textStyle: { bold: true } },&#10;          { text: '&quot;1+N&quot;国家级标准化训练场', cellStyle: { background: { color: '#F8FAFC' } } },&#10;          { text: '申请成为杭州分训练场', cellStyle: { background: { color: '#F8FAFC' } } },&#10;        ],&#10;        [&#10;          { text: '', textStyle: { bold: true, color: '#8B5CF6' } },&#10;          { text: '第一视角数据联盟', textStyle: { bold: true } },&#10;          '数据标准制定联盟（库帕思/大晓/穹彻等）',&#10;          '加入联盟争取触觉数据标准话语权',&#10;        ],&#10;        [&#10;          { text: '', cellStyle: { background: { color: '#F8FAFC' } }, textStyle: { bold: true, color: '#8B5CF6' } },&#10;          { text: 'OpenLoong开源社区', cellStyle: { background: { color: '#F8FAFC' } }, textStyle: { bold: true } },&#10;          { text: '白虎-VTouch数据集开源平台', cellStyle: { background: { color: '#F8FAFC' } } },&#10;          { text: '贡献触觉数据 + 格式兼容', cellStyle: { background: { color: '#F8FAFC' } } },&#10;        ],&#10;        [&#10;          { text: '政府支持', textStyle: { bold: true, color: '#2563EB' } },&#10;          { text: '余杭区管委会', textStyle: { bold: true } },&#10;          '政策背书+补贴申报+国资引入',&#10;          '三方协议牵头方 + 一事一议推进',&#10;        ],&#10;      ]}&#10;    /&gt;&#10;    &lt;Box style={{ flexDirection: 'row', gap: 12 }}&gt;&#10;      &lt;Box style={{ flex: 1, background: '#2563EB', borderRadius: 10, padding: '12px 16px', flexDirection: 'column', gap: 4 }}&gt;&#10;        &lt;Text style={{ fontSize: 14, color: '#FFFFFF', fontWeight: 'bold' }}&gt;硬件原则&lt;/Text&gt;&#10;        &lt;Text style={{ fontSize: 13, color: '#DBEAFE' }}&gt;全部不自研 · 采购标准化产品&lt;/Text&gt;&#10;      &lt;/Box&gt;&#10;      &lt;Box style={{ flex: 1, background: '#06B6D4', borderRadius: 10, padding: '12px 16px', flexDirection: 'column', gap: 4 }}&gt;&#10;        &lt;Text style={{ fontSize: 14, color: '#FFFFFF', fontWeight: 'bold' }}&gt;数据原则&lt;/Text&gt;&#10;        &lt;Text style={{ fontSize: 13, color: '#CFFAFE' }}&gt;算法自研 · 触觉差异化 · 合作采集&lt;/Text&gt;&#10;      &lt;/Box&gt;&#10;      &lt;Box style={{ flex: 1, background: '#8B5CF6', borderRadius: 10, padding: '12px 16px', flexDirection: 'column', gap: 4 }}&gt;&#10;        &lt;Text style={{ fontSize: 14, color: '#FFFFFF', fontWeight: 'bold' }}&gt;标准原则&lt;/Text&gt;&#10;        &lt;Text style={{ fontSize: 13, color: '#EDE9FE' }}&gt;兼容国标 · 贡献触觉层 · 争取话语权&lt;/Text&gt;&#10;      &lt;/Box&gt;&#10;    &lt;/Box&gt;&#10;  &lt;/Box&gt;&#10;  &lt;Box style={{ position: 'absolute', bottom: 20, right: 60 }}&gt;&#10;    &lt;Text style={{ fontSize: 14, color: '#94A3B8' }}&gt;ROBOX | 15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矩形 1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</p:spPr>
        <p:txBody>
          <a:bodyPr/>
          <a:p/>
        </p:txBody>
      </p:sp>
      <p:sp>
        <p:nvSpPr>
          <p:cNvPr id="125" name="圆角矩形 124"/>
          <p:cNvSpPr/>
          <p:nvPr/>
        </p:nvSpPr>
        <p:spPr>
          <a:xfrm>
            <a:off x="571500" y="209550"/>
            <a:ext cx="57150" cy="34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8B5CF6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781050" y="190500"/>
            <a:ext cx="3048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合作伙伴与供应商总结</a:t>
            </a:r>
            <a:endParaRPr lang="zh-CN"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7" name="表格 126"/>
          <p:cNvGraphicFramePr/>
          <p:nvPr/>
        </p:nvGraphicFramePr>
        <p:xfrm>
          <a:off x="571500" y="714375"/>
          <a:ext cx="11049000" cy="3505204"/>
        </p:xfrm>
        <a:graphic>
          <a:graphicData uri="http://schemas.openxmlformats.org/drawingml/2006/table">
            <a:tbl>
              <a:tblPr/>
              <a:tblGrid>
                <a:gridCol w="865553"/>
                <a:gridCol w="1973884"/>
                <a:gridCol w="4942626"/>
                <a:gridCol w="3266936"/>
              </a:tblGrid>
              <a:tr h="30082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伙伴/供应商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角色定位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合作模式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29130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硬件设备</a:t>
                      </a:r>
                      <a:endParaRPr sz="10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维宏股份（A股）</a:t>
                      </a:r>
                      <a:endParaRPr sz="105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FOC (Field-Oriented Control，磁场定向控制) 驱动器模组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采购标准化模组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130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绿的谐波</a:t>
                      </a:r>
                      <a:endParaRPr sz="105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谐波减速器（市占率60%+）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采购标准产品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9130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简智/星忆智能</a:t>
                      </a:r>
                      <a:endParaRPr sz="105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Ego (Egocentric，第一视角) 采集设备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采购入门/高端采集终端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130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06B6D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数据合作</a:t>
                      </a:r>
                      <a:endParaRPr sz="1050" b="1">
                        <a:solidFill>
                          <a:srgbClr val="06B6D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帕西尼感知（深圳）</a:t>
                      </a:r>
                      <a:endParaRPr sz="105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触觉手套PXCap V + 数据采集5.0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联合研发EGO设备 + 触觉数据互补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9130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无锡数据集团/华智AI</a:t>
                      </a:r>
                      <a:endParaRPr sz="105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城市级数据基建国资平台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ROBOX输出算法 ↔ 获取工业场景数据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130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穹彻智能（上海交大）</a:t>
                      </a:r>
                      <a:endParaRPr sz="105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模型训练与工业交付（在手订单8000万+）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联合拓展工业场景 + 阿里融资协同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9130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杭州职业院校</a:t>
                      </a:r>
                      <a:endParaRPr sz="105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数据采集执行（学生=采集员+标注员）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三方协议：ROBOX+高校+管委会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130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8B5CF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标准联盟</a:t>
                      </a:r>
                      <a:endParaRPr sz="1050" b="1">
                        <a:solidFill>
                          <a:srgbClr val="8B5CF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国地中心（上海）</a:t>
                      </a:r>
                      <a:endParaRPr sz="105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"1+N"国家级标准化训练场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申请成为杭州分训练场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9130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第一视角数据联盟</a:t>
                      </a:r>
                      <a:endParaRPr sz="105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数据标准制定联盟（库帕思/大晓/穹彻等）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加入联盟争取触觉数据标准话语权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130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OpenLoong开源社区</a:t>
                      </a:r>
                      <a:endParaRPr sz="105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白虎-VTouch数据集开源平台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贡献触觉数据 + 格式兼容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9130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政府支持</a:t>
                      </a:r>
                      <a:endParaRPr sz="10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余杭区管委会</a:t>
                      </a:r>
                      <a:endParaRPr sz="1050" b="1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政策背书+补贴申报+国资引入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三方协议牵头方 + 一事一议推进</a:t>
                      </a:r>
                      <a:endParaRPr sz="1050">
                        <a:solidFill>
                          <a:srgbClr val="1A1A1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8" name="圆角矩形 127"/>
          <p:cNvSpPr/>
          <p:nvPr/>
        </p:nvSpPr>
        <p:spPr>
          <a:xfrm>
            <a:off x="571500" y="5019675"/>
            <a:ext cx="3609975" cy="581025"/>
          </a:xfrm>
          <a:prstGeom prst="roundRect">
            <a:avLst>
              <a:gd name="adj" fmla="val 16393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723900" y="5133975"/>
            <a:ext cx="3305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硬件原则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723900" y="5334000"/>
            <a:ext cx="33051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DBEAFE"/>
                </a:solidFill>
                <a:latin typeface="微软雅黑" panose="020B0503020204020204" charset="-122"/>
                <a:ea typeface="微软雅黑" panose="020B0503020204020204" charset="-122"/>
              </a:rPr>
              <a:t>全部不自研</a:t>
            </a:r>
            <a:r>
              <a:rPr lang="en-US" sz="975">
                <a:solidFill>
                  <a:srgbClr val="DBEAF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DBEAFE"/>
                </a:solidFill>
                <a:latin typeface="微软雅黑" panose="020B0503020204020204" charset="-122"/>
                <a:ea typeface="微软雅黑" panose="020B0503020204020204" charset="-122"/>
              </a:rPr>
              <a:t>采购标准化产品</a:t>
            </a:r>
            <a:endParaRPr lang="zh-CN" sz="975">
              <a:solidFill>
                <a:srgbClr val="DBEA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圆角矩形 130"/>
          <p:cNvSpPr/>
          <p:nvPr/>
        </p:nvSpPr>
        <p:spPr>
          <a:xfrm>
            <a:off x="4295775" y="5019675"/>
            <a:ext cx="3600450" cy="581025"/>
          </a:xfrm>
          <a:prstGeom prst="roundRect">
            <a:avLst>
              <a:gd name="adj" fmla="val 16393"/>
            </a:avLst>
          </a:prstGeom>
          <a:solidFill>
            <a:srgbClr val="06B6D4"/>
          </a:solidFill>
        </p:spPr>
        <p:txBody>
          <a:bodyPr/>
          <a:p/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4448175" y="5133975"/>
            <a:ext cx="3295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数据原则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4448175" y="5334000"/>
            <a:ext cx="3295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FFAFE"/>
                </a:solidFill>
                <a:latin typeface="微软雅黑" panose="020B0503020204020204" charset="-122"/>
                <a:ea typeface="微软雅黑" panose="020B0503020204020204" charset="-122"/>
              </a:rPr>
              <a:t>算法自研</a:t>
            </a:r>
            <a:r>
              <a:rPr lang="en-US" sz="975">
                <a:solidFill>
                  <a:srgbClr val="CFFAF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CFFAFE"/>
                </a:solidFill>
                <a:latin typeface="微软雅黑" panose="020B0503020204020204" charset="-122"/>
                <a:ea typeface="微软雅黑" panose="020B0503020204020204" charset="-122"/>
              </a:rPr>
              <a:t>触觉差异化</a:t>
            </a:r>
            <a:r>
              <a:rPr lang="en-US" sz="975">
                <a:solidFill>
                  <a:srgbClr val="CFFAF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CFFAFE"/>
                </a:solidFill>
                <a:latin typeface="微软雅黑" panose="020B0503020204020204" charset="-122"/>
                <a:ea typeface="微软雅黑" panose="020B0503020204020204" charset="-122"/>
              </a:rPr>
              <a:t>合作采集</a:t>
            </a:r>
            <a:endParaRPr lang="zh-CN" sz="975">
              <a:solidFill>
                <a:srgbClr val="CFFA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圆角矩形 133"/>
          <p:cNvSpPr/>
          <p:nvPr/>
        </p:nvSpPr>
        <p:spPr>
          <a:xfrm>
            <a:off x="8010525" y="5019675"/>
            <a:ext cx="3609975" cy="581025"/>
          </a:xfrm>
          <a:prstGeom prst="roundRect">
            <a:avLst>
              <a:gd name="adj" fmla="val 16393"/>
            </a:avLst>
          </a:prstGeom>
          <a:solidFill>
            <a:srgbClr val="8B5CF6"/>
          </a:solidFill>
        </p:spPr>
        <p:txBody>
          <a:bodyPr/>
          <a:p/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8162925" y="5133975"/>
            <a:ext cx="3305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标准原则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8162925" y="5334000"/>
            <a:ext cx="33051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DE9FE"/>
                </a:solidFill>
                <a:latin typeface="微软雅黑" panose="020B0503020204020204" charset="-122"/>
                <a:ea typeface="微软雅黑" panose="020B0503020204020204" charset="-122"/>
              </a:rPr>
              <a:t>兼容国标</a:t>
            </a:r>
            <a:r>
              <a:rPr lang="en-US" sz="975">
                <a:solidFill>
                  <a:srgbClr val="EDE9F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EDE9FE"/>
                </a:solidFill>
                <a:latin typeface="微软雅黑" panose="020B0503020204020204" charset="-122"/>
                <a:ea typeface="微软雅黑" panose="020B0503020204020204" charset="-122"/>
              </a:rPr>
              <a:t>贡献触觉层</a:t>
            </a:r>
            <a:r>
              <a:rPr lang="en-US" sz="975">
                <a:solidFill>
                  <a:srgbClr val="EDE9F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EDE9FE"/>
                </a:solidFill>
                <a:latin typeface="微软雅黑" panose="020B0503020204020204" charset="-122"/>
                <a:ea typeface="微软雅黑" panose="020B0503020204020204" charset="-122"/>
              </a:rPr>
              <a:t>争取话语权</a:t>
            </a:r>
            <a:endParaRPr lang="zh-CN" sz="975">
              <a:solidFill>
                <a:srgbClr val="EDE9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10582275" y="6505575"/>
            <a:ext cx="1038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ROBOX | 15 / 16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" descr="&lt;Slide style={{ width: '1280px', height: '720px', background: '#0F172A', display: 'flex', flexDirection: 'column', justifyContent: 'center', alignItems: 'center', position: 'relative', overflow: 'hidden' }}&gt;&#10;  &lt;svg width=&quot;1280&quot; height=&quot;720&quot; viewBox=&quot;0 0 1280 720&quot; style={{ position: 'absolute', top: 0, left: 0, zIndex: 0 }}&gt;&#10;    &lt;defs&gt;&#10;      &lt;radialGradient id=&quot;endGlow&quot; cx=&quot;50%&quot; cy=&quot;45%&quot; r=&quot;45%&quot;&gt;&#10;        &lt;stop offset=&quot;0%&quot; stopColor=&quot;#2563EB&quot; stopOpacity=&quot;0.2&quot; /&gt;&#10;        &lt;stop offset=&quot;50%&quot; stopColor=&quot;#8B5CF6&quot; stopOpacity=&quot;0.08&quot; /&gt;&#10;        &lt;stop offset=&quot;100%&quot; stopColor=&quot;#0F172A&quot; stopOpacity=&quot;0&quot; /&gt;&#10;      &lt;/radialGradient&gt;&#10;    &lt;/defs&gt;&#10;    &lt;rect width=&quot;1280&quot; height=&quot;720&quot; fill=&quot;url(#endGlow)&quot; /&gt;&#10;    {Array.from({ length: 24 }).map((_, i) =&gt; (&#10;      &lt;circle key={i} cx={60 + i * 50} cy={40 + (i % 4) * 180} r={2 + (i % 3)} fill={i % 3 === 0 ? '#2563EB' : i % 3 === 1 ? '#06B6D4' : '#8B5CF6'} opacity={0.06 + (i % 5) * 0.02} /&gt;&#10;    ))}&#10;    &lt;path d=&quot;M 100 620 Q 400 520 640 560 T 1180 500&quot; stroke=&quot;#2563EB&quot; strokeWidth=&quot;1&quot; fill=&quot;none&quot; opacity=&quot;0.1&quot; /&gt;&#10;  &lt;/svg&gt;&#10;  &lt;Box style={{ zIndex: 1, flexDirection: 'column', alignItems: 'center', gap: 32, padding: '0 80px' }}&gt;&#10;    &lt;Box style={{ flexDirection: 'row', alignItems: 'center', gap: 16 }}&gt;&#10;      &lt;Box style={{ width: 56, height: 2, background: '#2563EB' }} /&gt;&#10;      &lt;Text style={{ fontSize: 18, color: '#06B6D4', letterSpacing: 6, fontWeight: 600 }}&gt;SUMMARY&lt;/Text&gt;&#10;      &lt;Box style={{ width: 56, height: 2, background: '#2563EB' }} /&gt;&#10;    &lt;/Box&gt;&#10;    &lt;Text style={{ fontSize: 48, color: '#FFFFFF', fontWeight: 'bold', textAlign: 'center', lineHeight: 1.3 }}&gt;&#10;      3种模式 + 1套ROBOX差异化&#10;    &lt;/Text&gt;&#10;    &lt;Box style={{ width: 80, height: 3, background: 'linear-gradient(90deg, #2563EB, #8B5CF6)' }} /&gt;&#10;    &lt;Box style={{ flexDirection: 'row', gap: 40, marginTop: 16 }}&gt;&#10;      &lt;Box style={{ flexDirection: 'column', alignItems: 'center', gap: 8 }}&gt;&#10;        &lt;Text style={{ fontSize: 36, fontWeight: 'bold', color: '#2563EB' }}&gt;青岛&lt;/Text&gt;&#10;        &lt;Text style={{ fontSize: 15, color: '#94A3B8' }}&gt;快速启动&lt;/Text&gt;&#10;      &lt;/Box&gt;&#10;      &lt;Text style={{ fontSize: 24, color: '#475569' }}&gt;+&lt;/Text&gt;&#10;      &lt;Box style={{ flexDirection: 'column', alignItems: 'center', gap: 8 }}&gt;&#10;        &lt;Text style={{ fontSize: 36, fontWeight: 'bold', color: '#06B6D4' }}&gt;无锡&lt;/Text&gt;&#10;        &lt;Text style={{ fontSize: 15, color: '#94A3B8' }}&gt;商业闭环&lt;/Text&gt;&#10;      &lt;/Box&gt;&#10;      &lt;Text style={{ fontSize: 24, color: '#475569' }}&gt;+&lt;/Text&gt;&#10;      &lt;Box style={{ flexDirection: 'column', alignItems: 'center', gap: 8 }}&gt;&#10;        &lt;Text style={{ fontSize: 36, fontWeight: 'bold', color: '#8B5CF6' }}&gt;上海&lt;/Text&gt;&#10;        &lt;Text style={{ fontSize: 15, color: '#94A3B8' }}&gt;标准话语权&lt;/Text&gt;&#10;      &lt;/Box&gt;&#10;      &lt;Text style={{ fontSize: 24, color: '#475569' }}&gt;=&lt;/Text&gt;&#10;      &lt;Box style={{ flexDirection: 'column', alignItems: 'center', gap: 8 }}&gt;&#10;        &lt;Text style={{ fontSize: 36, fontWeight: 'bold', backgroundImage: 'linear-gradient(135deg, #2563EB 0%, #8B5CF6 100%)', backgroundClip: 'text', color: 'transparent' }}&gt;ROBOX&lt;/Text&gt;&#10;        &lt;Text style={{ fontSize: 15, color: '#94A3B8' }}&gt;数据基础设施&lt;/Text&gt;&#10;      &lt;/Box&gt;&#10;    &lt;/Box&gt;&#10;    &lt;Text style={{ fontSize: 18, color: '#64748B', textAlign: 'center', lineHeight: 1.6, marginTop: 20, maxWidth: 800 }}&gt;&#10;      从模式复制到标准引领 — TacWM (Tactile World Model，触觉世界模型) 预测性触觉&lt;br /&gt;是ROBOX数据产品与白虎-VTouch/帕西尼记录性触觉的根本差异化&#10;    &lt;/Text&gt;&#10;    &lt;Box style={{ marginTop: 32, flexDirection: 'row', alignItems: 'center', gap: 12 }}&gt;&#10;      &lt;svg width=&quot;32&quot; height=&quot;32&quot; viewBox=&quot;0 0 32 32&quot;&gt;&#10;        &lt;rect x=&quot;4&quot; y=&quot;4&quot; width=&quot;24&quot; height=&quot;24&quot; rx=&quot;6&quot; fill=&quot;none&quot; stroke=&quot;#06B6D4&quot; strokeWidth=&quot;1.5&quot; /&gt;&#10;        &lt;circle cx=&quot;16&quot; cy=&quot;16&quot; r=&quot;5&quot; fill=&quot;none&quot; stroke=&quot;#2563EB&quot; strokeWidth=&quot;1.5&quot; /&gt;&#10;      &lt;/svg&gt;&#10;      &lt;Text style={{ fontSize: 16, color: '#475569' }}&gt;ROBOX Robotics · 2026.08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矩形 1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txBody>
          <a:bodyPr/>
          <a:p/>
        </p:txBody>
      </p:sp>
      <p:pic>
        <p:nvPicPr>
          <p:cNvPr id="140" name="图片 13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1" name="矩形 140"/>
          <p:cNvSpPr/>
          <p:nvPr/>
        </p:nvSpPr>
        <p:spPr>
          <a:xfrm>
            <a:off x="4743450" y="1143000"/>
            <a:ext cx="533400" cy="19050"/>
          </a:xfrm>
          <a:prstGeom prst="rect">
            <a:avLst/>
          </a:prstGeom>
          <a:solidFill>
            <a:srgbClr val="2563EB"/>
          </a:solidFill>
        </p:spPr>
        <p:txBody>
          <a:bodyPr/>
          <a:p/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5429250" y="1047750"/>
            <a:ext cx="13525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450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SUMMARY</a:t>
            </a:r>
            <a:endParaRPr lang="en-US" sz="1350" b="1" spc="450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6934200" y="1143000"/>
            <a:ext cx="533400" cy="19050"/>
          </a:xfrm>
          <a:prstGeom prst="rect">
            <a:avLst/>
          </a:prstGeom>
          <a:solidFill>
            <a:srgbClr val="2563EB"/>
          </a:solidFill>
        </p:spPr>
        <p:txBody>
          <a:bodyPr/>
          <a:p/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3067050" y="1562100"/>
            <a:ext cx="6076950" cy="7143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en-US"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种模式</a:t>
            </a:r>
            <a:r>
              <a:rPr lang="en-US"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+ 1</a:t>
            </a:r>
            <a:r>
              <a:rPr lang="zh-CN"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套</a:t>
            </a:r>
            <a:r>
              <a:rPr lang="en-US"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ROBOX</a:t>
            </a:r>
            <a:r>
              <a:rPr lang="zh-CN"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差异化</a:t>
            </a:r>
            <a:endParaRPr lang="zh-CN"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5724525" y="2581275"/>
            <a:ext cx="762000" cy="28575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8B5CF6"/>
              </a:gs>
            </a:gsLst>
            <a:lin ang="0" scaled="1"/>
          </a:gradFill>
        </p:spPr>
        <p:txBody>
          <a:bodyPr/>
          <a:p/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3028950" y="3067050"/>
            <a:ext cx="6858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青岛</a:t>
            </a:r>
            <a:endParaRPr lang="zh-CN" sz="27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3086100" y="3562350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快速启动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4095750" y="3067050"/>
            <a:ext cx="171450" cy="666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endParaRPr lang="en-US" sz="18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4648200" y="3067050"/>
            <a:ext cx="6858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</a:rPr>
              <a:t>无锡</a:t>
            </a:r>
            <a:endParaRPr lang="zh-CN" sz="2700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4705350" y="3562350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商业闭环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5715000" y="3067050"/>
            <a:ext cx="171450" cy="666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endParaRPr lang="en-US" sz="18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6286500" y="3067050"/>
            <a:ext cx="6858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endParaRPr lang="zh-CN" sz="2700" b="1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6267450" y="3562350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标准话语权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7362825" y="3067050"/>
            <a:ext cx="171450" cy="666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endParaRPr lang="en-US" sz="18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7915275" y="3067050"/>
            <a:ext cx="1266825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gradFill>
                  <a:gsLst>
                    <a:gs pos="0">
                      <a:srgbClr val="2563EB"/>
                    </a:gs>
                    <a:gs pos="100000">
                      <a:srgbClr val="8B5CF6"/>
                    </a:gs>
                  </a:gsLst>
                  <a:lin ang="27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ROBOX</a:t>
            </a:r>
            <a:endParaRPr lang="en-US" sz="2700" b="1">
              <a:gradFill>
                <a:gsLst>
                  <a:gs pos="0">
                    <a:srgbClr val="2563EB"/>
                  </a:gs>
                  <a:gs pos="100000">
                    <a:srgbClr val="8B5CF6"/>
                  </a:gs>
                </a:gsLst>
                <a:lin ang="2700000" scaled="1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8124825" y="3562350"/>
            <a:ext cx="85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数据基础设施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2838450" y="4229100"/>
            <a:ext cx="6524625" cy="6667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从模式复制到标准引领</a:t>
            </a: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— TacWM (Tactile World Model</a:t>
            </a:r>
            <a:r>
              <a:rPr lang="zh-CN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，触觉世界模型</a:t>
            </a: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) </a:t>
            </a:r>
            <a:r>
              <a:rPr lang="zh-CN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预测性触觉</a:t>
            </a:r>
            <a:endParaRPr lang="zh-CN" sz="13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60000"/>
              </a:lnSpc>
            </a:pPr>
            <a:r>
              <a:rPr lang="zh-CN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ROBOX</a:t>
            </a:r>
            <a:r>
              <a:rPr lang="zh-CN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数据产品与白虎</a:t>
            </a: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-VTouch/</a:t>
            </a:r>
            <a:r>
              <a:rPr lang="zh-CN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帕西尼记录性触觉的根本差异化</a:t>
            </a:r>
            <a:endParaRPr lang="zh-CN" sz="13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8" name="图片 1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3950" y="5505450"/>
            <a:ext cx="304800" cy="304800"/>
          </a:xfrm>
          <a:prstGeom prst="rect">
            <a:avLst/>
          </a:prstGeom>
        </p:spPr>
      </p:pic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5353050" y="5562600"/>
            <a:ext cx="19145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ROBOX Robotics · 2026.08</a:t>
            </a:r>
            <a:endParaRPr lang="en-US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3884</Words>
  <Application>WPS 演示</Application>
  <PresentationFormat/>
  <Paragraphs>560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Anson</cp:lastModifiedBy>
  <cp:revision>1</cp:revision>
  <dcterms:created xsi:type="dcterms:W3CDTF">2026-08-03T03:50:16Z</dcterms:created>
  <dcterms:modified xsi:type="dcterms:W3CDTF">2026-08-03T03:50:20Z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C73A8E826110414B988543FC8E6B9BDB_13</vt:lpwstr>
  </property>
</Properties>
</file>
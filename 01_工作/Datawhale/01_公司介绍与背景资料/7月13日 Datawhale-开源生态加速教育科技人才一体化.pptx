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2.xml" ContentType="application/vnd.openxmlformats-officedocument.presentationml.notesSlide+xml"/>
  <Override PartName="/ppt/tags/tag101.xml" ContentType="application/vnd.openxmlformats-officedocument.presentationml.tags+xml"/>
  <Override PartName="/ppt/notesSlides/notesSlide3.xml" ContentType="application/vnd.openxmlformats-officedocument.presentationml.notesSlide+xml"/>
  <Override PartName="/ppt/tags/tag102.xml" ContentType="application/vnd.openxmlformats-officedocument.presentationml.tags+xml"/>
  <Override PartName="/ppt/notesSlides/notesSlide4.xml" ContentType="application/vnd.openxmlformats-officedocument.presentationml.notesSlide+xml"/>
  <Override PartName="/ppt/tags/tag103.xml" ContentType="application/vnd.openxmlformats-officedocument.presentationml.tags+xml"/>
  <Override PartName="/ppt/notesSlides/notesSlide5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0"/>
  </p:notesMasterIdLst>
  <p:handoutMasterIdLst>
    <p:handoutMasterId r:id="rId31"/>
  </p:handoutMasterIdLst>
  <p:sldIdLst>
    <p:sldId id="401" r:id="rId3"/>
    <p:sldId id="318" r:id="rId4"/>
    <p:sldId id="341" r:id="rId5"/>
    <p:sldId id="360" r:id="rId6"/>
    <p:sldId id="394" r:id="rId7"/>
    <p:sldId id="395" r:id="rId8"/>
    <p:sldId id="396" r:id="rId9"/>
    <p:sldId id="397" r:id="rId10"/>
    <p:sldId id="400" r:id="rId11"/>
    <p:sldId id="380" r:id="rId12"/>
    <p:sldId id="375" r:id="rId13"/>
    <p:sldId id="384" r:id="rId14"/>
    <p:sldId id="354" r:id="rId15"/>
    <p:sldId id="353" r:id="rId16"/>
    <p:sldId id="352" r:id="rId17"/>
    <p:sldId id="355" r:id="rId18"/>
    <p:sldId id="381" r:id="rId19"/>
    <p:sldId id="357" r:id="rId20"/>
    <p:sldId id="387" r:id="rId21"/>
    <p:sldId id="365" r:id="rId22"/>
    <p:sldId id="386" r:id="rId23"/>
    <p:sldId id="367" r:id="rId24"/>
    <p:sldId id="402" r:id="rId25"/>
    <p:sldId id="392" r:id="rId26"/>
    <p:sldId id="403" r:id="rId27"/>
    <p:sldId id="404" r:id="rId28"/>
    <p:sldId id="359" r:id="rId29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头页" id="{E9230F8D-54EF-490D-A755-36E186D7C845}">
          <p14:sldIdLst>
            <p14:sldId id="401"/>
            <p14:sldId id="318"/>
            <p14:sldId id="341"/>
            <p14:sldId id="360"/>
            <p14:sldId id="394"/>
            <p14:sldId id="395"/>
            <p14:sldId id="396"/>
            <p14:sldId id="397"/>
            <p14:sldId id="400"/>
            <p14:sldId id="380"/>
            <p14:sldId id="375"/>
            <p14:sldId id="384"/>
            <p14:sldId id="354"/>
            <p14:sldId id="353"/>
            <p14:sldId id="352"/>
            <p14:sldId id="355"/>
            <p14:sldId id="381"/>
            <p14:sldId id="357"/>
            <p14:sldId id="387"/>
            <p14:sldId id="365"/>
            <p14:sldId id="386"/>
            <p14:sldId id="367"/>
          </p14:sldIdLst>
        </p14:section>
        <p14:section name="面向全球的四个中心" id="{2807BC13-422E-478A-9720-7992E19825F0}">
          <p14:sldIdLst>
            <p14:sldId id="402"/>
            <p14:sldId id="392"/>
            <p14:sldId id="403"/>
            <p14:sldId id="404"/>
            <p14:sldId id="359"/>
          </p14:sldIdLst>
        </p14:section>
        <p14:section name="层层递进的业务架构与服务" id="{47A3F834-BF92-4B91-A47A-73F8ACA5133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9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582FE"/>
    <a:srgbClr val="D3211E"/>
    <a:srgbClr val="D5211E"/>
    <a:srgbClr val="D6211E"/>
    <a:srgbClr val="FAF7F4"/>
    <a:srgbClr val="97C7F7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52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466" y="48"/>
      </p:cViewPr>
      <p:guideLst>
        <p:guide orient="horz" pos="2234"/>
        <p:guide pos="39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tags" Target="../tags/tag88.xml"/><Relationship Id="rId2" Type="http://schemas.openxmlformats.org/officeDocument/2006/relationships/tags" Target="../tags/tag73.xml"/><Relationship Id="rId16" Type="http://schemas.openxmlformats.org/officeDocument/2006/relationships/tags" Target="../tags/tag87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tags" Target="../tags/tag86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4.xml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6.xml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Relationship Id="rId4" Type="http://schemas.openxmlformats.org/officeDocument/2006/relationships/image" Target="../media/image34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0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3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4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5.xml"/><Relationship Id="rId6" Type="http://schemas.openxmlformats.org/officeDocument/2006/relationships/image" Target="../media/image42.png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1525" y="1706880"/>
            <a:ext cx="11805285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800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没有围墙的大学</a:t>
            </a:r>
            <a:r>
              <a:rPr lang="en-US" altLang="zh-CN" sz="8800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：</a:t>
            </a:r>
          </a:p>
        </p:txBody>
      </p:sp>
      <p:sp>
        <p:nvSpPr>
          <p:cNvPr id="4" name="Text 2"/>
          <p:cNvSpPr/>
          <p:nvPr/>
        </p:nvSpPr>
        <p:spPr>
          <a:xfrm>
            <a:off x="975360" y="329184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4800" dirty="0">
                <a:solidFill>
                  <a:srgbClr val="FAF9F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开源生态如何加速</a:t>
            </a:r>
          </a:p>
        </p:txBody>
      </p:sp>
      <p:sp>
        <p:nvSpPr>
          <p:cNvPr id="5" name="Text 3"/>
          <p:cNvSpPr/>
          <p:nvPr/>
        </p:nvSpPr>
        <p:spPr>
          <a:xfrm>
            <a:off x="975360" y="41452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465" b="1" dirty="0">
                <a:solidFill>
                  <a:srgbClr val="FAF9F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教育科技人才一体化</a:t>
            </a:r>
          </a:p>
        </p:txBody>
      </p:sp>
      <p:sp>
        <p:nvSpPr>
          <p:cNvPr id="6" name="Shape 4"/>
          <p:cNvSpPr/>
          <p:nvPr/>
        </p:nvSpPr>
        <p:spPr>
          <a:xfrm>
            <a:off x="975360" y="5913120"/>
            <a:ext cx="146304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5360" y="6096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kern="0" spc="200" dirty="0">
                <a:solidFill>
                  <a:srgbClr val="B8B4A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2026.07.13 · </a:t>
            </a:r>
            <a:r>
              <a:rPr lang="zh-CN" altLang="en-US" sz="1465" kern="0" spc="200" dirty="0">
                <a:solidFill>
                  <a:srgbClr val="B8B4A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浙江省杭州市西湖区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397827" y="70316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en-US" altLang="zh-CN" sz="3600" dirty="0">
                <a:solidFill>
                  <a:schemeClr val="tx1"/>
                </a:solidFill>
              </a:rPr>
              <a:t>Datawhale</a:t>
            </a:r>
            <a:r>
              <a:rPr lang="zh-CN" altLang="en-US" sz="3600" dirty="0">
                <a:solidFill>
                  <a:schemeClr val="tx1"/>
                </a:solidFill>
              </a:rPr>
              <a:t>：杭州“五小凤”代表</a:t>
            </a:r>
          </a:p>
        </p:txBody>
      </p:sp>
      <p:sp>
        <p:nvSpPr>
          <p:cNvPr id="7" name="文本占位符 26"/>
          <p:cNvSpPr>
            <a:spLocks noGrp="1"/>
          </p:cNvSpPr>
          <p:nvPr/>
        </p:nvSpPr>
        <p:spPr>
          <a:xfrm>
            <a:off x="671195" y="1311275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央视《经济半小时》专题报道的生态建设典范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940" y="1928495"/>
            <a:ext cx="8326120" cy="46666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397827" y="70316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 dirty="0">
                <a:solidFill>
                  <a:schemeClr val="tx1"/>
                </a:solidFill>
              </a:rPr>
              <a:t>人工智能开源生态：产业落地转化的关键</a:t>
            </a:r>
          </a:p>
        </p:txBody>
      </p:sp>
      <p:sp>
        <p:nvSpPr>
          <p:cNvPr id="7" name="文本占位符 26"/>
          <p:cNvSpPr>
            <a:spLocks noGrp="1"/>
          </p:cNvSpPr>
          <p:nvPr/>
        </p:nvSpPr>
        <p:spPr>
          <a:xfrm>
            <a:off x="671195" y="1311275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政策高度重视：打造智能经济新形态、支持人工智能开源社区建设、促进开源生态繁荣</a:t>
            </a:r>
          </a:p>
        </p:txBody>
      </p:sp>
      <p:sp>
        <p:nvSpPr>
          <p:cNvPr id="9" name="AutoShape 9"/>
          <p:cNvSpPr/>
          <p:nvPr/>
        </p:nvSpPr>
        <p:spPr>
          <a:xfrm>
            <a:off x="5069840" y="4528185"/>
            <a:ext cx="6564630" cy="1917065"/>
          </a:xfrm>
          <a:prstGeom prst="roundRect">
            <a:avLst>
              <a:gd name="adj" fmla="val 3846"/>
            </a:avLst>
          </a:prstGeom>
          <a:solidFill>
            <a:srgbClr val="D5211E">
              <a:alpha val="20000"/>
            </a:srgbClr>
          </a:solidFill>
          <a:ln w="38100" cap="flat" cmpd="sng">
            <a:solidFill>
              <a:srgbClr val="D6211E">
                <a:alpha val="20000"/>
              </a:srgbClr>
            </a:solidFill>
            <a:prstDash val="solid"/>
            <a:round/>
          </a:ln>
        </p:spPr>
        <p:txBody>
          <a:bodyPr vert="horz" wrap="square" lIns="83329" tIns="83329" rIns="83329" bIns="83329" rtlCol="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</a:pPr>
            <a:r>
              <a:rPr lang="zh-CN" altLang="en-US" sz="1800" spc="150" dirty="0" err="1">
                <a:uFillTx/>
                <a:latin typeface="仿宋" charset="0"/>
                <a:ea typeface="仿宋" charset="0"/>
                <a:cs typeface="仿宋" charset="0"/>
                <a:sym typeface="Noto Sans SC"/>
              </a:rPr>
              <a:t>国务院《关于深入实施“人工智能+”行动的意见》：</a:t>
            </a:r>
            <a:r>
              <a:rPr lang="zh-CN" altLang="en-US" sz="1800" b="1" spc="150" dirty="0" err="1">
                <a:solidFill>
                  <a:srgbClr val="D3211E"/>
                </a:solidFill>
                <a:uFillTx/>
                <a:latin typeface="仿宋" charset="0"/>
                <a:ea typeface="仿宋" charset="0"/>
                <a:cs typeface="仿宋" charset="0"/>
                <a:sym typeface="Noto Sans SC"/>
              </a:rPr>
              <a:t>促进开源生态繁荣</a:t>
            </a:r>
            <a:r>
              <a:rPr lang="zh-CN" altLang="en-US" sz="1800" spc="150" dirty="0" err="1">
                <a:uFillTx/>
                <a:latin typeface="仿宋" charset="0"/>
                <a:ea typeface="仿宋" charset="0"/>
                <a:cs typeface="仿宋" charset="0"/>
                <a:sym typeface="Noto Sans SC"/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</a:pPr>
            <a:r>
              <a:rPr lang="zh-CN" altLang="en-US" sz="1800" spc="150" dirty="0" err="1">
                <a:uFillTx/>
                <a:latin typeface="仿宋" charset="0"/>
                <a:ea typeface="仿宋" charset="0"/>
                <a:cs typeface="仿宋" charset="0"/>
                <a:sym typeface="Noto Sans SC"/>
              </a:rPr>
              <a:t>2026年政府工作报告：</a:t>
            </a:r>
            <a:r>
              <a:rPr lang="zh-CN" altLang="en-US" b="1" spc="150" dirty="0" err="1">
                <a:solidFill>
                  <a:srgbClr val="D3211E"/>
                </a:solidFill>
                <a:latin typeface="仿宋" charset="0"/>
                <a:ea typeface="仿宋" charset="0"/>
                <a:cs typeface="仿宋" charset="0"/>
                <a:sym typeface="Noto Sans SC"/>
              </a:rPr>
              <a:t>支持人工智能开源社区建设，促进开源生态繁荣</a:t>
            </a:r>
            <a:r>
              <a:rPr lang="zh-CN" altLang="en-US" sz="1800" spc="150" dirty="0" err="1">
                <a:uFillTx/>
                <a:latin typeface="仿宋" charset="0"/>
                <a:ea typeface="仿宋" charset="0"/>
                <a:cs typeface="仿宋" charset="0"/>
                <a:sym typeface="Noto Sans SC"/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</a:pPr>
            <a:r>
              <a:rPr lang="zh-CN" altLang="en-US" sz="1800" spc="150" dirty="0" err="1">
                <a:uFillTx/>
                <a:latin typeface="仿宋" charset="0"/>
                <a:ea typeface="仿宋" charset="0"/>
                <a:cs typeface="仿宋" charset="0"/>
                <a:sym typeface="Noto Sans SC"/>
              </a:rPr>
              <a:t>十五五规划：</a:t>
            </a:r>
            <a:r>
              <a:rPr lang="zh-CN" altLang="en-US" b="1" spc="150" dirty="0" err="1">
                <a:solidFill>
                  <a:srgbClr val="D3211E"/>
                </a:solidFill>
                <a:latin typeface="仿宋" charset="0"/>
                <a:ea typeface="仿宋" charset="0"/>
                <a:cs typeface="仿宋" charset="0"/>
                <a:sym typeface="Noto Sans SC"/>
              </a:rPr>
              <a:t>推进开源体系建设，完善开源运行机制</a:t>
            </a:r>
            <a:r>
              <a:rPr lang="zh-CN" altLang="en-US" sz="1800" spc="150" dirty="0" err="1">
                <a:uFillTx/>
                <a:latin typeface="仿宋" charset="0"/>
                <a:ea typeface="仿宋" charset="0"/>
                <a:cs typeface="仿宋" charset="0"/>
                <a:sym typeface="Noto Sans SC"/>
              </a:rPr>
              <a:t>。</a:t>
            </a:r>
            <a:endParaRPr sz="2360" dirty="0">
              <a:sym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794385" y="1809115"/>
            <a:ext cx="3599180" cy="457581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732780" y="1825625"/>
            <a:ext cx="5242560" cy="2691765"/>
            <a:chOff x="9236" y="2955"/>
            <a:chExt cx="8256" cy="4239"/>
          </a:xfrm>
        </p:grpSpPr>
        <p:sp>
          <p:nvSpPr>
            <p:cNvPr id="4" name="文本框 3"/>
            <p:cNvSpPr txBox="1"/>
            <p:nvPr/>
          </p:nvSpPr>
          <p:spPr>
            <a:xfrm>
              <a:off x="10292" y="6614"/>
              <a:ext cx="720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indent="0" algn="r">
                <a:lnSpc>
                  <a:spcPct val="100000"/>
                </a:lnSpc>
                <a:buNone/>
              </a:pPr>
              <a:r>
                <a:rPr lang="zh-CN" altLang="en-US" dirty="0" err="1">
                  <a:latin typeface="仿宋" charset="0"/>
                  <a:ea typeface="仿宋" charset="0"/>
                  <a:cs typeface="仿宋" charset="0"/>
                  <a:sym typeface="+mn-ea"/>
                </a:rPr>
                <a:t>信息来源：新华社</a:t>
              </a:r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36" y="2955"/>
              <a:ext cx="8250" cy="3562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397827" y="70316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 dirty="0">
                <a:solidFill>
                  <a:schemeClr val="tx1"/>
                </a:solidFill>
              </a:rPr>
              <a:t>人工智能开源生态：教育部重点推进</a:t>
            </a:r>
          </a:p>
        </p:txBody>
      </p:sp>
      <p:sp>
        <p:nvSpPr>
          <p:cNvPr id="7" name="文本占位符 26"/>
          <p:cNvSpPr>
            <a:spLocks noGrp="1"/>
          </p:cNvSpPr>
          <p:nvPr/>
        </p:nvSpPr>
        <p:spPr>
          <a:xfrm>
            <a:off x="671195" y="1311275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教育部高度重视：建设人工智能学习社区、汇聚开源课程、鼓励师生参与开源生态建设</a:t>
            </a:r>
            <a:endParaRPr lang="en-US" altLang="zh-CN" dirty="0" err="1">
              <a:solidFill>
                <a:schemeClr val="tx1"/>
              </a:solidFill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  <p:pic>
        <p:nvPicPr>
          <p:cNvPr id="2" name="图片 1" descr="桌子上的电脑屏幕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6" b="17558"/>
          <a:stretch>
            <a:fillRect/>
          </a:stretch>
        </p:blipFill>
        <p:spPr>
          <a:xfrm>
            <a:off x="1819275" y="1778000"/>
            <a:ext cx="8679180" cy="48050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609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第一段 · 为什么需要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731520" y="103632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AI+X 时代,培养一个学生需要——</a:t>
            </a:r>
            <a:endParaRPr lang="en-US" sz="3735" dirty="0"/>
          </a:p>
        </p:txBody>
      </p:sp>
      <p:sp>
        <p:nvSpPr>
          <p:cNvPr id="4" name="Text 2"/>
          <p:cNvSpPr/>
          <p:nvPr/>
        </p:nvSpPr>
        <p:spPr>
          <a:xfrm>
            <a:off x="975360" y="2255520"/>
            <a:ext cx="390144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最新的知识</a:t>
            </a:r>
            <a:endParaRPr lang="en-US" sz="2935" dirty="0"/>
          </a:p>
        </p:txBody>
      </p:sp>
      <p:sp>
        <p:nvSpPr>
          <p:cNvPr id="5" name="Text 3"/>
          <p:cNvSpPr/>
          <p:nvPr/>
        </p:nvSpPr>
        <p:spPr>
          <a:xfrm>
            <a:off x="4876800" y="2255520"/>
            <a:ext cx="6096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935" dirty="0"/>
          </a:p>
        </p:txBody>
      </p:sp>
      <p:sp>
        <p:nvSpPr>
          <p:cNvPr id="6" name="Text 4"/>
          <p:cNvSpPr/>
          <p:nvPr/>
        </p:nvSpPr>
        <p:spPr>
          <a:xfrm>
            <a:off x="5608320" y="2255520"/>
            <a:ext cx="560832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在开源社区</a:t>
            </a:r>
            <a:endParaRPr lang="en-US" sz="2935" dirty="0"/>
          </a:p>
        </p:txBody>
      </p:sp>
      <p:sp>
        <p:nvSpPr>
          <p:cNvPr id="7" name="Text 5"/>
          <p:cNvSpPr/>
          <p:nvPr/>
        </p:nvSpPr>
        <p:spPr>
          <a:xfrm>
            <a:off x="975360" y="2926080"/>
            <a:ext cx="390144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最强的模型</a:t>
            </a:r>
            <a:endParaRPr lang="en-US" sz="2935" dirty="0"/>
          </a:p>
        </p:txBody>
      </p:sp>
      <p:sp>
        <p:nvSpPr>
          <p:cNvPr id="8" name="Text 6"/>
          <p:cNvSpPr/>
          <p:nvPr/>
        </p:nvSpPr>
        <p:spPr>
          <a:xfrm>
            <a:off x="4876800" y="2926080"/>
            <a:ext cx="6096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935" dirty="0"/>
          </a:p>
        </p:txBody>
      </p:sp>
      <p:sp>
        <p:nvSpPr>
          <p:cNvPr id="9" name="Text 7"/>
          <p:cNvSpPr/>
          <p:nvPr/>
        </p:nvSpPr>
        <p:spPr>
          <a:xfrm>
            <a:off x="5608320" y="2926080"/>
            <a:ext cx="560832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 AI 公司</a:t>
            </a:r>
            <a:endParaRPr lang="en-US" sz="2935" dirty="0"/>
          </a:p>
        </p:txBody>
      </p:sp>
      <p:sp>
        <p:nvSpPr>
          <p:cNvPr id="10" name="Text 8"/>
          <p:cNvSpPr/>
          <p:nvPr/>
        </p:nvSpPr>
        <p:spPr>
          <a:xfrm>
            <a:off x="975360" y="3596640"/>
            <a:ext cx="390144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真实的场景</a:t>
            </a:r>
            <a:endParaRPr lang="en-US" sz="2935" dirty="0"/>
          </a:p>
        </p:txBody>
      </p:sp>
      <p:sp>
        <p:nvSpPr>
          <p:cNvPr id="11" name="Text 9"/>
          <p:cNvSpPr/>
          <p:nvPr/>
        </p:nvSpPr>
        <p:spPr>
          <a:xfrm>
            <a:off x="4876800" y="3596640"/>
            <a:ext cx="6096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935" dirty="0"/>
          </a:p>
        </p:txBody>
      </p:sp>
      <p:sp>
        <p:nvSpPr>
          <p:cNvPr id="12" name="Text 10"/>
          <p:cNvSpPr/>
          <p:nvPr/>
        </p:nvSpPr>
        <p:spPr>
          <a:xfrm>
            <a:off x="5608320" y="3596640"/>
            <a:ext cx="560832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在产业一线</a:t>
            </a:r>
            <a:endParaRPr lang="en-US" sz="2935" dirty="0"/>
          </a:p>
        </p:txBody>
      </p:sp>
      <p:sp>
        <p:nvSpPr>
          <p:cNvPr id="13" name="Text 11"/>
          <p:cNvSpPr/>
          <p:nvPr/>
        </p:nvSpPr>
        <p:spPr>
          <a:xfrm>
            <a:off x="975360" y="4267200"/>
            <a:ext cx="390144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同伴和导师</a:t>
            </a:r>
            <a:endParaRPr lang="en-US" sz="2935" dirty="0"/>
          </a:p>
        </p:txBody>
      </p:sp>
      <p:sp>
        <p:nvSpPr>
          <p:cNvPr id="14" name="Text 12"/>
          <p:cNvSpPr/>
          <p:nvPr/>
        </p:nvSpPr>
        <p:spPr>
          <a:xfrm>
            <a:off x="4876800" y="4267200"/>
            <a:ext cx="6096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935" dirty="0"/>
          </a:p>
        </p:txBody>
      </p:sp>
      <p:sp>
        <p:nvSpPr>
          <p:cNvPr id="15" name="Text 13"/>
          <p:cNvSpPr/>
          <p:nvPr/>
        </p:nvSpPr>
        <p:spPr>
          <a:xfrm>
            <a:off x="5608320" y="4267200"/>
            <a:ext cx="560832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在跨地域的开发者生态</a:t>
            </a:r>
            <a:endParaRPr lang="en-US" sz="2935" dirty="0"/>
          </a:p>
        </p:txBody>
      </p:sp>
      <p:sp>
        <p:nvSpPr>
          <p:cNvPr id="16" name="Text 14"/>
          <p:cNvSpPr/>
          <p:nvPr/>
        </p:nvSpPr>
        <p:spPr>
          <a:xfrm>
            <a:off x="975360" y="4937760"/>
            <a:ext cx="390144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认证和机会</a:t>
            </a:r>
            <a:endParaRPr lang="en-US" sz="2935" dirty="0"/>
          </a:p>
        </p:txBody>
      </p:sp>
      <p:sp>
        <p:nvSpPr>
          <p:cNvPr id="17" name="Text 15"/>
          <p:cNvSpPr/>
          <p:nvPr/>
        </p:nvSpPr>
        <p:spPr>
          <a:xfrm>
            <a:off x="4876800" y="4937760"/>
            <a:ext cx="6096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935" dirty="0"/>
          </a:p>
        </p:txBody>
      </p:sp>
      <p:sp>
        <p:nvSpPr>
          <p:cNvPr id="18" name="Text 16"/>
          <p:cNvSpPr/>
          <p:nvPr/>
        </p:nvSpPr>
        <p:spPr>
          <a:xfrm>
            <a:off x="5608320" y="4937760"/>
            <a:ext cx="560832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在更广的开放生态</a:t>
            </a:r>
            <a:endParaRPr lang="en-US" sz="2935" dirty="0"/>
          </a:p>
        </p:txBody>
      </p:sp>
      <p:sp>
        <p:nvSpPr>
          <p:cNvPr id="19" name="Shape 17"/>
          <p:cNvSpPr/>
          <p:nvPr/>
        </p:nvSpPr>
        <p:spPr>
          <a:xfrm>
            <a:off x="731520" y="5791200"/>
            <a:ext cx="97536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13120"/>
            <a:ext cx="109728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i="1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过去可以被一所大学单独提供。今天,任何大学都拥有不了。</a:t>
            </a:r>
            <a:endParaRPr lang="en-US" sz="2135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609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第一段 · 为什么需要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731520" y="17068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6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这不是大学跟不上,</a:t>
            </a:r>
            <a:endParaRPr lang="en-US" sz="5865" dirty="0"/>
          </a:p>
        </p:txBody>
      </p:sp>
      <p:sp>
        <p:nvSpPr>
          <p:cNvPr id="4" name="Text 2"/>
          <p:cNvSpPr/>
          <p:nvPr/>
        </p:nvSpPr>
        <p:spPr>
          <a:xfrm>
            <a:off x="731520" y="28041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6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这是 AI+X 时代的资源,</a:t>
            </a:r>
            <a:endParaRPr lang="en-US" sz="5865" dirty="0"/>
          </a:p>
        </p:txBody>
      </p:sp>
      <p:sp>
        <p:nvSpPr>
          <p:cNvPr id="5" name="Text 3"/>
          <p:cNvSpPr/>
          <p:nvPr/>
        </p:nvSpPr>
        <p:spPr>
          <a:xfrm>
            <a:off x="731520" y="39014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65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本来就分散在生态里。</a:t>
            </a:r>
            <a:endParaRPr lang="en-US" sz="5865" dirty="0"/>
          </a:p>
        </p:txBody>
      </p:sp>
      <p:sp>
        <p:nvSpPr>
          <p:cNvPr id="6" name="Text 4"/>
          <p:cNvSpPr/>
          <p:nvPr/>
        </p:nvSpPr>
        <p:spPr>
          <a:xfrm>
            <a:off x="731520" y="5608320"/>
            <a:ext cx="109728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大学的不变价值:治学传统、思想沉淀、人格培养、长期主义</a:t>
            </a:r>
            <a:endParaRPr lang="en-US" sz="1865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609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第一段 · 为什么需要</a:t>
            </a:r>
            <a:endParaRPr lang="en-US" sz="1465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既然资源分散，</a:t>
            </a:r>
            <a:r>
              <a:rPr lang="zh-CN" altLang="en-US" sz="3200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教育科技人才一体化</a:t>
            </a:r>
            <a:r>
              <a:rPr lang="en-US" altLang="zh-CN" sz="3200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：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998980"/>
            <a:ext cx="109728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协同是必需,不是选项。</a:t>
            </a:r>
            <a:endParaRPr lang="zh-CN" altLang="en-US" sz="4000" b="1" dirty="0">
              <a:solidFill>
                <a:srgbClr val="1F1E1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535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协同的载体——</a:t>
            </a:r>
            <a:endParaRPr lang="en-US" sz="2135" dirty="0"/>
          </a:p>
        </p:txBody>
      </p:sp>
      <p:sp>
        <p:nvSpPr>
          <p:cNvPr id="6" name="Shape 4"/>
          <p:cNvSpPr/>
          <p:nvPr/>
        </p:nvSpPr>
        <p:spPr>
          <a:xfrm>
            <a:off x="731520" y="4145280"/>
            <a:ext cx="3169920" cy="1219200"/>
          </a:xfrm>
          <a:prstGeom prst="rect">
            <a:avLst/>
          </a:prstGeom>
          <a:solidFill>
            <a:srgbClr val="F0EBE0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67200"/>
            <a:ext cx="280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不能是单一企业</a:t>
            </a:r>
            <a:endParaRPr lang="en-US" sz="2135" dirty="0"/>
          </a:p>
        </p:txBody>
      </p:sp>
      <p:sp>
        <p:nvSpPr>
          <p:cNvPr id="8" name="Text 6"/>
          <p:cNvSpPr/>
          <p:nvPr/>
        </p:nvSpPr>
        <p:spPr>
          <a:xfrm>
            <a:off x="914400" y="4815840"/>
            <a:ext cx="28041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立场偏</a:t>
            </a:r>
            <a:endParaRPr lang="en-US" sz="1735" dirty="0"/>
          </a:p>
        </p:txBody>
      </p:sp>
      <p:sp>
        <p:nvSpPr>
          <p:cNvPr id="9" name="Shape 7"/>
          <p:cNvSpPr/>
          <p:nvPr/>
        </p:nvSpPr>
        <p:spPr>
          <a:xfrm>
            <a:off x="4511040" y="4145280"/>
            <a:ext cx="3169920" cy="1219200"/>
          </a:xfrm>
          <a:prstGeom prst="rect">
            <a:avLst/>
          </a:prstGeom>
          <a:solidFill>
            <a:srgbClr val="F0EBE0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3920" y="4267200"/>
            <a:ext cx="280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不能是单一大学</a:t>
            </a:r>
            <a:endParaRPr lang="en-US" sz="2135" dirty="0"/>
          </a:p>
        </p:txBody>
      </p:sp>
      <p:sp>
        <p:nvSpPr>
          <p:cNvPr id="11" name="Text 9"/>
          <p:cNvSpPr/>
          <p:nvPr/>
        </p:nvSpPr>
        <p:spPr>
          <a:xfrm>
            <a:off x="4693920" y="4815840"/>
            <a:ext cx="28041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资源缺</a:t>
            </a:r>
            <a:endParaRPr lang="en-US" sz="1735" dirty="0"/>
          </a:p>
        </p:txBody>
      </p:sp>
      <p:sp>
        <p:nvSpPr>
          <p:cNvPr id="12" name="Shape 10"/>
          <p:cNvSpPr/>
          <p:nvPr/>
        </p:nvSpPr>
        <p:spPr>
          <a:xfrm>
            <a:off x="8290560" y="4145280"/>
            <a:ext cx="3169920" cy="1219200"/>
          </a:xfrm>
          <a:prstGeom prst="rect">
            <a:avLst/>
          </a:prstGeom>
          <a:solidFill>
            <a:srgbClr val="F0EBE0"/>
          </a:solidFill>
          <a:ln w="6350">
            <a:solidFill>
              <a:srgbClr val="E5E1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3440" y="4267200"/>
            <a:ext cx="280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不能是单一社区</a:t>
            </a:r>
            <a:endParaRPr lang="en-US" sz="2135" dirty="0"/>
          </a:p>
        </p:txBody>
      </p:sp>
      <p:sp>
        <p:nvSpPr>
          <p:cNvPr id="14" name="Text 12"/>
          <p:cNvSpPr/>
          <p:nvPr/>
        </p:nvSpPr>
        <p:spPr>
          <a:xfrm>
            <a:off x="8473440" y="4815840"/>
            <a:ext cx="280416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35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深度不够</a:t>
            </a:r>
            <a:endParaRPr lang="en-US" sz="1735" dirty="0"/>
          </a:p>
        </p:txBody>
      </p:sp>
      <p:sp>
        <p:nvSpPr>
          <p:cNvPr id="15" name="Text 13"/>
          <p:cNvSpPr/>
          <p:nvPr/>
        </p:nvSpPr>
        <p:spPr>
          <a:xfrm>
            <a:off x="269240" y="5706745"/>
            <a:ext cx="11652885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   → 必须是一所新形态，</a:t>
            </a:r>
            <a:r>
              <a:rPr lang="zh-CN" altLang="en-US" sz="2135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开源生态几乎是唯一的出路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731520" y="426720"/>
            <a:ext cx="609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</a:t>
            </a:r>
            <a:r>
              <a:rPr lang="zh-CN" alt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二</a:t>
            </a:r>
            <a:r>
              <a:rPr 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段 · </a:t>
            </a:r>
            <a:r>
              <a:rPr lang="zh-CN" alt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如何推动</a:t>
            </a:r>
          </a:p>
        </p:txBody>
      </p:sp>
      <p:sp>
        <p:nvSpPr>
          <p:cNvPr id="17" name="Text 0"/>
          <p:cNvSpPr/>
          <p:nvPr/>
        </p:nvSpPr>
        <p:spPr>
          <a:xfrm>
            <a:off x="548640" y="7874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在</a:t>
            </a:r>
            <a:r>
              <a:rPr lang="zh-CN" altLang="en-US" sz="2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教育科技人体一体化</a:t>
            </a:r>
            <a:r>
              <a:rPr lang="en-US" sz="2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的版图，Datawhale </a:t>
            </a:r>
            <a:r>
              <a:rPr lang="zh-CN" altLang="en-US" sz="2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在</a:t>
            </a:r>
            <a:r>
              <a:rPr lang="en-US" sz="2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哪一块？</a:t>
            </a:r>
            <a:endParaRPr lang="en-US" sz="2600" dirty="0"/>
          </a:p>
        </p:txBody>
      </p:sp>
      <p:sp>
        <p:nvSpPr>
          <p:cNvPr id="18" name="Shape 1"/>
          <p:cNvSpPr/>
          <p:nvPr/>
        </p:nvSpPr>
        <p:spPr>
          <a:xfrm>
            <a:off x="914400" y="1578610"/>
            <a:ext cx="2926080" cy="3657600"/>
          </a:xfrm>
          <a:prstGeom prst="roundRect">
            <a:avLst>
              <a:gd name="adj" fmla="val 2500"/>
            </a:avLst>
          </a:prstGeom>
          <a:solidFill>
            <a:srgbClr val="EAF3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9" name="Text 2"/>
          <p:cNvSpPr/>
          <p:nvPr/>
        </p:nvSpPr>
        <p:spPr>
          <a:xfrm>
            <a:off x="914400" y="194437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高校</a:t>
            </a:r>
            <a:endParaRPr lang="en-US" sz="2600" dirty="0"/>
          </a:p>
        </p:txBody>
      </p:sp>
      <p:sp>
        <p:nvSpPr>
          <p:cNvPr id="20" name="Shape 3"/>
          <p:cNvSpPr/>
          <p:nvPr/>
        </p:nvSpPr>
        <p:spPr>
          <a:xfrm>
            <a:off x="1554480" y="2630170"/>
            <a:ext cx="1645920" cy="0"/>
          </a:xfrm>
          <a:prstGeom prst="line">
            <a:avLst/>
          </a:prstGeom>
          <a:noFill/>
          <a:ln w="6350">
            <a:solidFill>
              <a:srgbClr val="185FA5"/>
            </a:solidFill>
            <a:prstDash val="solid"/>
          </a:ln>
        </p:spPr>
      </p:sp>
      <p:sp>
        <p:nvSpPr>
          <p:cNvPr id="21" name="Text 4"/>
          <p:cNvSpPr/>
          <p:nvPr/>
        </p:nvSpPr>
        <p:spPr>
          <a:xfrm>
            <a:off x="914400" y="285877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提供学位</a:t>
            </a:r>
            <a:endParaRPr lang="en-US" sz="1400" dirty="0"/>
          </a:p>
        </p:txBody>
      </p:sp>
      <p:sp>
        <p:nvSpPr>
          <p:cNvPr id="22" name="Text 5"/>
          <p:cNvSpPr/>
          <p:nvPr/>
        </p:nvSpPr>
        <p:spPr>
          <a:xfrm>
            <a:off x="914400" y="345313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承担教学体系</a:t>
            </a:r>
            <a:endParaRPr lang="en-US" sz="1400" dirty="0"/>
          </a:p>
        </p:txBody>
      </p:sp>
      <p:sp>
        <p:nvSpPr>
          <p:cNvPr id="23" name="Text 6"/>
          <p:cNvSpPr/>
          <p:nvPr/>
        </p:nvSpPr>
        <p:spPr>
          <a:xfrm>
            <a:off x="914400" y="404749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培养「人」</a:t>
            </a:r>
            <a:endParaRPr lang="en-US" sz="1400" dirty="0"/>
          </a:p>
        </p:txBody>
      </p:sp>
      <p:sp>
        <p:nvSpPr>
          <p:cNvPr id="24" name="Shape 7"/>
          <p:cNvSpPr/>
          <p:nvPr/>
        </p:nvSpPr>
        <p:spPr>
          <a:xfrm>
            <a:off x="4617720" y="1578610"/>
            <a:ext cx="2926080" cy="3657600"/>
          </a:xfrm>
          <a:prstGeom prst="roundRect">
            <a:avLst>
              <a:gd name="adj" fmla="val 2500"/>
            </a:avLst>
          </a:prstGeom>
          <a:solidFill>
            <a:srgbClr val="F4F3EE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25" name="Text 8"/>
          <p:cNvSpPr/>
          <p:nvPr/>
        </p:nvSpPr>
        <p:spPr>
          <a:xfrm>
            <a:off x="4617720" y="194437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产业</a:t>
            </a:r>
            <a:endParaRPr lang="en-US" sz="2600" dirty="0"/>
          </a:p>
        </p:txBody>
      </p:sp>
      <p:sp>
        <p:nvSpPr>
          <p:cNvPr id="26" name="Shape 9"/>
          <p:cNvSpPr/>
          <p:nvPr/>
        </p:nvSpPr>
        <p:spPr>
          <a:xfrm>
            <a:off x="5257800" y="2630170"/>
            <a:ext cx="1645920" cy="0"/>
          </a:xfrm>
          <a:prstGeom prst="line">
            <a:avLst/>
          </a:prstGeom>
          <a:noFill/>
          <a:ln w="6350">
            <a:solidFill>
              <a:srgbClr val="5F5E5A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4617720" y="285877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提供岗位</a:t>
            </a:r>
            <a:endParaRPr lang="en-US" sz="1400" dirty="0"/>
          </a:p>
        </p:txBody>
      </p:sp>
      <p:sp>
        <p:nvSpPr>
          <p:cNvPr id="28" name="Text 11"/>
          <p:cNvSpPr/>
          <p:nvPr/>
        </p:nvSpPr>
        <p:spPr>
          <a:xfrm>
            <a:off x="4617720" y="345313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承担技术演进</a:t>
            </a:r>
            <a:endParaRPr lang="en-US" sz="1400" dirty="0"/>
          </a:p>
        </p:txBody>
      </p:sp>
      <p:sp>
        <p:nvSpPr>
          <p:cNvPr id="29" name="Text 12"/>
          <p:cNvSpPr/>
          <p:nvPr/>
        </p:nvSpPr>
        <p:spPr>
          <a:xfrm>
            <a:off x="4617720" y="404749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使用「人」</a:t>
            </a:r>
            <a:endParaRPr lang="en-US" sz="1400" dirty="0"/>
          </a:p>
        </p:txBody>
      </p:sp>
      <p:sp>
        <p:nvSpPr>
          <p:cNvPr id="30" name="Shape 13"/>
          <p:cNvSpPr/>
          <p:nvPr/>
        </p:nvSpPr>
        <p:spPr>
          <a:xfrm>
            <a:off x="8321040" y="1578610"/>
            <a:ext cx="2926080" cy="3657600"/>
          </a:xfrm>
          <a:prstGeom prst="roundRect">
            <a:avLst>
              <a:gd name="adj" fmla="val 2500"/>
            </a:avLst>
          </a:prstGeom>
          <a:solidFill>
            <a:srgbClr val="FAEEDA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31" name="Text 14"/>
          <p:cNvSpPr/>
          <p:nvPr/>
        </p:nvSpPr>
        <p:spPr>
          <a:xfrm>
            <a:off x="8321040" y="194437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生态</a:t>
            </a:r>
            <a:endParaRPr lang="en-US" sz="2600" dirty="0"/>
          </a:p>
        </p:txBody>
      </p:sp>
      <p:sp>
        <p:nvSpPr>
          <p:cNvPr id="32" name="Shape 15"/>
          <p:cNvSpPr/>
          <p:nvPr/>
        </p:nvSpPr>
        <p:spPr>
          <a:xfrm>
            <a:off x="8961120" y="2630170"/>
            <a:ext cx="1645920" cy="0"/>
          </a:xfrm>
          <a:prstGeom prst="line">
            <a:avLst/>
          </a:prstGeom>
          <a:noFill/>
          <a:ln w="6350">
            <a:solidFill>
              <a:srgbClr val="BA7517"/>
            </a:solidFill>
            <a:prstDash val="solid"/>
          </a:ln>
        </p:spPr>
      </p:sp>
      <p:sp>
        <p:nvSpPr>
          <p:cNvPr id="33" name="Text 16"/>
          <p:cNvSpPr/>
          <p:nvPr/>
        </p:nvSpPr>
        <p:spPr>
          <a:xfrm>
            <a:off x="8321040" y="285877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提供协同接口</a:t>
            </a:r>
            <a:endParaRPr lang="en-US" sz="1400" dirty="0"/>
          </a:p>
        </p:txBody>
      </p:sp>
      <p:sp>
        <p:nvSpPr>
          <p:cNvPr id="34" name="Text 17"/>
          <p:cNvSpPr/>
          <p:nvPr/>
        </p:nvSpPr>
        <p:spPr>
          <a:xfrm>
            <a:off x="8321040" y="345313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承担规模化连接</a:t>
            </a:r>
            <a:endParaRPr lang="en-US" sz="1400" dirty="0"/>
          </a:p>
        </p:txBody>
      </p:sp>
      <p:sp>
        <p:nvSpPr>
          <p:cNvPr id="35" name="Text 18"/>
          <p:cNvSpPr/>
          <p:nvPr/>
        </p:nvSpPr>
        <p:spPr>
          <a:xfrm>
            <a:off x="8321040" y="404749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让人和事持续匹配</a:t>
            </a:r>
            <a:endParaRPr lang="en-US" sz="1400" dirty="0"/>
          </a:p>
        </p:txBody>
      </p:sp>
      <p:sp>
        <p:nvSpPr>
          <p:cNvPr id="36" name="Text 19"/>
          <p:cNvSpPr/>
          <p:nvPr/>
        </p:nvSpPr>
        <p:spPr>
          <a:xfrm>
            <a:off x="457200" y="578485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Datawhale </a:t>
            </a:r>
            <a:r>
              <a:rPr lang="zh-CN" altLang="en-US" sz="16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作为开源学习社区</a:t>
            </a:r>
          </a:p>
        </p:txBody>
      </p:sp>
      <p:sp>
        <p:nvSpPr>
          <p:cNvPr id="37" name="Text 20"/>
          <p:cNvSpPr/>
          <p:nvPr/>
        </p:nvSpPr>
        <p:spPr>
          <a:xfrm>
            <a:off x="548640" y="619633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是让高校和产业能够持续对话的第三方生态</a:t>
            </a:r>
            <a:endParaRPr lang="en-US" sz="20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334962" y="71332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en-US" altLang="zh-CN" sz="3600" dirty="0">
                <a:solidFill>
                  <a:schemeClr val="tx1"/>
                </a:solidFill>
              </a:rPr>
              <a:t>Datawhale</a:t>
            </a:r>
            <a:r>
              <a:rPr lang="zh-CN" altLang="en-US" sz="3600" dirty="0">
                <a:solidFill>
                  <a:schemeClr val="tx1"/>
                </a:solidFill>
              </a:rPr>
              <a:t>两大核心任务</a:t>
            </a:r>
          </a:p>
        </p:txBody>
      </p:sp>
      <p:sp>
        <p:nvSpPr>
          <p:cNvPr id="7" name="文本占位符 26"/>
          <p:cNvSpPr>
            <a:spLocks noGrp="1"/>
          </p:cNvSpPr>
          <p:nvPr/>
        </p:nvSpPr>
        <p:spPr>
          <a:xfrm>
            <a:off x="608330" y="1393657"/>
            <a:ext cx="10968990" cy="674537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2800" b="1" dirty="0" err="1">
                <a:solidFill>
                  <a:srgbClr val="D3211E"/>
                </a:solidFill>
                <a:latin typeface="黑体" panose="02010609060101010101" pitchFamily="49" charset="-122"/>
                <a:ea typeface="黑体" panose="02010609060101010101" pitchFamily="49" charset="-122"/>
                <a:cs typeface="仿宋" charset="0"/>
                <a:sym typeface="+mn-ea"/>
              </a:rPr>
              <a:t>推进</a:t>
            </a:r>
            <a:r>
              <a:rPr lang="en-US" altLang="zh-CN" sz="2800" b="1" dirty="0" err="1">
                <a:solidFill>
                  <a:srgbClr val="D3211E"/>
                </a:solidFill>
                <a:latin typeface="黑体" panose="02010609060101010101" pitchFamily="49" charset="-122"/>
                <a:ea typeface="黑体" panose="02010609060101010101" pitchFamily="49" charset="-122"/>
                <a:cs typeface="仿宋" charset="0"/>
                <a:sym typeface="+mn-ea"/>
              </a:rPr>
              <a:t>AI</a:t>
            </a:r>
            <a:r>
              <a:rPr lang="zh-CN" altLang="en-US" sz="2800" b="1" dirty="0">
                <a:solidFill>
                  <a:srgbClr val="D3211E"/>
                </a:solidFill>
                <a:latin typeface="黑体" panose="02010609060101010101" pitchFamily="49" charset="-122"/>
                <a:ea typeface="黑体" panose="02010609060101010101" pitchFamily="49" charset="-122"/>
                <a:cs typeface="仿宋" charset="0"/>
                <a:sym typeface="+mn-ea"/>
              </a:rPr>
              <a:t>开源学习 </a:t>
            </a:r>
            <a:r>
              <a:rPr lang="en-US" altLang="zh-CN" sz="2800" b="1" dirty="0">
                <a:solidFill>
                  <a:srgbClr val="D3211E"/>
                </a:solidFill>
                <a:latin typeface="黑体" panose="02010609060101010101" pitchFamily="49" charset="-122"/>
                <a:ea typeface="黑体" panose="02010609060101010101" pitchFamily="49" charset="-122"/>
                <a:cs typeface="仿宋" charset="0"/>
                <a:sym typeface="+mn-ea"/>
              </a:rPr>
              <a:t>&amp; </a:t>
            </a:r>
            <a:r>
              <a:rPr lang="zh-CN" altLang="en-US" sz="2800" b="1" dirty="0">
                <a:solidFill>
                  <a:srgbClr val="D3211E"/>
                </a:solidFill>
                <a:latin typeface="黑体" panose="02010609060101010101" pitchFamily="49" charset="-122"/>
                <a:ea typeface="黑体" panose="02010609060101010101" pitchFamily="49" charset="-122"/>
                <a:cs typeface="仿宋" charset="0"/>
                <a:sym typeface="+mn-ea"/>
              </a:rPr>
              <a:t>共建</a:t>
            </a:r>
            <a:r>
              <a:rPr lang="en-US" altLang="zh-CN" sz="2800" b="1" dirty="0" err="1">
                <a:solidFill>
                  <a:srgbClr val="D3211E"/>
                </a:solidFill>
                <a:latin typeface="黑体" panose="02010609060101010101" pitchFamily="49" charset="-122"/>
                <a:ea typeface="黑体" panose="02010609060101010101" pitchFamily="49" charset="-122"/>
                <a:cs typeface="仿宋" charset="0"/>
                <a:sym typeface="+mn-ea"/>
              </a:rPr>
              <a:t>AI</a:t>
            </a:r>
            <a:r>
              <a:rPr lang="zh-CN" altLang="en-US" sz="2800" b="1" dirty="0" err="1">
                <a:solidFill>
                  <a:srgbClr val="D3211E"/>
                </a:solidFill>
                <a:latin typeface="黑体" panose="02010609060101010101" pitchFamily="49" charset="-122"/>
                <a:ea typeface="黑体" panose="02010609060101010101" pitchFamily="49" charset="-122"/>
                <a:cs typeface="仿宋" charset="0"/>
                <a:sym typeface="+mn-ea"/>
              </a:rPr>
              <a:t>开源生态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33" y="2124604"/>
            <a:ext cx="4366976" cy="40828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426720"/>
            <a:ext cx="609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</a:t>
            </a:r>
            <a:r>
              <a:rPr lang="zh-CN" alt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二</a:t>
            </a:r>
            <a:r>
              <a:rPr 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段 · </a:t>
            </a:r>
            <a:r>
              <a:rPr lang="zh-CN" alt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如何推动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6345555" y="1616075"/>
            <a:ext cx="4511040" cy="4591685"/>
            <a:chOff x="10082" y="1661"/>
            <a:chExt cx="7104" cy="7231"/>
          </a:xfrm>
        </p:grpSpPr>
        <p:pic>
          <p:nvPicPr>
            <p:cNvPr id="9" name="Image 0" descr="/home/claude/extracted_imgs/eco_p6_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82" y="1661"/>
              <a:ext cx="7104" cy="7104"/>
            </a:xfrm>
            <a:prstGeom prst="rect">
              <a:avLst/>
            </a:prstGeom>
          </p:spPr>
        </p:pic>
        <p:sp>
          <p:nvSpPr>
            <p:cNvPr id="10" name="圆角矩形 9"/>
            <p:cNvSpPr/>
            <p:nvPr/>
          </p:nvSpPr>
          <p:spPr>
            <a:xfrm>
              <a:off x="10928" y="7906"/>
              <a:ext cx="5537" cy="987"/>
            </a:xfrm>
            <a:prstGeom prst="roundRect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301230" y="5691505"/>
            <a:ext cx="2885440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highlight>
                  <a:srgbClr val="0000FF"/>
                </a:highlight>
              </a:rPr>
              <a:t>政府：政策支持、激励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5"/>
          <p:cNvSpPr>
            <a:spLocks noGrp="1"/>
          </p:cNvSpPr>
          <p:nvPr/>
        </p:nvSpPr>
        <p:spPr>
          <a:xfrm>
            <a:off x="334962" y="577214"/>
            <a:ext cx="11522075" cy="409172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 dirty="0">
                <a:solidFill>
                  <a:schemeClr val="tx1"/>
                </a:solidFill>
              </a:rPr>
              <a:t>一</a:t>
            </a:r>
            <a:r>
              <a:rPr lang="en-US" altLang="zh-CN" sz="3600" dirty="0">
                <a:solidFill>
                  <a:schemeClr val="tx1"/>
                </a:solidFill>
              </a:rPr>
              <a:t>、</a:t>
            </a:r>
            <a:r>
              <a:rPr lang="zh-CN" altLang="en-US" sz="3600" dirty="0">
                <a:solidFill>
                  <a:schemeClr val="tx1"/>
                </a:solidFill>
              </a:rPr>
              <a:t>打造开放的</a:t>
            </a:r>
            <a:r>
              <a:rPr lang="en-US" altLang="zh-CN" sz="3600" dirty="0">
                <a:solidFill>
                  <a:schemeClr val="tx1"/>
                </a:solidFill>
              </a:rPr>
              <a:t>AI</a:t>
            </a:r>
            <a:r>
              <a:rPr lang="zh-CN" altLang="en-US" sz="3600" dirty="0">
                <a:solidFill>
                  <a:schemeClr val="tx1"/>
                </a:solidFill>
              </a:rPr>
              <a:t>开源生态圈</a:t>
            </a:r>
          </a:p>
        </p:txBody>
      </p:sp>
      <p:sp>
        <p:nvSpPr>
          <p:cNvPr id="5" name="文本占位符 26"/>
          <p:cNvSpPr>
            <a:spLocks noGrp="1"/>
          </p:cNvSpPr>
          <p:nvPr/>
        </p:nvSpPr>
        <p:spPr>
          <a:xfrm>
            <a:off x="608330" y="1266824"/>
            <a:ext cx="10968990" cy="694056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b="1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连接学习者生态、贡献者生态、合作者生态、客户生态，实现资源的高效链接与有效赋能</a:t>
            </a:r>
            <a:endParaRPr lang="zh-CN" altLang="en-US" b="1" dirty="0" err="1">
              <a:solidFill>
                <a:schemeClr val="tx1"/>
              </a:solidFill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  <p:sp>
        <p:nvSpPr>
          <p:cNvPr id="36" name="椭圆 35"/>
          <p:cNvSpPr/>
          <p:nvPr>
            <p:custDataLst>
              <p:tags r:id="rId2"/>
            </p:custDataLst>
          </p:nvPr>
        </p:nvSpPr>
        <p:spPr>
          <a:xfrm>
            <a:off x="9848062" y="2407044"/>
            <a:ext cx="964126" cy="964126"/>
          </a:xfrm>
          <a:prstGeom prst="ellipse">
            <a:avLst/>
          </a:prstGeom>
          <a:solidFill>
            <a:srgbClr val="00A7F0">
              <a:alpha val="8000"/>
            </a:srgbClr>
          </a:solidFill>
          <a:ln>
            <a:noFill/>
          </a:ln>
        </p:spPr>
        <p:style>
          <a:lnRef idx="2">
            <a:srgbClr val="00A7F0">
              <a:lumMod val="75000"/>
            </a:srgbClr>
          </a:lnRef>
          <a:fillRef idx="1">
            <a:srgbClr val="00A7F0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  <a:sym typeface="微软雅黑" charset="-122"/>
            </a:endParaRPr>
          </a:p>
        </p:txBody>
      </p:sp>
      <p:sp>
        <p:nvSpPr>
          <p:cNvPr id="31" name="椭圆 30"/>
          <p:cNvSpPr/>
          <p:nvPr>
            <p:custDataLst>
              <p:tags r:id="rId3"/>
            </p:custDataLst>
          </p:nvPr>
        </p:nvSpPr>
        <p:spPr>
          <a:xfrm>
            <a:off x="4516534" y="2289951"/>
            <a:ext cx="964126" cy="964126"/>
          </a:xfrm>
          <a:prstGeom prst="ellipse">
            <a:avLst/>
          </a:prstGeom>
          <a:solidFill>
            <a:srgbClr val="00A7F0">
              <a:alpha val="8000"/>
            </a:srgbClr>
          </a:solidFill>
          <a:ln>
            <a:noFill/>
          </a:ln>
        </p:spPr>
        <p:style>
          <a:lnRef idx="2">
            <a:srgbClr val="00A7F0">
              <a:lumMod val="75000"/>
            </a:srgbClr>
          </a:lnRef>
          <a:fillRef idx="1">
            <a:srgbClr val="00A7F0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  <a:sym typeface="微软雅黑" charset="-122"/>
            </a:endParaRPr>
          </a:p>
        </p:txBody>
      </p:sp>
      <p:sp>
        <p:nvSpPr>
          <p:cNvPr id="29" name="椭圆 28"/>
          <p:cNvSpPr/>
          <p:nvPr>
            <p:custDataLst>
              <p:tags r:id="rId4"/>
            </p:custDataLst>
          </p:nvPr>
        </p:nvSpPr>
        <p:spPr>
          <a:xfrm>
            <a:off x="2059906" y="4757065"/>
            <a:ext cx="1687074" cy="1687074"/>
          </a:xfrm>
          <a:prstGeom prst="ellipse">
            <a:avLst/>
          </a:prstGeom>
          <a:solidFill>
            <a:srgbClr val="00A7F0">
              <a:alpha val="14000"/>
            </a:srgbClr>
          </a:solidFill>
          <a:ln>
            <a:noFill/>
          </a:ln>
        </p:spPr>
        <p:style>
          <a:lnRef idx="2">
            <a:srgbClr val="00A7F0">
              <a:lumMod val="75000"/>
            </a:srgbClr>
          </a:lnRef>
          <a:fillRef idx="1">
            <a:srgbClr val="00A7F0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  <a:sym typeface="微软雅黑" charset="-122"/>
            </a:endParaRPr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1179668" y="2115185"/>
            <a:ext cx="3222685" cy="3222685"/>
          </a:xfrm>
          <a:prstGeom prst="ellipse">
            <a:avLst/>
          </a:prstGeom>
          <a:gradFill>
            <a:gsLst>
              <a:gs pos="0">
                <a:srgbClr val="00A7F0">
                  <a:lumMod val="10000"/>
                  <a:lumOff val="90000"/>
                </a:srgbClr>
              </a:gs>
              <a:gs pos="74000">
                <a:srgbClr val="00A7F0"/>
              </a:gs>
              <a:gs pos="83000">
                <a:srgbClr val="00A7F0">
                  <a:lumMod val="90000"/>
                </a:srgbClr>
              </a:gs>
              <a:gs pos="100000">
                <a:srgbClr val="00A7F0">
                  <a:lumMod val="9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rgbClr val="00A7F0">
              <a:lumMod val="75000"/>
            </a:srgbClr>
          </a:lnRef>
          <a:fillRef idx="1">
            <a:srgbClr val="00A7F0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  <a:sym typeface="微软雅黑" charset="-122"/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3597265" y="3801678"/>
            <a:ext cx="2838200" cy="2838200"/>
          </a:xfrm>
          <a:prstGeom prst="ellipse">
            <a:avLst/>
          </a:prstGeom>
          <a:gradFill>
            <a:gsLst>
              <a:gs pos="0">
                <a:srgbClr val="00A7F0">
                  <a:lumMod val="2000"/>
                  <a:lumOff val="98000"/>
                </a:srgbClr>
              </a:gs>
              <a:gs pos="74000">
                <a:srgbClr val="00A7F0">
                  <a:lumMod val="30000"/>
                  <a:lumOff val="70000"/>
                </a:srgbClr>
              </a:gs>
              <a:gs pos="83000">
                <a:srgbClr val="00A7F0">
                  <a:lumMod val="40000"/>
                  <a:lumOff val="60000"/>
                </a:srgbClr>
              </a:gs>
              <a:gs pos="100000">
                <a:srgbClr val="00A7F0">
                  <a:lumMod val="50000"/>
                  <a:lumOff val="5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rgbClr val="00A7F0">
              <a:lumMod val="75000"/>
            </a:srgbClr>
          </a:lnRef>
          <a:fillRef idx="1">
            <a:srgbClr val="00A7F0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  <a:sym typeface="微软雅黑" charset="-122"/>
            </a:endParaRPr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7189288" y="2741431"/>
            <a:ext cx="3898447" cy="3898447"/>
          </a:xfrm>
          <a:prstGeom prst="ellipse">
            <a:avLst/>
          </a:prstGeom>
          <a:gradFill>
            <a:gsLst>
              <a:gs pos="0">
                <a:srgbClr val="00A7F0">
                  <a:lumMod val="10000"/>
                  <a:lumOff val="90000"/>
                </a:srgbClr>
              </a:gs>
              <a:gs pos="74000">
                <a:srgbClr val="00A7F0">
                  <a:lumMod val="65000"/>
                  <a:lumOff val="35000"/>
                </a:srgbClr>
              </a:gs>
              <a:gs pos="83000">
                <a:srgbClr val="00A7F0">
                  <a:lumMod val="80000"/>
                  <a:lumOff val="20000"/>
                </a:srgbClr>
              </a:gs>
              <a:gs pos="100000">
                <a:srgbClr val="00A7F0">
                  <a:lumMod val="80000"/>
                  <a:lumOff val="2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rgbClr val="00A7F0">
              <a:lumMod val="75000"/>
            </a:srgbClr>
          </a:lnRef>
          <a:fillRef idx="1">
            <a:srgbClr val="00A7F0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  <a:sym typeface="微软雅黑" charset="-122"/>
            </a:endParaRPr>
          </a:p>
        </p:txBody>
      </p:sp>
      <p:sp>
        <p:nvSpPr>
          <p:cNvPr id="13" name="正文"/>
          <p:cNvSpPr txBox="1"/>
          <p:nvPr>
            <p:custDataLst>
              <p:tags r:id="rId8"/>
            </p:custDataLst>
          </p:nvPr>
        </p:nvSpPr>
        <p:spPr>
          <a:xfrm>
            <a:off x="1508811" y="3885565"/>
            <a:ext cx="2564982" cy="74100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lnSpc>
                <a:spcPct val="100000"/>
              </a:lnSpc>
              <a:buClrTx/>
              <a:buSzTx/>
              <a:buNone/>
            </a:pPr>
            <a:r>
              <a:rPr lang="zh-CN" altLang="en-US" dirty="0" err="1">
                <a:latin typeface="仿宋" charset="0"/>
                <a:ea typeface="仿宋" charset="0"/>
                <a:cs typeface="仿宋" charset="0"/>
                <a:sym typeface="微软雅黑" charset="-122"/>
              </a:rPr>
              <a:t>全球超百万的学习者</a:t>
            </a:r>
          </a:p>
        </p:txBody>
      </p:sp>
      <p:sp>
        <p:nvSpPr>
          <p:cNvPr id="14" name="标题"/>
          <p:cNvSpPr txBox="1"/>
          <p:nvPr>
            <p:custDataLst>
              <p:tags r:id="rId9"/>
            </p:custDataLst>
          </p:nvPr>
        </p:nvSpPr>
        <p:spPr>
          <a:xfrm>
            <a:off x="1564736" y="3018144"/>
            <a:ext cx="2453132" cy="72935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 lnSpcReduction="10000"/>
          </a:bodyPr>
          <a:lstStyle/>
          <a:p>
            <a:pPr algn="ctr"/>
            <a:r>
              <a:rPr lang="zh-CN" altLang="en-US" sz="4400" b="1" spc="300" dirty="0">
                <a:solidFill>
                  <a:srgbClr val="FFFFFF"/>
                </a:solidFill>
                <a:latin typeface="微软雅黑" charset="-122"/>
              </a:rPr>
              <a:t>学习者生态</a:t>
            </a:r>
          </a:p>
        </p:txBody>
      </p:sp>
      <p:sp>
        <p:nvSpPr>
          <p:cNvPr id="16" name="正文"/>
          <p:cNvSpPr txBox="1"/>
          <p:nvPr>
            <p:custDataLst>
              <p:tags r:id="rId10"/>
            </p:custDataLst>
          </p:nvPr>
        </p:nvSpPr>
        <p:spPr>
          <a:xfrm>
            <a:off x="3741738" y="5336123"/>
            <a:ext cx="2549836" cy="74100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zh-CN" altLang="en-US" dirty="0" err="1">
                <a:latin typeface="仿宋" charset="0"/>
                <a:ea typeface="仿宋" charset="0"/>
                <a:cs typeface="仿宋" charset="0"/>
                <a:sym typeface="微软雅黑" charset="-122"/>
              </a:rPr>
              <a:t>科技企业、高校等</a:t>
            </a:r>
            <a:endParaRPr lang="zh-CN" altLang="en-US" spc="150" dirty="0">
              <a:solidFill>
                <a:srgbClr val="00A7F0">
                  <a:lumMod val="75000"/>
                </a:srgbClr>
              </a:solidFill>
              <a:latin typeface="微软雅黑" charset="-122"/>
              <a:sym typeface="微软雅黑" charset="-122"/>
            </a:endParaRPr>
          </a:p>
        </p:txBody>
      </p:sp>
      <p:sp>
        <p:nvSpPr>
          <p:cNvPr id="17" name="标题"/>
          <p:cNvSpPr txBox="1"/>
          <p:nvPr>
            <p:custDataLst>
              <p:tags r:id="rId11"/>
            </p:custDataLst>
          </p:nvPr>
        </p:nvSpPr>
        <p:spPr>
          <a:xfrm>
            <a:off x="3790672" y="4529869"/>
            <a:ext cx="2451384" cy="72935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zh-CN" altLang="en-US" sz="3600" b="1" spc="300" dirty="0">
                <a:solidFill>
                  <a:srgbClr val="00A7F0">
                    <a:lumMod val="75000"/>
                  </a:srgbClr>
                </a:solidFill>
                <a:latin typeface="微软雅黑" charset="-122"/>
              </a:rPr>
              <a:t>客户生态</a:t>
            </a:r>
          </a:p>
        </p:txBody>
      </p:sp>
      <p:sp>
        <p:nvSpPr>
          <p:cNvPr id="20" name="正文"/>
          <p:cNvSpPr txBox="1"/>
          <p:nvPr>
            <p:custDataLst>
              <p:tags r:id="rId12"/>
            </p:custDataLst>
          </p:nvPr>
        </p:nvSpPr>
        <p:spPr>
          <a:xfrm>
            <a:off x="7650671" y="4834545"/>
            <a:ext cx="2976265" cy="82431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latin typeface="仿宋" charset="0"/>
                <a:ea typeface="仿宋" charset="0"/>
                <a:cs typeface="仿宋" charset="0"/>
                <a:sym typeface="+mn-ea"/>
              </a:rPr>
              <a:t>与全球数百家高校和企业及相关政府、社区、组织共建资源池</a:t>
            </a:r>
          </a:p>
        </p:txBody>
      </p:sp>
      <p:sp>
        <p:nvSpPr>
          <p:cNvPr id="21" name="标题"/>
          <p:cNvSpPr txBox="1"/>
          <p:nvPr>
            <p:custDataLst>
              <p:tags r:id="rId13"/>
            </p:custDataLst>
          </p:nvPr>
        </p:nvSpPr>
        <p:spPr>
          <a:xfrm>
            <a:off x="7604066" y="3993338"/>
            <a:ext cx="3068891" cy="72935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 fontScale="87500"/>
          </a:bodyPr>
          <a:lstStyle/>
          <a:p>
            <a:pPr algn="ctr"/>
            <a:r>
              <a:rPr lang="zh-CN" altLang="en-US" sz="4600" b="1" spc="300" dirty="0">
                <a:solidFill>
                  <a:srgbClr val="FFFFFF"/>
                </a:solidFill>
                <a:latin typeface="微软雅黑" charset="-122"/>
              </a:rPr>
              <a:t>合作者生态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5218510" y="2115185"/>
            <a:ext cx="2641879" cy="2641879"/>
          </a:xfrm>
          <a:prstGeom prst="ellipse">
            <a:avLst/>
          </a:prstGeom>
          <a:gradFill>
            <a:gsLst>
              <a:gs pos="0">
                <a:srgbClr val="00A7F0">
                  <a:lumMod val="10000"/>
                  <a:lumOff val="90000"/>
                </a:srgbClr>
              </a:gs>
              <a:gs pos="74000">
                <a:srgbClr val="00A7F0">
                  <a:lumMod val="55000"/>
                  <a:lumOff val="45000"/>
                </a:srgbClr>
              </a:gs>
              <a:gs pos="83000">
                <a:srgbClr val="00A7F0">
                  <a:lumMod val="70000"/>
                  <a:lumOff val="30000"/>
                </a:srgbClr>
              </a:gs>
              <a:gs pos="100000">
                <a:srgbClr val="00A7F0">
                  <a:lumMod val="70000"/>
                  <a:lumOff val="3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rgbClr val="00A7F0">
              <a:lumMod val="75000"/>
            </a:srgbClr>
          </a:lnRef>
          <a:fillRef idx="1">
            <a:srgbClr val="00A7F0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  <a:sym typeface="微软雅黑" charset="-122"/>
            </a:endParaRPr>
          </a:p>
        </p:txBody>
      </p:sp>
      <p:sp>
        <p:nvSpPr>
          <p:cNvPr id="18" name="正文"/>
          <p:cNvSpPr txBox="1"/>
          <p:nvPr>
            <p:custDataLst>
              <p:tags r:id="rId15"/>
            </p:custDataLst>
          </p:nvPr>
        </p:nvSpPr>
        <p:spPr>
          <a:xfrm>
            <a:off x="5421239" y="3568656"/>
            <a:ext cx="2236422" cy="74100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 err="1">
                <a:latin typeface="仿宋" charset="0"/>
                <a:ea typeface="仿宋" charset="0"/>
                <a:cs typeface="仿宋" charset="0"/>
                <a:sym typeface="微软雅黑" charset="-122"/>
              </a:rPr>
              <a:t>全球的</a:t>
            </a:r>
          </a:p>
          <a:p>
            <a:pPr algn="ctr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 err="1">
                <a:latin typeface="仿宋" charset="0"/>
                <a:ea typeface="仿宋" charset="0"/>
                <a:cs typeface="仿宋" charset="0"/>
                <a:sym typeface="微软雅黑" charset="-122"/>
              </a:rPr>
              <a:t>开源贡献者力量</a:t>
            </a:r>
            <a:endParaRPr lang="zh-CN" altLang="en-US" spc="150" dirty="0">
              <a:solidFill>
                <a:srgbClr val="00A7F0">
                  <a:lumMod val="75000"/>
                </a:srgbClr>
              </a:solidFill>
              <a:latin typeface="微软雅黑" charset="-122"/>
              <a:sym typeface="微软雅黑" charset="-122"/>
            </a:endParaRPr>
          </a:p>
        </p:txBody>
      </p:sp>
      <p:sp>
        <p:nvSpPr>
          <p:cNvPr id="19" name="标题"/>
          <p:cNvSpPr txBox="1"/>
          <p:nvPr>
            <p:custDataLst>
              <p:tags r:id="rId16"/>
            </p:custDataLst>
          </p:nvPr>
        </p:nvSpPr>
        <p:spPr>
          <a:xfrm>
            <a:off x="5314049" y="2779879"/>
            <a:ext cx="2451384" cy="72935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zh-CN" altLang="en-US" sz="3600" b="1" spc="300" dirty="0">
                <a:solidFill>
                  <a:srgbClr val="00A7F0">
                    <a:lumMod val="75000"/>
                  </a:srgbClr>
                </a:solidFill>
                <a:latin typeface="微软雅黑" charset="-122"/>
              </a:rPr>
              <a:t>贡献者生态</a:t>
            </a:r>
          </a:p>
        </p:txBody>
      </p:sp>
      <p:sp>
        <p:nvSpPr>
          <p:cNvPr id="32" name="椭圆 31"/>
          <p:cNvSpPr/>
          <p:nvPr>
            <p:custDataLst>
              <p:tags r:id="rId17"/>
            </p:custDataLst>
          </p:nvPr>
        </p:nvSpPr>
        <p:spPr>
          <a:xfrm>
            <a:off x="6829270" y="5644876"/>
            <a:ext cx="530706" cy="530706"/>
          </a:xfrm>
          <a:prstGeom prst="ellipse">
            <a:avLst/>
          </a:prstGeom>
          <a:solidFill>
            <a:srgbClr val="00A7F0">
              <a:alpha val="5000"/>
            </a:srgbClr>
          </a:solidFill>
          <a:ln>
            <a:noFill/>
          </a:ln>
        </p:spPr>
        <p:style>
          <a:lnRef idx="2">
            <a:srgbClr val="00A7F0">
              <a:lumMod val="75000"/>
            </a:srgbClr>
          </a:lnRef>
          <a:fillRef idx="1">
            <a:srgbClr val="00A7F0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  <a:sym typeface="微软雅黑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0680" y="2116455"/>
            <a:ext cx="11470640" cy="3619935"/>
            <a:chOff x="1436" y="3758"/>
            <a:chExt cx="15592" cy="4919"/>
          </a:xfrm>
        </p:grpSpPr>
        <p:grpSp>
          <p:nvGrpSpPr>
            <p:cNvPr id="33" name="íSļîḑé"/>
            <p:cNvGrpSpPr/>
            <p:nvPr/>
          </p:nvGrpSpPr>
          <p:grpSpPr>
            <a:xfrm>
              <a:off x="7346" y="4724"/>
              <a:ext cx="3489" cy="2633"/>
              <a:chOff x="4780605" y="3207651"/>
              <a:chExt cx="2656515" cy="2004978"/>
            </a:xfrm>
          </p:grpSpPr>
          <p:sp>
            <p:nvSpPr>
              <p:cNvPr id="48" name="i$ľîďe"/>
              <p:cNvSpPr/>
              <p:nvPr/>
            </p:nvSpPr>
            <p:spPr>
              <a:xfrm rot="16200000" flipV="1">
                <a:off x="5636039" y="3697164"/>
                <a:ext cx="988016" cy="988016"/>
              </a:xfrm>
              <a:prstGeom prst="ellipse">
                <a:avLst/>
              </a:prstGeom>
              <a:ln w="203200" cap="rnd">
                <a:solidFill>
                  <a:schemeClr val="tx1">
                    <a:lumMod val="10000"/>
                    <a:lumOff val="9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9" name="ïŝḻïḋè"/>
              <p:cNvCxnSpPr/>
              <p:nvPr/>
            </p:nvCxnSpPr>
            <p:spPr>
              <a:xfrm>
                <a:off x="4780605" y="4724883"/>
                <a:ext cx="1402027" cy="0"/>
              </a:xfrm>
              <a:prstGeom prst="straightConnector1">
                <a:avLst/>
              </a:prstGeom>
              <a:ln w="152400" cap="rnd">
                <a:gradFill>
                  <a:gsLst>
                    <a:gs pos="0">
                      <a:srgbClr val="EAEAEA"/>
                    </a:gs>
                    <a:gs pos="100000">
                      <a:schemeClr val="tx1">
                        <a:lumMod val="10000"/>
                        <a:lumOff val="90000"/>
                      </a:schemeClr>
                    </a:gs>
                  </a:gsLst>
                  <a:lin ang="0" scaled="0"/>
                </a:gradFill>
                <a:round/>
                <a:head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ïsļíďè"/>
              <p:cNvCxnSpPr/>
              <p:nvPr/>
            </p:nvCxnSpPr>
            <p:spPr>
              <a:xfrm flipH="1">
                <a:off x="6035093" y="3695034"/>
                <a:ext cx="1402027" cy="0"/>
              </a:xfrm>
              <a:prstGeom prst="straightConnector1">
                <a:avLst/>
              </a:prstGeom>
              <a:ln w="152400" cap="rnd">
                <a:gradFill>
                  <a:gsLst>
                    <a:gs pos="100000">
                      <a:srgbClr val="EAEAEA"/>
                    </a:gs>
                    <a:gs pos="0">
                      <a:schemeClr val="bg1">
                        <a:lumMod val="95000"/>
                      </a:schemeClr>
                    </a:gs>
                  </a:gsLst>
                  <a:lin ang="0" scaled="0"/>
                </a:gradFill>
                <a:round/>
                <a:head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iṣlïdè"/>
              <p:cNvCxnSpPr/>
              <p:nvPr/>
            </p:nvCxnSpPr>
            <p:spPr>
              <a:xfrm rot="5400000" flipH="1">
                <a:off x="6123286" y="4696157"/>
                <a:ext cx="1032944" cy="0"/>
              </a:xfrm>
              <a:prstGeom prst="straightConnector1">
                <a:avLst/>
              </a:prstGeom>
              <a:ln w="152400" cap="rnd">
                <a:gradFill>
                  <a:gsLst>
                    <a:gs pos="100000">
                      <a:srgbClr val="EAEAEA"/>
                    </a:gs>
                    <a:gs pos="0">
                      <a:schemeClr val="bg1">
                        <a:lumMod val="95000"/>
                      </a:schemeClr>
                    </a:gs>
                  </a:gsLst>
                  <a:lin ang="0" scaled="0"/>
                </a:gradFill>
                <a:round/>
                <a:head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íṣlîḍè"/>
              <p:cNvCxnSpPr/>
              <p:nvPr/>
            </p:nvCxnSpPr>
            <p:spPr>
              <a:xfrm rot="16200000" flipH="1" flipV="1">
                <a:off x="5103864" y="3724123"/>
                <a:ext cx="1032944" cy="0"/>
              </a:xfrm>
              <a:prstGeom prst="straightConnector1">
                <a:avLst/>
              </a:prstGeom>
              <a:ln w="152400" cap="rnd">
                <a:gradFill>
                  <a:gsLst>
                    <a:gs pos="100000">
                      <a:srgbClr val="EAEAEA"/>
                    </a:gs>
                    <a:gs pos="0">
                      <a:schemeClr val="bg1">
                        <a:lumMod val="95000"/>
                      </a:schemeClr>
                    </a:gs>
                  </a:gsLst>
                  <a:lin ang="0" scaled="0"/>
                </a:gradFill>
                <a:round/>
                <a:head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îŝḷîdê"/>
            <p:cNvSpPr/>
            <p:nvPr/>
          </p:nvSpPr>
          <p:spPr>
            <a:xfrm flipH="1">
              <a:off x="13305" y="4851"/>
              <a:ext cx="3723" cy="15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汇聚了来自微软、亚马逊、阿里、百度、腾讯、字节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、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华为等在职的贡献者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、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以及伯克利、斯坦福、港中文、港科大、清华、北大、上交、复旦、浙大等全球高校贡献者</a:t>
              </a:r>
              <a:endParaRPr lang="zh-CN" altLang="en-US" sz="1000" b="1" dirty="0">
                <a:solidFill>
                  <a:schemeClr val="bg2">
                    <a:lumMod val="5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endParaRPr>
            </a:p>
          </p:txBody>
        </p:sp>
        <p:sp>
          <p:nvSpPr>
            <p:cNvPr id="47" name="íṩlïḑé"/>
            <p:cNvSpPr/>
            <p:nvPr/>
          </p:nvSpPr>
          <p:spPr>
            <a:xfrm>
              <a:off x="10835" y="5058"/>
              <a:ext cx="2392" cy="62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zh-CN" altLang="en-US" sz="1400" b="1" dirty="0">
                  <a:solidFill>
                    <a:srgbClr val="FFFFFF"/>
                  </a:solidFill>
                </a:rPr>
                <a:t>贡献者：</a:t>
              </a:r>
              <a:r>
                <a:rPr lang="en-US" altLang="zh-CN" sz="1400" b="1" dirty="0">
                  <a:solidFill>
                    <a:srgbClr val="FFFFFF"/>
                  </a:solidFill>
                </a:rPr>
                <a:t>1000+</a:t>
              </a:r>
              <a:endParaRPr lang="zh-CN" altLang="en-US"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45" name="iSlîďê"/>
            <p:cNvSpPr/>
            <p:nvPr/>
          </p:nvSpPr>
          <p:spPr>
            <a:xfrm>
              <a:off x="9701" y="7437"/>
              <a:ext cx="2392" cy="62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zh-CN" altLang="en-US" sz="1400" b="1" dirty="0">
                  <a:solidFill>
                    <a:srgbClr val="FFFFFF"/>
                  </a:solidFill>
                </a:rPr>
                <a:t>学习者：</a:t>
              </a:r>
              <a:r>
                <a:rPr lang="en-US" altLang="zh-CN" sz="1400" b="1" dirty="0">
                  <a:solidFill>
                    <a:srgbClr val="FFFFFF"/>
                  </a:solidFill>
                </a:rPr>
                <a:t>200W+</a:t>
              </a:r>
              <a:endParaRPr lang="zh-CN" altLang="en-US"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42" name="îṣļiḍé"/>
            <p:cNvSpPr/>
            <p:nvPr/>
          </p:nvSpPr>
          <p:spPr>
            <a:xfrm>
              <a:off x="1436" y="3758"/>
              <a:ext cx="5629" cy="18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清华大学、北京大学、中国科学院大学、浙江大学、上海交通大学、厦门大学、西安电子科技大学、华中科技大学、电子科技大学、西安交通大学、武汉大学、北京邮电大学、东北大学、东北财经大学、华东师范大学、南京大学、同济大学、复旦大学、杭州电子科技大学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、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新加坡国立大学、卡内基梅隆大学、牛津大学、哈佛大学等</a:t>
              </a:r>
              <a:endParaRPr lang="zh-CN" altLang="en-US" sz="1000" b="1" dirty="0">
                <a:solidFill>
                  <a:schemeClr val="bg2">
                    <a:lumMod val="5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endParaRPr>
            </a:p>
          </p:txBody>
        </p:sp>
        <p:sp>
          <p:nvSpPr>
            <p:cNvPr id="43" name="iṥ1îḍé"/>
            <p:cNvSpPr/>
            <p:nvPr/>
          </p:nvSpPr>
          <p:spPr>
            <a:xfrm flipH="1">
              <a:off x="7195" y="4013"/>
              <a:ext cx="2391" cy="62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60000">
                  <a:schemeClr val="accent5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7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zh-CN" altLang="en-US" sz="1400" b="1" dirty="0">
                  <a:solidFill>
                    <a:srgbClr val="FFFFFF"/>
                  </a:solidFill>
                </a:rPr>
                <a:t>高校生态：</a:t>
              </a:r>
              <a:r>
                <a:rPr lang="en-US" altLang="zh-CN" sz="1400" b="1" dirty="0">
                  <a:solidFill>
                    <a:srgbClr val="FFFFFF"/>
                  </a:solidFill>
                </a:rPr>
                <a:t>4000+</a:t>
              </a:r>
              <a:endParaRPr lang="zh-CN" altLang="en-US"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40" name="îṡľíḍe"/>
            <p:cNvSpPr/>
            <p:nvPr/>
          </p:nvSpPr>
          <p:spPr>
            <a:xfrm>
              <a:off x="1436" y="7129"/>
              <a:ext cx="5629" cy="15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Google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，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Microsoft 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，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AWS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，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Intel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，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NVIDIA、AMD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、阿里、百度、华为、字节、科大讯飞、蚂蚁集团、魔搭社区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、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中国移动咪咕、人民邮电出版社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、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上智院、浪潮信息、新华三、美团、国家超算平台</a:t>
              </a:r>
              <a:r>
                <a:rPr lang="zh-CN" altLang="en-GB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、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WAIC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等</a:t>
              </a:r>
              <a:endParaRPr lang="zh-CN" altLang="en-US" sz="1000" b="1" dirty="0">
                <a:solidFill>
                  <a:schemeClr val="bg2">
                    <a:lumMod val="50000"/>
                  </a:schemeClr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endParaRPr>
            </a:p>
          </p:txBody>
        </p:sp>
        <p:sp>
          <p:nvSpPr>
            <p:cNvPr id="41" name="îŝľíḍè"/>
            <p:cNvSpPr/>
            <p:nvPr/>
          </p:nvSpPr>
          <p:spPr>
            <a:xfrm flipH="1">
              <a:off x="4784" y="6405"/>
              <a:ext cx="2392" cy="62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60000">
                  <a:schemeClr val="accent6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zh-CN" altLang="en-US" sz="1400" b="1" dirty="0">
                  <a:solidFill>
                    <a:srgbClr val="FFFFFF"/>
                  </a:solidFill>
                </a:rPr>
                <a:t>科技生态：</a:t>
              </a:r>
              <a:r>
                <a:rPr lang="en-US" altLang="zh-CN" sz="1400" b="1" dirty="0">
                  <a:solidFill>
                    <a:srgbClr val="FFFFFF"/>
                  </a:solidFill>
                </a:rPr>
                <a:t>200+</a:t>
              </a:r>
              <a:endParaRPr lang="zh-CN" altLang="en-US"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" name="îŝḷîdê"/>
            <p:cNvSpPr/>
            <p:nvPr/>
          </p:nvSpPr>
          <p:spPr>
            <a:xfrm flipH="1">
              <a:off x="12322" y="7357"/>
              <a:ext cx="3885" cy="9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CS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、软工、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AI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等专业及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AI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相关交叉学科的师生</a:t>
              </a:r>
              <a:r>
                <a:rPr lang="en-US" altLang="zh-CN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、</a:t>
              </a:r>
              <a:r>
                <a:rPr lang="zh-CN" altLang="en-US" sz="1000" b="1" noProof="0" dirty="0">
                  <a:ln>
                    <a:noFill/>
                  </a:ln>
                  <a:solidFill>
                    <a:srgbClr val="F0F0F0">
                      <a:lumMod val="50000"/>
                    </a:srgbClr>
                  </a:solidFill>
                  <a:effectLst/>
                  <a:uLnTx/>
                  <a:uFillTx/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+mn-ea"/>
                </a:rPr>
                <a:t>在职人群</a:t>
              </a:r>
            </a:p>
          </p:txBody>
        </p:sp>
      </p:grpSp>
      <p:sp>
        <p:nvSpPr>
          <p:cNvPr id="4" name="标题 25"/>
          <p:cNvSpPr>
            <a:spLocks noGrp="1"/>
          </p:cNvSpPr>
          <p:nvPr/>
        </p:nvSpPr>
        <p:spPr>
          <a:xfrm>
            <a:off x="334962" y="792702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en-US" altLang="zh-CN" sz="3600" dirty="0" err="1">
                <a:solidFill>
                  <a:schemeClr val="tx1"/>
                </a:solidFill>
                <a:sym typeface="+mn-ea"/>
              </a:rPr>
              <a:t>Datawhale</a:t>
            </a: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开源生态圈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5" name="文本占位符 26"/>
          <p:cNvSpPr>
            <a:spLocks noGrp="1"/>
          </p:cNvSpPr>
          <p:nvPr/>
        </p:nvSpPr>
        <p:spPr>
          <a:xfrm>
            <a:off x="608330" y="1441450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Github</a:t>
            </a: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全球排名</a:t>
            </a:r>
            <a:r>
              <a:rPr lang="en-US" altLang="zh-CN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TOP25，</a:t>
            </a: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国内第一的</a:t>
            </a:r>
            <a:r>
              <a:rPr lang="en-US" altLang="zh-CN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AI</a:t>
            </a: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开源学习社区</a:t>
            </a:r>
            <a:endParaRPr lang="zh-CN" altLang="en-US" dirty="0" err="1">
              <a:solidFill>
                <a:schemeClr val="tx1"/>
              </a:solidFill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/>
          <p:cNvSpPr/>
          <p:nvPr/>
        </p:nvSpPr>
        <p:spPr>
          <a:xfrm>
            <a:off x="731520" y="1036320"/>
            <a:ext cx="85344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600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二</a:t>
            </a:r>
            <a:r>
              <a:rPr lang="en-US" altLang="zh-CN" sz="3600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、</a:t>
            </a:r>
            <a:r>
              <a:rPr lang="en-US" sz="3600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协同高校、</a:t>
            </a:r>
            <a:r>
              <a:rPr lang="zh-CN" altLang="en-US" sz="3600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产业</a:t>
            </a:r>
            <a:r>
              <a:rPr lang="en-US" sz="3600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与</a:t>
            </a:r>
            <a:r>
              <a:rPr lang="zh-CN" altLang="en-US" sz="3600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社区</a:t>
            </a:r>
            <a:endParaRPr lang="zh-CN" altLang="en-US" sz="4800" b="1" dirty="0">
              <a:solidFill>
                <a:srgbClr val="1F1E1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8" name="Text 2"/>
          <p:cNvSpPr/>
          <p:nvPr/>
        </p:nvSpPr>
        <p:spPr>
          <a:xfrm>
            <a:off x="731520" y="1889760"/>
            <a:ext cx="85344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学练赛证用</a:t>
            </a:r>
            <a:r>
              <a:rPr lang="en-US" altLang="zh-CN" sz="2935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：</a:t>
            </a:r>
            <a:r>
              <a:rPr lang="zh-CN" altLang="en-US" sz="2935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形成有效的</a:t>
            </a:r>
            <a:r>
              <a:rPr lang="en-US" altLang="zh-CN" sz="2935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</a:t>
            </a:r>
            <a:r>
              <a:rPr lang="zh-CN" altLang="en-US" sz="2935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学习链</a:t>
            </a:r>
            <a:r>
              <a:rPr lang="en-US" altLang="zh-CN" sz="2935" b="1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。</a:t>
            </a:r>
          </a:p>
        </p:txBody>
      </p:sp>
      <p:sp>
        <p:nvSpPr>
          <p:cNvPr id="9" name="Shape 3"/>
          <p:cNvSpPr/>
          <p:nvPr/>
        </p:nvSpPr>
        <p:spPr>
          <a:xfrm>
            <a:off x="853440" y="3169920"/>
            <a:ext cx="1219200" cy="1219200"/>
          </a:xfrm>
          <a:prstGeom prst="ellipse">
            <a:avLst/>
          </a:prstGeom>
          <a:solidFill>
            <a:srgbClr val="D97757"/>
          </a:solidFill>
        </p:spPr>
      </p:sp>
      <p:sp>
        <p:nvSpPr>
          <p:cNvPr id="10" name="Text 4"/>
          <p:cNvSpPr/>
          <p:nvPr/>
        </p:nvSpPr>
        <p:spPr>
          <a:xfrm>
            <a:off x="853440" y="316992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AF9F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学</a:t>
            </a:r>
            <a:endParaRPr lang="en-US" sz="4800" dirty="0"/>
          </a:p>
        </p:txBody>
      </p:sp>
      <p:sp>
        <p:nvSpPr>
          <p:cNvPr id="11" name="Text 5"/>
          <p:cNvSpPr/>
          <p:nvPr/>
        </p:nvSpPr>
        <p:spPr>
          <a:xfrm>
            <a:off x="2133600" y="3169920"/>
            <a:ext cx="8534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665" dirty="0"/>
          </a:p>
        </p:txBody>
      </p:sp>
      <p:sp>
        <p:nvSpPr>
          <p:cNvPr id="12" name="Text 6"/>
          <p:cNvSpPr/>
          <p:nvPr/>
        </p:nvSpPr>
        <p:spPr>
          <a:xfrm>
            <a:off x="365760" y="4632960"/>
            <a:ext cx="2194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解决孤独感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3023616" y="3169920"/>
            <a:ext cx="1219200" cy="1219200"/>
          </a:xfrm>
          <a:prstGeom prst="ellipse">
            <a:avLst/>
          </a:prstGeom>
          <a:solidFill>
            <a:srgbClr val="D97757"/>
          </a:solidFill>
        </p:spPr>
      </p:sp>
      <p:sp>
        <p:nvSpPr>
          <p:cNvPr id="14" name="Text 8"/>
          <p:cNvSpPr/>
          <p:nvPr/>
        </p:nvSpPr>
        <p:spPr>
          <a:xfrm>
            <a:off x="3023616" y="316992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AF9F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练</a:t>
            </a:r>
            <a:endParaRPr lang="en-US" sz="4800" dirty="0"/>
          </a:p>
        </p:txBody>
      </p:sp>
      <p:sp>
        <p:nvSpPr>
          <p:cNvPr id="15" name="Text 9"/>
          <p:cNvSpPr/>
          <p:nvPr/>
        </p:nvSpPr>
        <p:spPr>
          <a:xfrm>
            <a:off x="4303776" y="3169920"/>
            <a:ext cx="8534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665" dirty="0"/>
          </a:p>
        </p:txBody>
      </p:sp>
      <p:sp>
        <p:nvSpPr>
          <p:cNvPr id="16" name="Text 10"/>
          <p:cNvSpPr/>
          <p:nvPr/>
        </p:nvSpPr>
        <p:spPr>
          <a:xfrm>
            <a:off x="2535936" y="4632960"/>
            <a:ext cx="2194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听懂到做出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193792" y="3169920"/>
            <a:ext cx="1219200" cy="1219200"/>
          </a:xfrm>
          <a:prstGeom prst="ellipse">
            <a:avLst/>
          </a:prstGeom>
          <a:solidFill>
            <a:srgbClr val="D97757"/>
          </a:solidFill>
        </p:spPr>
      </p:sp>
      <p:sp>
        <p:nvSpPr>
          <p:cNvPr id="18" name="Text 12"/>
          <p:cNvSpPr/>
          <p:nvPr/>
        </p:nvSpPr>
        <p:spPr>
          <a:xfrm>
            <a:off x="5193792" y="316992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AF9F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赛</a:t>
            </a:r>
            <a:endParaRPr lang="en-US" sz="4800" dirty="0"/>
          </a:p>
        </p:txBody>
      </p:sp>
      <p:sp>
        <p:nvSpPr>
          <p:cNvPr id="19" name="Text 13"/>
          <p:cNvSpPr/>
          <p:nvPr/>
        </p:nvSpPr>
        <p:spPr>
          <a:xfrm>
            <a:off x="6473952" y="3169920"/>
            <a:ext cx="8534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665" dirty="0"/>
          </a:p>
        </p:txBody>
      </p:sp>
      <p:sp>
        <p:nvSpPr>
          <p:cNvPr id="20" name="Text 14"/>
          <p:cNvSpPr/>
          <p:nvPr/>
        </p:nvSpPr>
        <p:spPr>
          <a:xfrm>
            <a:off x="4706112" y="4632960"/>
            <a:ext cx="2194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做出到做好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363968" y="3169920"/>
            <a:ext cx="1219200" cy="1219200"/>
          </a:xfrm>
          <a:prstGeom prst="ellipse">
            <a:avLst/>
          </a:prstGeom>
          <a:solidFill>
            <a:srgbClr val="D97757"/>
          </a:solidFill>
        </p:spPr>
      </p:sp>
      <p:sp>
        <p:nvSpPr>
          <p:cNvPr id="22" name="Text 16"/>
          <p:cNvSpPr/>
          <p:nvPr/>
        </p:nvSpPr>
        <p:spPr>
          <a:xfrm>
            <a:off x="7363968" y="316992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AF9F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证</a:t>
            </a:r>
            <a:endParaRPr lang="en-US" sz="4800" dirty="0"/>
          </a:p>
        </p:txBody>
      </p:sp>
      <p:sp>
        <p:nvSpPr>
          <p:cNvPr id="23" name="Text 17"/>
          <p:cNvSpPr/>
          <p:nvPr/>
        </p:nvSpPr>
        <p:spPr>
          <a:xfrm>
            <a:off x="8644128" y="3169920"/>
            <a:ext cx="85344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8A867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2665" dirty="0"/>
          </a:p>
        </p:txBody>
      </p:sp>
      <p:sp>
        <p:nvSpPr>
          <p:cNvPr id="24" name="Text 18"/>
          <p:cNvSpPr/>
          <p:nvPr/>
        </p:nvSpPr>
        <p:spPr>
          <a:xfrm>
            <a:off x="6876288" y="4632960"/>
            <a:ext cx="2194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做好被看见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9534144" y="3169920"/>
            <a:ext cx="1219200" cy="1219200"/>
          </a:xfrm>
          <a:prstGeom prst="ellipse">
            <a:avLst/>
          </a:prstGeom>
          <a:solidFill>
            <a:srgbClr val="D97757"/>
          </a:solidFill>
        </p:spPr>
      </p:sp>
      <p:sp>
        <p:nvSpPr>
          <p:cNvPr id="26" name="Text 20"/>
          <p:cNvSpPr/>
          <p:nvPr/>
        </p:nvSpPr>
        <p:spPr>
          <a:xfrm>
            <a:off x="9534144" y="3169920"/>
            <a:ext cx="12192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AF9F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</a:t>
            </a:r>
            <a:endParaRPr lang="en-US" sz="4800" dirty="0"/>
          </a:p>
        </p:txBody>
      </p:sp>
      <p:sp>
        <p:nvSpPr>
          <p:cNvPr id="27" name="Text 21"/>
          <p:cNvSpPr/>
          <p:nvPr/>
        </p:nvSpPr>
        <p:spPr>
          <a:xfrm>
            <a:off x="9046464" y="4632960"/>
            <a:ext cx="219456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3B3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看见到创造价值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31520" y="5730240"/>
            <a:ext cx="97536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31520" y="5852160"/>
            <a:ext cx="109728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35" b="1" dirty="0">
                <a:solidFill>
                  <a:srgbClr val="1F1E1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我们不再只是把知识打开,而是把整条资源链组织起来。</a:t>
            </a:r>
            <a:endParaRPr lang="en-US" sz="2135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5"/>
          <p:cNvSpPr>
            <a:spLocks noGrp="1"/>
          </p:cNvSpPr>
          <p:nvPr/>
        </p:nvSpPr>
        <p:spPr>
          <a:xfrm>
            <a:off x="177800" y="818515"/>
            <a:ext cx="11889105" cy="65659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与浙江大学智海</a:t>
            </a:r>
            <a:r>
              <a:rPr lang="en-US" altLang="zh-CN" dirty="0">
                <a:solidFill>
                  <a:schemeClr val="tx1"/>
                </a:solidFill>
              </a:rPr>
              <a:t>Mo</a:t>
            </a:r>
            <a:r>
              <a:rPr lang="zh-CN" altLang="en-US" dirty="0">
                <a:solidFill>
                  <a:schemeClr val="tx1"/>
                </a:solidFill>
              </a:rPr>
              <a:t>平台联合共建《</a:t>
            </a:r>
            <a:r>
              <a:rPr lang="en-US" altLang="zh-CN" dirty="0">
                <a:solidFill>
                  <a:schemeClr val="tx1"/>
                </a:solidFill>
              </a:rPr>
              <a:t>OPEN 1+X AI</a:t>
            </a:r>
            <a:r>
              <a:rPr lang="zh-CN" altLang="en-US" dirty="0">
                <a:solidFill>
                  <a:schemeClr val="tx1"/>
                </a:solidFill>
              </a:rPr>
              <a:t>通识课》</a:t>
            </a:r>
          </a:p>
        </p:txBody>
      </p:sp>
      <p:sp>
        <p:nvSpPr>
          <p:cNvPr id="4" name="文本占位符 26"/>
          <p:cNvSpPr>
            <a:spLocks noGrp="1"/>
          </p:cNvSpPr>
          <p:nvPr/>
        </p:nvSpPr>
        <p:spPr>
          <a:xfrm>
            <a:off x="887730" y="1602105"/>
            <a:ext cx="10968990" cy="171640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1.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国内首个由头部开源社区和顶尖高校联合打造的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AI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通识课</a:t>
            </a:r>
          </a:p>
          <a:p>
            <a:pPr marL="0" indent="0" algn="l"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2.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面向高校各个学科的人工智能通识培养方案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</a:t>
            </a:r>
          </a:p>
          <a:p>
            <a:pPr marL="0" indent="0" algn="l"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3.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面向行业培养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AI+X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复合型人才</a:t>
            </a:r>
          </a:p>
        </p:txBody>
      </p:sp>
      <p:pic>
        <p:nvPicPr>
          <p:cNvPr id="8" name="图片 7" descr="图形用户界面&#10;&#10;中度可信度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365" y="3318510"/>
            <a:ext cx="6732905" cy="2672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" y="3395345"/>
            <a:ext cx="3943350" cy="26295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5"/>
          <p:cNvSpPr>
            <a:spLocks noGrp="1"/>
          </p:cNvSpPr>
          <p:nvPr/>
        </p:nvSpPr>
        <p:spPr>
          <a:xfrm>
            <a:off x="334962" y="713962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联合魔搭社区完成“学练赛证用”的闭环</a:t>
            </a:r>
          </a:p>
        </p:txBody>
      </p:sp>
      <p:sp>
        <p:nvSpPr>
          <p:cNvPr id="4" name="文本占位符 26"/>
          <p:cNvSpPr>
            <a:spLocks noGrp="1"/>
          </p:cNvSpPr>
          <p:nvPr/>
        </p:nvSpPr>
        <p:spPr>
          <a:xfrm>
            <a:off x="139065" y="1322070"/>
            <a:ext cx="11940540" cy="1200150"/>
          </a:xfrm>
          <a:prstGeom prst="rect">
            <a:avLst/>
          </a:prstGeom>
        </p:spPr>
        <p:txBody>
          <a:bodyPr vert="horz" lIns="90000" tIns="46800" rIns="90000" bIns="46800" rtlCol="0" anchor="t" anchorCtr="0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2023年12月，Datawhale x 魔搭社区，一个月内吸引与培育</a:t>
            </a:r>
            <a:r>
              <a:rPr lang="zh-CN" altLang="en-US" b="1" dirty="0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1000+</a:t>
            </a: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开发者深度学习Agent框架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创作</a:t>
            </a:r>
            <a:r>
              <a:rPr lang="zh-CN" altLang="en-US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100+AI Agent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作品，</a:t>
            </a:r>
            <a:r>
              <a:rPr lang="zh-CN" altLang="en-US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Top5最佳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奖项中</a:t>
            </a:r>
            <a:r>
              <a:rPr lang="zh-CN" altLang="en-US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3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个作品来自学习培育而出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并提供</a:t>
            </a:r>
            <a:r>
              <a:rPr lang="zh-CN" altLang="en-US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国内首个Agent Engineer证书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认证</a:t>
            </a:r>
            <a:endParaRPr lang="zh-CN" altLang="en-US" dirty="0" err="1">
              <a:solidFill>
                <a:schemeClr val="tx1"/>
              </a:solidFill>
              <a:latin typeface="仿宋" charset="0"/>
              <a:ea typeface="仿宋" charset="0"/>
              <a:cs typeface="仿宋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zh-CN" altLang="en-US" dirty="0" err="1">
              <a:solidFill>
                <a:schemeClr val="tx1"/>
              </a:solidFill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50484" y="2698750"/>
            <a:ext cx="6459511" cy="1723574"/>
            <a:chOff x="2488" y="4142"/>
            <a:chExt cx="8576" cy="1929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8" y="4142"/>
              <a:ext cx="8576" cy="1433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4891" y="5662"/>
              <a:ext cx="3770" cy="40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400" dirty="0" err="1">
                  <a:solidFill>
                    <a:srgbClr val="2663A7"/>
                  </a:solidFill>
                  <a:latin typeface="微软雅黑" charset="-122"/>
                  <a:ea typeface="微软雅黑" charset="-122"/>
                </a:rPr>
                <a:t>系列课程打造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358640" y="4485259"/>
            <a:ext cx="2829560" cy="2289412"/>
            <a:chOff x="11900" y="6594"/>
            <a:chExt cx="3922" cy="3173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76" y="6594"/>
              <a:ext cx="3770" cy="2632"/>
            </a:xfrm>
            <a:prstGeom prst="rect">
              <a:avLst/>
            </a:prstGeom>
          </p:spPr>
        </p:pic>
        <p:sp>
          <p:nvSpPr>
            <p:cNvPr id="30" name="文本框 29"/>
            <p:cNvSpPr txBox="1"/>
            <p:nvPr/>
          </p:nvSpPr>
          <p:spPr>
            <a:xfrm>
              <a:off x="11900" y="9342"/>
              <a:ext cx="3922" cy="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400" dirty="0" err="1">
                  <a:solidFill>
                    <a:srgbClr val="2663A7"/>
                  </a:solidFill>
                  <a:latin typeface="微软雅黑" charset="-122"/>
                  <a:ea typeface="微软雅黑" charset="-122"/>
                </a:rPr>
                <a:t>Agent Engineer证书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74842" y="4726536"/>
            <a:ext cx="3095625" cy="2048319"/>
            <a:chOff x="11829" y="3607"/>
            <a:chExt cx="3922" cy="2595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09" y="3607"/>
              <a:ext cx="3363" cy="1891"/>
            </a:xfrm>
            <a:prstGeom prst="rect">
              <a:avLst/>
            </a:prstGeom>
          </p:spPr>
        </p:pic>
        <p:sp>
          <p:nvSpPr>
            <p:cNvPr id="33" name="文本框 32"/>
            <p:cNvSpPr txBox="1"/>
            <p:nvPr/>
          </p:nvSpPr>
          <p:spPr>
            <a:xfrm>
              <a:off x="11829" y="5813"/>
              <a:ext cx="3922" cy="3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400" dirty="0" err="1">
                  <a:solidFill>
                    <a:srgbClr val="2663A7"/>
                  </a:solidFill>
                  <a:latin typeface="微软雅黑" charset="-122"/>
                  <a:ea typeface="微软雅黑" charset="-122"/>
                </a:rPr>
                <a:t>Agent Builder赛事运营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126605" y="2726690"/>
            <a:ext cx="4568190" cy="1696085"/>
            <a:chOff x="11223" y="4492"/>
            <a:chExt cx="7194" cy="2671"/>
          </a:xfrm>
        </p:grpSpPr>
        <p:sp>
          <p:nvSpPr>
            <p:cNvPr id="35" name="文本框 34"/>
            <p:cNvSpPr txBox="1"/>
            <p:nvPr/>
          </p:nvSpPr>
          <p:spPr>
            <a:xfrm>
              <a:off x="11968" y="6587"/>
              <a:ext cx="5441" cy="57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400" dirty="0" err="1">
                  <a:solidFill>
                    <a:srgbClr val="2663A7"/>
                  </a:solidFill>
                  <a:latin typeface="微软雅黑" charset="-122"/>
                  <a:ea typeface="微软雅黑" charset="-122"/>
                </a:rPr>
                <a:t>每季度举办</a:t>
              </a:r>
              <a:r>
                <a:rPr lang="en-US" altLang="zh-CN" sz="1400" dirty="0" err="1">
                  <a:solidFill>
                    <a:srgbClr val="2663A7"/>
                  </a:solidFill>
                  <a:latin typeface="微软雅黑" charset="-122"/>
                  <a:ea typeface="微软雅黑" charset="-122"/>
                </a:rPr>
                <a:t>AI Camp</a:t>
              </a:r>
              <a:r>
                <a:rPr lang="zh-CN" altLang="en-US" sz="1400" dirty="0" err="1">
                  <a:solidFill>
                    <a:srgbClr val="2663A7"/>
                  </a:solidFill>
                  <a:latin typeface="微软雅黑" charset="-122"/>
                  <a:ea typeface="微软雅黑" charset="-122"/>
                </a:rPr>
                <a:t>，组织上万人实训</a:t>
              </a: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23" y="4492"/>
              <a:ext cx="7194" cy="1972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7795895" y="4500245"/>
            <a:ext cx="3229610" cy="2274570"/>
            <a:chOff x="12145" y="7087"/>
            <a:chExt cx="5086" cy="3582"/>
          </a:xfrm>
        </p:grpSpPr>
        <p:sp>
          <p:nvSpPr>
            <p:cNvPr id="38" name="文本框 37"/>
            <p:cNvSpPr txBox="1"/>
            <p:nvPr/>
          </p:nvSpPr>
          <p:spPr>
            <a:xfrm>
              <a:off x="12599" y="10186"/>
              <a:ext cx="4178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400" dirty="0" err="1">
                  <a:solidFill>
                    <a:srgbClr val="2663A7"/>
                  </a:solidFill>
                  <a:latin typeface="微软雅黑" charset="-122"/>
                  <a:ea typeface="微软雅黑" charset="-122"/>
                </a:rPr>
                <a:t>解决实际问题的</a:t>
              </a:r>
              <a:r>
                <a:rPr lang="en-US" altLang="zh-CN" sz="1400" dirty="0" err="1">
                  <a:solidFill>
                    <a:srgbClr val="2663A7"/>
                  </a:solidFill>
                  <a:latin typeface="微软雅黑" charset="-122"/>
                  <a:ea typeface="微软雅黑" charset="-122"/>
                </a:rPr>
                <a:t>AI Agent作品</a:t>
              </a:r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45" y="7087"/>
              <a:ext cx="5086" cy="2978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5"/>
          <p:cNvSpPr>
            <a:spLocks noGrp="1"/>
          </p:cNvSpPr>
          <p:nvPr/>
        </p:nvSpPr>
        <p:spPr>
          <a:xfrm>
            <a:off x="334962" y="491712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en-US" altLang="zh-CN" sz="3600" dirty="0">
                <a:solidFill>
                  <a:schemeClr val="tx1"/>
                </a:solidFill>
              </a:rPr>
              <a:t>3. </a:t>
            </a:r>
            <a:r>
              <a:rPr lang="zh-CN" altLang="en-US" sz="3600" dirty="0">
                <a:solidFill>
                  <a:schemeClr val="tx1"/>
                </a:solidFill>
              </a:rPr>
              <a:t>全国线上规模最大的</a:t>
            </a:r>
            <a:r>
              <a:rPr lang="en-US" altLang="zh-CN" sz="3600" dirty="0">
                <a:solidFill>
                  <a:schemeClr val="tx1"/>
                </a:solidFill>
              </a:rPr>
              <a:t>AI</a:t>
            </a:r>
            <a:r>
              <a:rPr lang="zh-CN" altLang="en-US" sz="3600" dirty="0">
                <a:solidFill>
                  <a:schemeClr val="tx1"/>
                </a:solidFill>
              </a:rPr>
              <a:t>夏令营</a:t>
            </a:r>
          </a:p>
        </p:txBody>
      </p:sp>
      <p:sp>
        <p:nvSpPr>
          <p:cNvPr id="5" name="文本占位符 26"/>
          <p:cNvSpPr>
            <a:spLocks noGrp="1"/>
          </p:cNvSpPr>
          <p:nvPr/>
        </p:nvSpPr>
        <p:spPr>
          <a:xfrm>
            <a:off x="608330" y="1099820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自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2023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年起，与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100+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联合组织方、共同打造了全国规模最大的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AI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夏令营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覆盖全球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3000+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所高校、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70000+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位学习者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, 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100+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AI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领域实际场景，目前已连续举办三届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314825" y="1949450"/>
            <a:ext cx="7465060" cy="2240915"/>
            <a:chOff x="511" y="2601"/>
            <a:chExt cx="10029" cy="3010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1" y="2601"/>
              <a:ext cx="3861" cy="3010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2" y="2601"/>
              <a:ext cx="6169" cy="2995"/>
            </a:xfrm>
            <a:prstGeom prst="rect">
              <a:avLst/>
            </a:prstGeom>
          </p:spPr>
        </p:pic>
      </p:grpSp>
      <p:pic>
        <p:nvPicPr>
          <p:cNvPr id="25" name="图片 24"/>
          <p:cNvPicPr/>
          <p:nvPr/>
        </p:nvPicPr>
        <p:blipFill>
          <a:blip r:embed="rId5"/>
          <a:srcRect l="6512" t="35187" r="4856" b="1956"/>
          <a:stretch>
            <a:fillRect/>
          </a:stretch>
        </p:blipFill>
        <p:spPr>
          <a:xfrm>
            <a:off x="421640" y="1952625"/>
            <a:ext cx="3452495" cy="477266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760" y="4372610"/>
            <a:ext cx="3921760" cy="227774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314825" y="4424045"/>
            <a:ext cx="3104515" cy="2225675"/>
            <a:chOff x="7111" y="6857"/>
            <a:chExt cx="5516" cy="3954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1" y="6857"/>
              <a:ext cx="5515" cy="1914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11" y="8771"/>
              <a:ext cx="5516" cy="2041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5"/>
          <p:cNvSpPr>
            <a:spLocks noGrp="1"/>
          </p:cNvSpPr>
          <p:nvPr/>
        </p:nvSpPr>
        <p:spPr>
          <a:xfrm>
            <a:off x="334962" y="491712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4. </a:t>
            </a: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全国线下最大规模的</a:t>
            </a:r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黑客松高校联赛</a:t>
            </a:r>
          </a:p>
        </p:txBody>
      </p:sp>
      <p:sp>
        <p:nvSpPr>
          <p:cNvPr id="5" name="文本占位符 26"/>
          <p:cNvSpPr>
            <a:spLocks noGrp="1"/>
          </p:cNvSpPr>
          <p:nvPr/>
        </p:nvSpPr>
        <p:spPr>
          <a:xfrm>
            <a:off x="608330" y="1099820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2026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年，与魔搭社区共同发起，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11</a:t>
            </a:r>
            <a:r>
              <a:rPr lang="zh-CN" altLang="en-US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所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顶尖高校、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50+</a:t>
            </a:r>
            <a:r>
              <a:rPr lang="zh-CN" altLang="en-US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位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行业顶尖评委、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3000+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创造者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共同打造了</a:t>
            </a:r>
            <a:r>
              <a:rPr lang="en-US" altLang="zh-CN" b="1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AI Hackathon Tour</a:t>
            </a:r>
            <a:r>
              <a:rPr lang="zh-CN" altLang="en-US" b="1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高校联赛</a:t>
            </a: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，初赛产出了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410+ 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的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AI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应用作品</a:t>
            </a:r>
          </a:p>
          <a:p>
            <a:pPr marL="0" indent="0" algn="ctr">
              <a:lnSpc>
                <a:spcPct val="100000"/>
              </a:lnSpc>
              <a:buNone/>
            </a:pPr>
            <a:endParaRPr lang="zh-CN" altLang="en-US" dirty="0" err="1">
              <a:solidFill>
                <a:schemeClr val="tx1"/>
              </a:solidFill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  <p:pic>
        <p:nvPicPr>
          <p:cNvPr id="11" name="图片 10" descr="396a24cb9067c7c9bbcb08f4e5fb6ad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405" y="1960880"/>
            <a:ext cx="5844540" cy="3893820"/>
          </a:xfrm>
          <a:prstGeom prst="rect">
            <a:avLst/>
          </a:prstGeom>
        </p:spPr>
      </p:pic>
      <p:pic>
        <p:nvPicPr>
          <p:cNvPr id="12" name="图片 11" descr="5b0f1dbb191cc643c861e57528f1ac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65" y="1960880"/>
            <a:ext cx="5844540" cy="38963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461962" y="56854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 dirty="0" err="1">
                <a:solidFill>
                  <a:schemeClr val="tx1"/>
                </a:solidFill>
                <a:sym typeface="+mn-ea"/>
              </a:rPr>
              <a:t>三</a:t>
            </a:r>
            <a:r>
              <a:rPr lang="en-US" altLang="zh-CN" sz="3600" dirty="0" err="1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3600" dirty="0" err="1">
                <a:solidFill>
                  <a:schemeClr val="tx1"/>
                </a:solidFill>
                <a:sym typeface="+mn-ea"/>
              </a:rPr>
              <a:t>建设全球最大的人工智能学习生态网络</a:t>
            </a:r>
          </a:p>
        </p:txBody>
      </p:sp>
      <p:sp>
        <p:nvSpPr>
          <p:cNvPr id="7" name="文本占位符 26"/>
          <p:cNvSpPr>
            <a:spLocks noGrp="1"/>
          </p:cNvSpPr>
          <p:nvPr/>
        </p:nvSpPr>
        <p:spPr>
          <a:xfrm>
            <a:off x="735330" y="1176655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2026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年，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Datawhale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计划联合超过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50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家科技企业与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100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所高校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在全国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15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个以上核心城市建立学习中心节点，形成全球最大人工智能学习生态网络</a:t>
            </a:r>
          </a:p>
        </p:txBody>
      </p:sp>
      <p:sp>
        <p:nvSpPr>
          <p:cNvPr id="10" name="Text 0"/>
          <p:cNvSpPr/>
          <p:nvPr/>
        </p:nvSpPr>
        <p:spPr>
          <a:xfrm>
            <a:off x="731520" y="202565"/>
            <a:ext cx="609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</a:t>
            </a:r>
            <a:r>
              <a:rPr lang="zh-CN" alt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三</a:t>
            </a:r>
            <a:r>
              <a:rPr 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段 · </a:t>
            </a:r>
            <a:r>
              <a:rPr lang="zh-CN" altLang="en-US" sz="1465" b="1" kern="0" spc="400" dirty="0">
                <a:solidFill>
                  <a:srgbClr val="D9775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如何持续</a:t>
            </a:r>
          </a:p>
        </p:txBody>
      </p:sp>
      <p:sp>
        <p:nvSpPr>
          <p:cNvPr id="80" name="Shape 1"/>
          <p:cNvSpPr/>
          <p:nvPr/>
        </p:nvSpPr>
        <p:spPr>
          <a:xfrm>
            <a:off x="1270635" y="2221992"/>
            <a:ext cx="2363724" cy="749808"/>
          </a:xfrm>
          <a:prstGeom prst="roundRect">
            <a:avLst>
              <a:gd name="adj" fmla="val 12195"/>
            </a:avLst>
          </a:prstGeom>
          <a:solidFill>
            <a:srgbClr val="EAF2FC"/>
          </a:solidFill>
          <a:ln w="12700">
            <a:solidFill>
              <a:srgbClr val="C6DBF2"/>
            </a:solidFill>
            <a:prstDash val="solid"/>
          </a:ln>
        </p:spPr>
      </p:sp>
      <p:sp>
        <p:nvSpPr>
          <p:cNvPr id="81" name="Text 2"/>
          <p:cNvSpPr/>
          <p:nvPr/>
        </p:nvSpPr>
        <p:spPr>
          <a:xfrm>
            <a:off x="1270635" y="2221992"/>
            <a:ext cx="2363724" cy="74980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63C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AI 学习中心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8A8F9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降低入门门槛</a:t>
            </a:r>
            <a:endParaRPr lang="en-US" sz="1600" dirty="0"/>
          </a:p>
        </p:txBody>
      </p:sp>
      <p:sp>
        <p:nvSpPr>
          <p:cNvPr id="82" name="Shape 3"/>
          <p:cNvSpPr/>
          <p:nvPr/>
        </p:nvSpPr>
        <p:spPr>
          <a:xfrm>
            <a:off x="3835527" y="2221992"/>
            <a:ext cx="2363724" cy="749808"/>
          </a:xfrm>
          <a:prstGeom prst="roundRect">
            <a:avLst>
              <a:gd name="adj" fmla="val 12195"/>
            </a:avLst>
          </a:prstGeom>
          <a:solidFill>
            <a:srgbClr val="EAF2FC"/>
          </a:solidFill>
          <a:ln w="12700">
            <a:solidFill>
              <a:srgbClr val="C6DBF2"/>
            </a:solidFill>
            <a:prstDash val="solid"/>
          </a:ln>
        </p:spPr>
      </p:sp>
      <p:sp>
        <p:nvSpPr>
          <p:cNvPr id="83" name="Text 4"/>
          <p:cNvSpPr/>
          <p:nvPr/>
        </p:nvSpPr>
        <p:spPr>
          <a:xfrm>
            <a:off x="3835527" y="2221992"/>
            <a:ext cx="2363724" cy="74980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63C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OPC 孵化中心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8A8F9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激活创造力</a:t>
            </a:r>
            <a:endParaRPr lang="en-US" sz="1600" dirty="0"/>
          </a:p>
        </p:txBody>
      </p:sp>
      <p:sp>
        <p:nvSpPr>
          <p:cNvPr id="84" name="Shape 5"/>
          <p:cNvSpPr/>
          <p:nvPr/>
        </p:nvSpPr>
        <p:spPr>
          <a:xfrm>
            <a:off x="6400419" y="2221992"/>
            <a:ext cx="2363724" cy="749808"/>
          </a:xfrm>
          <a:prstGeom prst="roundRect">
            <a:avLst>
              <a:gd name="adj" fmla="val 12195"/>
            </a:avLst>
          </a:prstGeom>
          <a:solidFill>
            <a:srgbClr val="EAF2FC"/>
          </a:solidFill>
          <a:ln w="12700">
            <a:solidFill>
              <a:srgbClr val="C6DBF2"/>
            </a:solidFill>
            <a:prstDash val="solid"/>
          </a:ln>
        </p:spPr>
      </p:sp>
      <p:sp>
        <p:nvSpPr>
          <p:cNvPr id="85" name="Text 6"/>
          <p:cNvSpPr/>
          <p:nvPr/>
        </p:nvSpPr>
        <p:spPr>
          <a:xfrm>
            <a:off x="6400419" y="2221992"/>
            <a:ext cx="2363724" cy="74980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63C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人才评价中心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8A8F9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建立能力标准</a:t>
            </a:r>
            <a:endParaRPr lang="en-US" sz="1600" dirty="0"/>
          </a:p>
        </p:txBody>
      </p:sp>
      <p:sp>
        <p:nvSpPr>
          <p:cNvPr id="86" name="Shape 7"/>
          <p:cNvSpPr/>
          <p:nvPr/>
        </p:nvSpPr>
        <p:spPr>
          <a:xfrm>
            <a:off x="8965311" y="2221992"/>
            <a:ext cx="2363724" cy="749808"/>
          </a:xfrm>
          <a:prstGeom prst="roundRect">
            <a:avLst>
              <a:gd name="adj" fmla="val 12195"/>
            </a:avLst>
          </a:prstGeom>
          <a:solidFill>
            <a:srgbClr val="EAF2FC"/>
          </a:solidFill>
          <a:ln w="12700">
            <a:solidFill>
              <a:srgbClr val="C6DBF2"/>
            </a:solidFill>
            <a:prstDash val="solid"/>
          </a:ln>
        </p:spPr>
      </p:sp>
      <p:sp>
        <p:nvSpPr>
          <p:cNvPr id="87" name="Text 8"/>
          <p:cNvSpPr/>
          <p:nvPr/>
        </p:nvSpPr>
        <p:spPr>
          <a:xfrm>
            <a:off x="8965311" y="2221992"/>
            <a:ext cx="2363724" cy="74980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63C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行业赋能中心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8A8F9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链接产业需求</a:t>
            </a:r>
            <a:endParaRPr lang="en-US" sz="1600" dirty="0"/>
          </a:p>
        </p:txBody>
      </p:sp>
      <p:sp>
        <p:nvSpPr>
          <p:cNvPr id="88" name="Shape 9"/>
          <p:cNvSpPr/>
          <p:nvPr/>
        </p:nvSpPr>
        <p:spPr>
          <a:xfrm>
            <a:off x="1270635" y="3200400"/>
            <a:ext cx="10058400" cy="713232"/>
          </a:xfrm>
          <a:prstGeom prst="roundRect">
            <a:avLst>
              <a:gd name="adj" fmla="val 12821"/>
            </a:avLst>
          </a:prstGeom>
          <a:solidFill>
            <a:srgbClr val="ECE9E3"/>
          </a:solidFill>
          <a:ln w="12700">
            <a:solidFill>
              <a:srgbClr val="DCD8CF"/>
            </a:solidFill>
            <a:prstDash val="solid"/>
          </a:ln>
        </p:spPr>
      </p:sp>
      <p:sp>
        <p:nvSpPr>
          <p:cNvPr id="89" name="Text 10"/>
          <p:cNvSpPr/>
          <p:nvPr/>
        </p:nvSpPr>
        <p:spPr>
          <a:xfrm>
            <a:off x="1270635" y="3200400"/>
            <a:ext cx="10058400" cy="713232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D3D3A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一纵战略 —— 8个微推动 · 有组织落地</a:t>
            </a:r>
            <a:endParaRPr lang="en-US" sz="1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75736D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4 + 2 + 2 结构：4个学习类 + 2个实践类 + 2个创业类</a:t>
            </a:r>
            <a:endParaRPr lang="en-US" sz="1700" dirty="0"/>
          </a:p>
        </p:txBody>
      </p:sp>
      <p:sp>
        <p:nvSpPr>
          <p:cNvPr id="90" name="Shape 11"/>
          <p:cNvSpPr/>
          <p:nvPr/>
        </p:nvSpPr>
        <p:spPr>
          <a:xfrm>
            <a:off x="1270635" y="4142232"/>
            <a:ext cx="2363724" cy="1024128"/>
          </a:xfrm>
          <a:prstGeom prst="roundRect">
            <a:avLst>
              <a:gd name="adj" fmla="val 8929"/>
            </a:avLst>
          </a:prstGeom>
          <a:solidFill>
            <a:srgbClr val="DCEEE4"/>
          </a:solidFill>
          <a:ln w="12700">
            <a:solidFill>
              <a:srgbClr val="C2E1CE"/>
            </a:solidFill>
            <a:prstDash val="solid"/>
          </a:ln>
        </p:spPr>
      </p:sp>
      <p:pic>
        <p:nvPicPr>
          <p:cNvPr id="91" name="Image 0" descr="/home/claude/emoji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091" y="4325112"/>
            <a:ext cx="365760" cy="365760"/>
          </a:xfrm>
          <a:prstGeom prst="rect">
            <a:avLst/>
          </a:prstGeom>
        </p:spPr>
      </p:pic>
      <p:sp>
        <p:nvSpPr>
          <p:cNvPr id="92" name="Text 12"/>
          <p:cNvSpPr/>
          <p:nvPr/>
        </p:nvSpPr>
        <p:spPr>
          <a:xfrm>
            <a:off x="1947291" y="4306824"/>
            <a:ext cx="15590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6A57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AI 微场景</a:t>
            </a:r>
            <a:endParaRPr lang="en-US" sz="1700" dirty="0"/>
          </a:p>
        </p:txBody>
      </p:sp>
      <p:sp>
        <p:nvSpPr>
          <p:cNvPr id="93" name="Text 13"/>
          <p:cNvSpPr/>
          <p:nvPr/>
        </p:nvSpPr>
        <p:spPr>
          <a:xfrm>
            <a:off x="1508379" y="4782312"/>
            <a:ext cx="190652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D9189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基于真实场景的学习案例</a:t>
            </a:r>
            <a:endParaRPr lang="en-US" sz="1100" dirty="0"/>
          </a:p>
        </p:txBody>
      </p:sp>
      <p:sp>
        <p:nvSpPr>
          <p:cNvPr id="94" name="Shape 14"/>
          <p:cNvSpPr/>
          <p:nvPr/>
        </p:nvSpPr>
        <p:spPr>
          <a:xfrm>
            <a:off x="3835527" y="4142232"/>
            <a:ext cx="2363724" cy="1024128"/>
          </a:xfrm>
          <a:prstGeom prst="roundRect">
            <a:avLst>
              <a:gd name="adj" fmla="val 8929"/>
            </a:avLst>
          </a:prstGeom>
          <a:solidFill>
            <a:srgbClr val="DCEEE4"/>
          </a:solidFill>
          <a:ln w="12700">
            <a:solidFill>
              <a:srgbClr val="C2E1CE"/>
            </a:solidFill>
            <a:prstDash val="solid"/>
          </a:ln>
        </p:spPr>
      </p:sp>
      <p:pic>
        <p:nvPicPr>
          <p:cNvPr id="95" name="Image 1" descr="/home/claude/emoji/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983" y="4325112"/>
            <a:ext cx="365760" cy="365760"/>
          </a:xfrm>
          <a:prstGeom prst="rect">
            <a:avLst/>
          </a:prstGeom>
        </p:spPr>
      </p:pic>
      <p:sp>
        <p:nvSpPr>
          <p:cNvPr id="96" name="Text 15"/>
          <p:cNvSpPr/>
          <p:nvPr/>
        </p:nvSpPr>
        <p:spPr>
          <a:xfrm>
            <a:off x="4512183" y="4306824"/>
            <a:ext cx="15590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6A57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AI 微技能</a:t>
            </a:r>
            <a:endParaRPr lang="en-US" sz="1700" dirty="0"/>
          </a:p>
        </p:txBody>
      </p:sp>
      <p:sp>
        <p:nvSpPr>
          <p:cNvPr id="97" name="Text 16"/>
          <p:cNvSpPr/>
          <p:nvPr/>
        </p:nvSpPr>
        <p:spPr>
          <a:xfrm>
            <a:off x="4073271" y="4782312"/>
            <a:ext cx="190652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D9189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模块化的AI技能实践</a:t>
            </a:r>
            <a:endParaRPr lang="en-US" sz="1100" dirty="0"/>
          </a:p>
        </p:txBody>
      </p:sp>
      <p:sp>
        <p:nvSpPr>
          <p:cNvPr id="98" name="Shape 17"/>
          <p:cNvSpPr/>
          <p:nvPr/>
        </p:nvSpPr>
        <p:spPr>
          <a:xfrm>
            <a:off x="6400419" y="4142232"/>
            <a:ext cx="2363724" cy="1024128"/>
          </a:xfrm>
          <a:prstGeom prst="roundRect">
            <a:avLst>
              <a:gd name="adj" fmla="val 8929"/>
            </a:avLst>
          </a:prstGeom>
          <a:solidFill>
            <a:srgbClr val="DCEEE4"/>
          </a:solidFill>
          <a:ln w="12700">
            <a:solidFill>
              <a:srgbClr val="C2E1CE"/>
            </a:solidFill>
            <a:prstDash val="solid"/>
          </a:ln>
        </p:spPr>
      </p:sp>
      <p:pic>
        <p:nvPicPr>
          <p:cNvPr id="99" name="Image 2" descr="/home/claude/emoji/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875" y="4325112"/>
            <a:ext cx="365760" cy="365760"/>
          </a:xfrm>
          <a:prstGeom prst="rect">
            <a:avLst/>
          </a:prstGeom>
        </p:spPr>
      </p:pic>
      <p:sp>
        <p:nvSpPr>
          <p:cNvPr id="100" name="Text 18"/>
          <p:cNvSpPr/>
          <p:nvPr/>
        </p:nvSpPr>
        <p:spPr>
          <a:xfrm>
            <a:off x="7077075" y="4306824"/>
            <a:ext cx="15590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6A57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AI 微应用</a:t>
            </a:r>
            <a:endParaRPr lang="en-US" sz="1700" dirty="0"/>
          </a:p>
        </p:txBody>
      </p:sp>
      <p:sp>
        <p:nvSpPr>
          <p:cNvPr id="101" name="Text 19"/>
          <p:cNvSpPr/>
          <p:nvPr/>
        </p:nvSpPr>
        <p:spPr>
          <a:xfrm>
            <a:off x="6638163" y="4782312"/>
            <a:ext cx="190652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D9189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用AI解决场景问题</a:t>
            </a:r>
            <a:endParaRPr lang="en-US" sz="1100" dirty="0"/>
          </a:p>
        </p:txBody>
      </p:sp>
      <p:sp>
        <p:nvSpPr>
          <p:cNvPr id="102" name="Shape 20"/>
          <p:cNvSpPr/>
          <p:nvPr/>
        </p:nvSpPr>
        <p:spPr>
          <a:xfrm>
            <a:off x="8965311" y="4142232"/>
            <a:ext cx="2363724" cy="1024128"/>
          </a:xfrm>
          <a:prstGeom prst="roundRect">
            <a:avLst>
              <a:gd name="adj" fmla="val 8929"/>
            </a:avLst>
          </a:prstGeom>
          <a:solidFill>
            <a:srgbClr val="DCEEE4"/>
          </a:solidFill>
          <a:ln w="12700">
            <a:solidFill>
              <a:srgbClr val="C2E1CE"/>
            </a:solidFill>
            <a:prstDash val="solid"/>
          </a:ln>
        </p:spPr>
      </p:sp>
      <p:pic>
        <p:nvPicPr>
          <p:cNvPr id="103" name="Image 3" descr="/home/claude/emoji/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767" y="4325112"/>
            <a:ext cx="365760" cy="365760"/>
          </a:xfrm>
          <a:prstGeom prst="rect">
            <a:avLst/>
          </a:prstGeom>
        </p:spPr>
      </p:pic>
      <p:sp>
        <p:nvSpPr>
          <p:cNvPr id="104" name="Text 21"/>
          <p:cNvSpPr/>
          <p:nvPr/>
        </p:nvSpPr>
        <p:spPr>
          <a:xfrm>
            <a:off x="9641967" y="4306824"/>
            <a:ext cx="15590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6A57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AI 微交流</a:t>
            </a:r>
            <a:endParaRPr lang="en-US" sz="1700" dirty="0"/>
          </a:p>
        </p:txBody>
      </p:sp>
      <p:sp>
        <p:nvSpPr>
          <p:cNvPr id="105" name="Text 22"/>
          <p:cNvSpPr/>
          <p:nvPr/>
        </p:nvSpPr>
        <p:spPr>
          <a:xfrm>
            <a:off x="9203055" y="4782312"/>
            <a:ext cx="190652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D9189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学习交流与知识分享</a:t>
            </a:r>
            <a:endParaRPr lang="en-US" sz="1100" dirty="0"/>
          </a:p>
        </p:txBody>
      </p:sp>
      <p:sp>
        <p:nvSpPr>
          <p:cNvPr id="106" name="Shape 23"/>
          <p:cNvSpPr/>
          <p:nvPr/>
        </p:nvSpPr>
        <p:spPr>
          <a:xfrm>
            <a:off x="1270635" y="5349240"/>
            <a:ext cx="2363724" cy="1024128"/>
          </a:xfrm>
          <a:prstGeom prst="roundRect">
            <a:avLst>
              <a:gd name="adj" fmla="val 8929"/>
            </a:avLst>
          </a:prstGeom>
          <a:solidFill>
            <a:srgbClr val="FAE7CE"/>
          </a:solidFill>
          <a:ln w="12700">
            <a:solidFill>
              <a:srgbClr val="F2D2A7"/>
            </a:solidFill>
            <a:prstDash val="solid"/>
          </a:ln>
        </p:spPr>
      </p:sp>
      <p:pic>
        <p:nvPicPr>
          <p:cNvPr id="107" name="Image 4" descr="/home/claude/emoji/boo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0091" y="5532120"/>
            <a:ext cx="365760" cy="365760"/>
          </a:xfrm>
          <a:prstGeom prst="rect">
            <a:avLst/>
          </a:prstGeom>
        </p:spPr>
      </p:pic>
      <p:sp>
        <p:nvSpPr>
          <p:cNvPr id="108" name="Text 24"/>
          <p:cNvSpPr/>
          <p:nvPr/>
        </p:nvSpPr>
        <p:spPr>
          <a:xfrm>
            <a:off x="1947291" y="5513832"/>
            <a:ext cx="15590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96B22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AI 微课程</a:t>
            </a:r>
            <a:endParaRPr lang="en-US" sz="1700" dirty="0"/>
          </a:p>
        </p:txBody>
      </p:sp>
      <p:sp>
        <p:nvSpPr>
          <p:cNvPr id="109" name="Text 25"/>
          <p:cNvSpPr/>
          <p:nvPr/>
        </p:nvSpPr>
        <p:spPr>
          <a:xfrm>
            <a:off x="1508379" y="5989320"/>
            <a:ext cx="190652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C845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短小精悍的AI学习路径</a:t>
            </a:r>
            <a:endParaRPr lang="en-US" sz="1100" dirty="0"/>
          </a:p>
        </p:txBody>
      </p:sp>
      <p:sp>
        <p:nvSpPr>
          <p:cNvPr id="110" name="Shape 26"/>
          <p:cNvSpPr/>
          <p:nvPr/>
        </p:nvSpPr>
        <p:spPr>
          <a:xfrm>
            <a:off x="3835527" y="5349240"/>
            <a:ext cx="2363724" cy="1024128"/>
          </a:xfrm>
          <a:prstGeom prst="roundRect">
            <a:avLst>
              <a:gd name="adj" fmla="val 8929"/>
            </a:avLst>
          </a:prstGeom>
          <a:solidFill>
            <a:srgbClr val="FAE7CE"/>
          </a:solidFill>
          <a:ln w="12700">
            <a:solidFill>
              <a:srgbClr val="F2D2A7"/>
            </a:solidFill>
            <a:prstDash val="solid"/>
          </a:ln>
        </p:spPr>
      </p:sp>
      <p:pic>
        <p:nvPicPr>
          <p:cNvPr id="111" name="Image 5" descr="/home/claude/emoji/ge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4983" y="5532120"/>
            <a:ext cx="365760" cy="365760"/>
          </a:xfrm>
          <a:prstGeom prst="rect">
            <a:avLst/>
          </a:prstGeom>
        </p:spPr>
      </p:pic>
      <p:sp>
        <p:nvSpPr>
          <p:cNvPr id="112" name="Text 27"/>
          <p:cNvSpPr/>
          <p:nvPr/>
        </p:nvSpPr>
        <p:spPr>
          <a:xfrm>
            <a:off x="4512183" y="5513832"/>
            <a:ext cx="15590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96B22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AI 微实训</a:t>
            </a:r>
            <a:endParaRPr lang="en-US" sz="1700" dirty="0"/>
          </a:p>
        </p:txBody>
      </p:sp>
      <p:sp>
        <p:nvSpPr>
          <p:cNvPr id="113" name="Text 28"/>
          <p:cNvSpPr/>
          <p:nvPr/>
        </p:nvSpPr>
        <p:spPr>
          <a:xfrm>
            <a:off x="4073271" y="5989320"/>
            <a:ext cx="190652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C8456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参与AI项目实训营</a:t>
            </a:r>
            <a:endParaRPr lang="en-US" sz="1100" dirty="0"/>
          </a:p>
        </p:txBody>
      </p:sp>
      <p:sp>
        <p:nvSpPr>
          <p:cNvPr id="114" name="Shape 29"/>
          <p:cNvSpPr/>
          <p:nvPr/>
        </p:nvSpPr>
        <p:spPr>
          <a:xfrm>
            <a:off x="6400419" y="5349240"/>
            <a:ext cx="2363724" cy="1024128"/>
          </a:xfrm>
          <a:prstGeom prst="roundRect">
            <a:avLst>
              <a:gd name="adj" fmla="val 8929"/>
            </a:avLst>
          </a:prstGeom>
          <a:solidFill>
            <a:srgbClr val="F6D7D0"/>
          </a:solidFill>
          <a:ln w="12700">
            <a:solidFill>
              <a:srgbClr val="EEBCB1"/>
            </a:solidFill>
            <a:prstDash val="solid"/>
          </a:ln>
        </p:spPr>
      </p:sp>
      <p:pic>
        <p:nvPicPr>
          <p:cNvPr id="115" name="Image 6" descr="/home/claude/emoji/bul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875" y="5532120"/>
            <a:ext cx="365760" cy="365760"/>
          </a:xfrm>
          <a:prstGeom prst="rect">
            <a:avLst/>
          </a:prstGeom>
        </p:spPr>
      </p:pic>
      <p:sp>
        <p:nvSpPr>
          <p:cNvPr id="116" name="Text 30"/>
          <p:cNvSpPr/>
          <p:nvPr/>
        </p:nvSpPr>
        <p:spPr>
          <a:xfrm>
            <a:off x="7077075" y="5513832"/>
            <a:ext cx="15590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5503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AI 微空间</a:t>
            </a:r>
            <a:endParaRPr lang="en-US" sz="1700" dirty="0"/>
          </a:p>
        </p:txBody>
      </p:sp>
      <p:sp>
        <p:nvSpPr>
          <p:cNvPr id="117" name="Text 31"/>
          <p:cNvSpPr/>
          <p:nvPr/>
        </p:nvSpPr>
        <p:spPr>
          <a:xfrm>
            <a:off x="6638163" y="5989320"/>
            <a:ext cx="190652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C7068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创新实验与协作空间</a:t>
            </a:r>
            <a:endParaRPr lang="en-US" sz="1100" dirty="0"/>
          </a:p>
        </p:txBody>
      </p:sp>
      <p:sp>
        <p:nvSpPr>
          <p:cNvPr id="118" name="Shape 32"/>
          <p:cNvSpPr/>
          <p:nvPr/>
        </p:nvSpPr>
        <p:spPr>
          <a:xfrm>
            <a:off x="8965311" y="5349240"/>
            <a:ext cx="2363724" cy="1024128"/>
          </a:xfrm>
          <a:prstGeom prst="roundRect">
            <a:avLst>
              <a:gd name="adj" fmla="val 8929"/>
            </a:avLst>
          </a:prstGeom>
          <a:solidFill>
            <a:srgbClr val="F6D7D0"/>
          </a:solidFill>
          <a:ln w="12700">
            <a:solidFill>
              <a:srgbClr val="EEBCB1"/>
            </a:solidFill>
            <a:prstDash val="solid"/>
          </a:ln>
        </p:spPr>
      </p:sp>
      <p:pic>
        <p:nvPicPr>
          <p:cNvPr id="119" name="Image 7" descr="/home/claude/emoji/rock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4767" y="5532120"/>
            <a:ext cx="365760" cy="365760"/>
          </a:xfrm>
          <a:prstGeom prst="rect">
            <a:avLst/>
          </a:prstGeom>
        </p:spPr>
      </p:pic>
      <p:sp>
        <p:nvSpPr>
          <p:cNvPr id="120" name="Text 33"/>
          <p:cNvSpPr/>
          <p:nvPr/>
        </p:nvSpPr>
        <p:spPr>
          <a:xfrm>
            <a:off x="9641967" y="5513832"/>
            <a:ext cx="15590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5503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AI 微创业</a:t>
            </a:r>
            <a:endParaRPr lang="en-US" sz="1700" dirty="0"/>
          </a:p>
        </p:txBody>
      </p:sp>
      <p:sp>
        <p:nvSpPr>
          <p:cNvPr id="121" name="Text 34"/>
          <p:cNvSpPr/>
          <p:nvPr/>
        </p:nvSpPr>
        <p:spPr>
          <a:xfrm>
            <a:off x="9203055" y="5989320"/>
            <a:ext cx="1906524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C7068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从创意到创业的孵化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461962" y="49488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 dirty="0" err="1">
                <a:solidFill>
                  <a:schemeClr val="tx1"/>
                </a:solidFill>
                <a:sym typeface="+mn-ea"/>
              </a:rPr>
              <a:t>共建</a:t>
            </a:r>
            <a:r>
              <a:rPr lang="en-US" altLang="zh-CN" sz="3600" dirty="0" err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3600" dirty="0" err="1">
                <a:solidFill>
                  <a:schemeClr val="tx1"/>
                </a:solidFill>
                <a:sym typeface="+mn-ea"/>
              </a:rPr>
              <a:t>学习中心：从开放知识到开放资源</a:t>
            </a:r>
          </a:p>
        </p:txBody>
      </p:sp>
      <p:sp>
        <p:nvSpPr>
          <p:cNvPr id="7" name="文本占位符 26"/>
          <p:cNvSpPr>
            <a:spLocks noGrp="1"/>
          </p:cNvSpPr>
          <p:nvPr/>
        </p:nvSpPr>
        <p:spPr>
          <a:xfrm>
            <a:off x="735330" y="1102995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1. 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科技企业类、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2. 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高校学院类、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3. 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地方政府类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4. 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国家媒体类、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5.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社团组织类</a:t>
            </a: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6557645" y="2352040"/>
            <a:ext cx="5146040" cy="3420745"/>
          </a:xfrm>
          <a:prstGeom prst="rect">
            <a:avLst/>
          </a:prstGeom>
        </p:spPr>
      </p:pic>
      <p:pic>
        <p:nvPicPr>
          <p:cNvPr id="3" name="图片 2" descr="995eb13e1427ed1ba91eeb473abfa3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2351405"/>
            <a:ext cx="5955665" cy="33502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461962" y="49488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 dirty="0" err="1">
                <a:solidFill>
                  <a:schemeClr val="tx1"/>
                </a:solidFill>
                <a:sym typeface="+mn-ea"/>
              </a:rPr>
              <a:t>共建</a:t>
            </a:r>
            <a:r>
              <a:rPr lang="en-US" altLang="zh-CN" sz="3600" dirty="0" err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3600" dirty="0" err="1">
                <a:solidFill>
                  <a:schemeClr val="tx1"/>
                </a:solidFill>
                <a:sym typeface="+mn-ea"/>
              </a:rPr>
              <a:t>学习中心：从开放知识到开放资源</a:t>
            </a:r>
          </a:p>
        </p:txBody>
      </p:sp>
      <p:sp>
        <p:nvSpPr>
          <p:cNvPr id="39" name="Text 1"/>
          <p:cNvSpPr/>
          <p:nvPr/>
        </p:nvSpPr>
        <p:spPr>
          <a:xfrm>
            <a:off x="2551430" y="137160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三</a:t>
            </a:r>
            <a:r>
              <a:rPr lang="zh-CN" altLang="en-US" sz="14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大</a:t>
            </a:r>
            <a:r>
              <a:rPr lang="en-US" sz="14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学习中心 · 学科覆盖面</a:t>
            </a:r>
            <a:endParaRPr lang="en-US" sz="1400" dirty="0"/>
          </a:p>
        </p:txBody>
      </p:sp>
      <p:sp>
        <p:nvSpPr>
          <p:cNvPr id="42" name="Shape 4"/>
          <p:cNvSpPr/>
          <p:nvPr/>
        </p:nvSpPr>
        <p:spPr>
          <a:xfrm>
            <a:off x="2551430" y="182880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EAF3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3" name="Text 5"/>
          <p:cNvSpPr/>
          <p:nvPr/>
        </p:nvSpPr>
        <p:spPr>
          <a:xfrm>
            <a:off x="2780030" y="1920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上海交通大学</a:t>
            </a:r>
            <a:endParaRPr lang="en-US" sz="1600" dirty="0"/>
          </a:p>
        </p:txBody>
      </p:sp>
      <p:sp>
        <p:nvSpPr>
          <p:cNvPr id="44" name="Text 6"/>
          <p:cNvSpPr/>
          <p:nvPr/>
        </p:nvSpPr>
        <p:spPr>
          <a:xfrm>
            <a:off x="7854950" y="19202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85FA5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经管</a:t>
            </a:r>
            <a:endParaRPr lang="en-US" sz="1300" dirty="0"/>
          </a:p>
        </p:txBody>
      </p:sp>
      <p:sp>
        <p:nvSpPr>
          <p:cNvPr id="45" name="Text 7"/>
          <p:cNvSpPr/>
          <p:nvPr/>
        </p:nvSpPr>
        <p:spPr>
          <a:xfrm>
            <a:off x="2780030" y="228600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× 安泰经济与管理学院</a:t>
            </a:r>
            <a:endParaRPr lang="en-US" sz="1200" dirty="0"/>
          </a:p>
        </p:txBody>
      </p:sp>
      <p:sp>
        <p:nvSpPr>
          <p:cNvPr id="46" name="Text 8"/>
          <p:cNvSpPr/>
          <p:nvPr/>
        </p:nvSpPr>
        <p:spPr>
          <a:xfrm>
            <a:off x="2780030" y="2633472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3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核心</a:t>
            </a:r>
            <a:r>
              <a:rPr lang="en-US" altLang="zh-CN" sz="13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：</a:t>
            </a:r>
            <a:r>
              <a:rPr lang="en-US" sz="13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AI+经管实训营 · 连续三年</a:t>
            </a:r>
            <a:endParaRPr lang="en-US" sz="1300" dirty="0"/>
          </a:p>
        </p:txBody>
      </p:sp>
      <p:sp>
        <p:nvSpPr>
          <p:cNvPr id="47" name="Shape 9"/>
          <p:cNvSpPr/>
          <p:nvPr/>
        </p:nvSpPr>
        <p:spPr>
          <a:xfrm>
            <a:off x="2551430" y="320040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EAF3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8" name="Text 10"/>
          <p:cNvSpPr/>
          <p:nvPr/>
        </p:nvSpPr>
        <p:spPr>
          <a:xfrm>
            <a:off x="2780030" y="32918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东南大学</a:t>
            </a:r>
            <a:endParaRPr lang="en-US" sz="1600" dirty="0"/>
          </a:p>
        </p:txBody>
      </p:sp>
      <p:sp>
        <p:nvSpPr>
          <p:cNvPr id="49" name="Text 11"/>
          <p:cNvSpPr/>
          <p:nvPr/>
        </p:nvSpPr>
        <p:spPr>
          <a:xfrm>
            <a:off x="7854950" y="32918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85FA5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理工 </a:t>
            </a:r>
            <a:endParaRPr lang="en-US" sz="1300" dirty="0"/>
          </a:p>
        </p:txBody>
      </p:sp>
      <p:sp>
        <p:nvSpPr>
          <p:cNvPr id="50" name="Text 12"/>
          <p:cNvSpPr/>
          <p:nvPr/>
        </p:nvSpPr>
        <p:spPr>
          <a:xfrm>
            <a:off x="2780030" y="365760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× 国家卓越工程师学院</a:t>
            </a:r>
            <a:endParaRPr lang="en-US" sz="1200" dirty="0"/>
          </a:p>
        </p:txBody>
      </p:sp>
      <p:sp>
        <p:nvSpPr>
          <p:cNvPr id="51" name="Text 13"/>
          <p:cNvSpPr/>
          <p:nvPr/>
        </p:nvSpPr>
        <p:spPr>
          <a:xfrm>
            <a:off x="2780030" y="4005072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3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核心</a:t>
            </a:r>
            <a:r>
              <a:rPr lang="en-US" altLang="zh-CN" sz="13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：</a:t>
            </a:r>
            <a:r>
              <a:rPr lang="en-US" sz="13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大模型实训营</a:t>
            </a:r>
            <a:endParaRPr lang="en-US" sz="1300" dirty="0"/>
          </a:p>
        </p:txBody>
      </p:sp>
      <p:sp>
        <p:nvSpPr>
          <p:cNvPr id="52" name="Shape 14"/>
          <p:cNvSpPr/>
          <p:nvPr/>
        </p:nvSpPr>
        <p:spPr>
          <a:xfrm>
            <a:off x="2551430" y="457200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EAF3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53" name="Text 15"/>
          <p:cNvSpPr/>
          <p:nvPr/>
        </p:nvSpPr>
        <p:spPr>
          <a:xfrm>
            <a:off x="2780030" y="46634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浙江大学</a:t>
            </a:r>
            <a:endParaRPr lang="en-US" sz="1600" dirty="0"/>
          </a:p>
        </p:txBody>
      </p:sp>
      <p:sp>
        <p:nvSpPr>
          <p:cNvPr id="54" name="Text 16"/>
          <p:cNvSpPr/>
          <p:nvPr/>
        </p:nvSpPr>
        <p:spPr>
          <a:xfrm>
            <a:off x="7854950" y="46634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85FA5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通识</a:t>
            </a:r>
            <a:endParaRPr lang="en-US" sz="1300" dirty="0"/>
          </a:p>
        </p:txBody>
      </p:sp>
      <p:sp>
        <p:nvSpPr>
          <p:cNvPr id="55" name="Text 17"/>
          <p:cNvSpPr/>
          <p:nvPr/>
        </p:nvSpPr>
        <p:spPr>
          <a:xfrm>
            <a:off x="2780030" y="502920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× </a:t>
            </a:r>
            <a:r>
              <a:rPr lang="zh-CN" altLang="en-US" sz="12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浙大未来学习中心</a:t>
            </a:r>
          </a:p>
        </p:txBody>
      </p:sp>
      <p:sp>
        <p:nvSpPr>
          <p:cNvPr id="56" name="Text 18"/>
          <p:cNvSpPr/>
          <p:nvPr/>
        </p:nvSpPr>
        <p:spPr>
          <a:xfrm>
            <a:off x="2780030" y="5376672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3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核心</a:t>
            </a:r>
            <a:r>
              <a:rPr lang="en-US" altLang="zh-CN" sz="13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：</a:t>
            </a:r>
            <a:r>
              <a:rPr lang="en-US" sz="13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Datawhale-ZJU 开源社区</a:t>
            </a:r>
            <a:endParaRPr lang="en-US" sz="1300" dirty="0"/>
          </a:p>
        </p:txBody>
      </p:sp>
      <p:sp>
        <p:nvSpPr>
          <p:cNvPr id="68" name="Text 30"/>
          <p:cNvSpPr/>
          <p:nvPr/>
        </p:nvSpPr>
        <p:spPr>
          <a:xfrm>
            <a:off x="468630" y="59893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学习中心是接口，学院是实体</a:t>
            </a:r>
            <a:endParaRPr lang="en-US" sz="1800" dirty="0"/>
          </a:p>
        </p:txBody>
      </p:sp>
      <p:sp>
        <p:nvSpPr>
          <p:cNvPr id="69" name="Text 31"/>
          <p:cNvSpPr/>
          <p:nvPr/>
        </p:nvSpPr>
        <p:spPr>
          <a:xfrm>
            <a:off x="468630" y="635508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从单点共建到系统共建</a:t>
            </a:r>
            <a:endParaRPr lang="en-US" sz="13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461962" y="49488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>
                <a:solidFill>
                  <a:schemeClr val="tx1"/>
                </a:solidFill>
                <a:sym typeface="+mn-ea"/>
              </a:rPr>
              <a:t>国内首个人工智能开源生态学院</a:t>
            </a:r>
            <a:endParaRPr lang="zh-CN" altLang="en-US" sz="3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占位符 26"/>
          <p:cNvSpPr>
            <a:spLocks noGrp="1"/>
          </p:cNvSpPr>
          <p:nvPr/>
        </p:nvSpPr>
        <p:spPr>
          <a:xfrm>
            <a:off x="735330" y="1102995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校地企联合共建：杭州电子科技大学、西湖区政府、</a:t>
            </a:r>
            <a:r>
              <a:rPr lang="en-US" altLang="zh-CN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Datawhale</a:t>
            </a:r>
            <a:br>
              <a:rPr lang="en-US" altLang="zh-CN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</a:b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产业生态伙伴：魔搭社区、云谷中心、蚂蚁集团</a:t>
            </a:r>
          </a:p>
        </p:txBody>
      </p:sp>
      <p:pic>
        <p:nvPicPr>
          <p:cNvPr id="11" name="图片 10" descr="人的照片上写着字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97" y="1964055"/>
            <a:ext cx="5568342" cy="3936508"/>
          </a:xfrm>
          <a:prstGeom prst="rect">
            <a:avLst/>
          </a:prstGeom>
        </p:spPr>
      </p:pic>
      <p:pic>
        <p:nvPicPr>
          <p:cNvPr id="13" name="图片 12" descr="礼堂里有许多人&#10;&#10;AI 生成的内容可能不正确。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685" y="1964055"/>
            <a:ext cx="5873625" cy="39157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461962" y="49488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 dirty="0" err="1">
                <a:solidFill>
                  <a:schemeClr val="tx1"/>
                </a:solidFill>
                <a:sym typeface="+mn-ea"/>
              </a:rPr>
              <a:t>没有围墙的学院</a:t>
            </a:r>
            <a:r>
              <a:rPr lang="en-US" altLang="zh-CN" sz="3600" dirty="0" err="1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3600" dirty="0" err="1">
                <a:solidFill>
                  <a:schemeClr val="tx1"/>
                </a:solidFill>
                <a:sym typeface="+mn-ea"/>
              </a:rPr>
              <a:t>人工智能开源生态学院</a:t>
            </a:r>
          </a:p>
        </p:txBody>
      </p:sp>
      <p:sp>
        <p:nvSpPr>
          <p:cNvPr id="6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校地企融合的系统样板</a:t>
            </a:r>
            <a:endParaRPr lang="en-US" sz="1400" dirty="0"/>
          </a:p>
        </p:txBody>
      </p:sp>
      <p:sp>
        <p:nvSpPr>
          <p:cNvPr id="7" name="Shape 2"/>
          <p:cNvSpPr/>
          <p:nvPr/>
        </p:nvSpPr>
        <p:spPr>
          <a:xfrm>
            <a:off x="640080" y="14630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AF3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30" name="Text 3"/>
          <p:cNvSpPr/>
          <p:nvPr/>
        </p:nvSpPr>
        <p:spPr>
          <a:xfrm>
            <a:off x="640080" y="1508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杭州电子科技大学</a:t>
            </a:r>
            <a:endParaRPr lang="en-US" sz="1500" dirty="0"/>
          </a:p>
        </p:txBody>
      </p:sp>
      <p:sp>
        <p:nvSpPr>
          <p:cNvPr id="31" name="Text 4"/>
          <p:cNvSpPr/>
          <p:nvPr/>
        </p:nvSpPr>
        <p:spPr>
          <a:xfrm>
            <a:off x="640080" y="1965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5FA5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校</a:t>
            </a:r>
            <a:endParaRPr lang="en-US" sz="1200" dirty="0"/>
          </a:p>
        </p:txBody>
      </p:sp>
      <p:sp>
        <p:nvSpPr>
          <p:cNvPr id="32" name="Shape 5"/>
          <p:cNvSpPr/>
          <p:nvPr/>
        </p:nvSpPr>
        <p:spPr>
          <a:xfrm>
            <a:off x="2423160" y="2377440"/>
            <a:ext cx="0" cy="320040"/>
          </a:xfrm>
          <a:prstGeom prst="line">
            <a:avLst/>
          </a:prstGeom>
          <a:noFill/>
          <a:ln w="63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33" name="Shape 6"/>
          <p:cNvSpPr/>
          <p:nvPr/>
        </p:nvSpPr>
        <p:spPr>
          <a:xfrm>
            <a:off x="4343400" y="14630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AF3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34" name="Text 7"/>
          <p:cNvSpPr/>
          <p:nvPr/>
        </p:nvSpPr>
        <p:spPr>
          <a:xfrm>
            <a:off x="4343400" y="1508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西湖区政府</a:t>
            </a:r>
            <a:endParaRPr lang="en-US" sz="1500" dirty="0"/>
          </a:p>
        </p:txBody>
      </p:sp>
      <p:sp>
        <p:nvSpPr>
          <p:cNvPr id="35" name="Text 8"/>
          <p:cNvSpPr/>
          <p:nvPr/>
        </p:nvSpPr>
        <p:spPr>
          <a:xfrm>
            <a:off x="4343400" y="1965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5FA5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地</a:t>
            </a:r>
            <a:endParaRPr lang="en-US" sz="1200" dirty="0"/>
          </a:p>
        </p:txBody>
      </p:sp>
      <p:sp>
        <p:nvSpPr>
          <p:cNvPr id="36" name="Shape 9"/>
          <p:cNvSpPr/>
          <p:nvPr/>
        </p:nvSpPr>
        <p:spPr>
          <a:xfrm>
            <a:off x="6126480" y="2377440"/>
            <a:ext cx="0" cy="320040"/>
          </a:xfrm>
          <a:prstGeom prst="line">
            <a:avLst/>
          </a:prstGeom>
          <a:noFill/>
          <a:ln w="63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37" name="Shape 10"/>
          <p:cNvSpPr/>
          <p:nvPr/>
        </p:nvSpPr>
        <p:spPr>
          <a:xfrm>
            <a:off x="8046720" y="14630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AF3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38" name="Text 11"/>
          <p:cNvSpPr/>
          <p:nvPr/>
        </p:nvSpPr>
        <p:spPr>
          <a:xfrm>
            <a:off x="8046720" y="1508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Datawhale</a:t>
            </a:r>
            <a:endParaRPr lang="en-US" sz="1500" dirty="0"/>
          </a:p>
        </p:txBody>
      </p:sp>
      <p:sp>
        <p:nvSpPr>
          <p:cNvPr id="39" name="Text 12"/>
          <p:cNvSpPr/>
          <p:nvPr/>
        </p:nvSpPr>
        <p:spPr>
          <a:xfrm>
            <a:off x="8046720" y="1965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5FA5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企 / 社区</a:t>
            </a:r>
            <a:endParaRPr lang="en-US" sz="1200" dirty="0"/>
          </a:p>
        </p:txBody>
      </p:sp>
      <p:sp>
        <p:nvSpPr>
          <p:cNvPr id="40" name="Shape 13"/>
          <p:cNvSpPr/>
          <p:nvPr/>
        </p:nvSpPr>
        <p:spPr>
          <a:xfrm>
            <a:off x="9829800" y="2377440"/>
            <a:ext cx="0" cy="320040"/>
          </a:xfrm>
          <a:prstGeom prst="line">
            <a:avLst/>
          </a:prstGeom>
          <a:noFill/>
          <a:ln w="63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41" name="Shape 14"/>
          <p:cNvSpPr/>
          <p:nvPr/>
        </p:nvSpPr>
        <p:spPr>
          <a:xfrm>
            <a:off x="1645920" y="2788920"/>
            <a:ext cx="8869680" cy="2240280"/>
          </a:xfrm>
          <a:prstGeom prst="roundRect">
            <a:avLst>
              <a:gd name="adj" fmla="val 3265"/>
            </a:avLst>
          </a:prstGeom>
          <a:solidFill>
            <a:srgbClr val="FAEEDA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42" name="Text 15"/>
          <p:cNvSpPr/>
          <p:nvPr/>
        </p:nvSpPr>
        <p:spPr>
          <a:xfrm>
            <a:off x="1645920" y="2834640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人工智能开源生态学院 · 四大中心</a:t>
            </a:r>
            <a:endParaRPr lang="en-US" sz="1600" dirty="0"/>
          </a:p>
        </p:txBody>
      </p:sp>
      <p:sp>
        <p:nvSpPr>
          <p:cNvPr id="43" name="Shape 16"/>
          <p:cNvSpPr/>
          <p:nvPr/>
        </p:nvSpPr>
        <p:spPr>
          <a:xfrm>
            <a:off x="1920240" y="3291840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E6F7F0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44" name="Text 17"/>
          <p:cNvSpPr/>
          <p:nvPr/>
        </p:nvSpPr>
        <p:spPr>
          <a:xfrm>
            <a:off x="2103120" y="33832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6E56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AI学习中心</a:t>
            </a:r>
            <a:endParaRPr lang="en-US" sz="1400" dirty="0"/>
          </a:p>
        </p:txBody>
      </p:sp>
      <p:sp>
        <p:nvSpPr>
          <p:cNvPr id="45" name="Text 18"/>
          <p:cNvSpPr/>
          <p:nvPr/>
        </p:nvSpPr>
        <p:spPr>
          <a:xfrm>
            <a:off x="4389120" y="33832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降低入门门槛</a:t>
            </a:r>
          </a:p>
        </p:txBody>
      </p:sp>
      <p:sp>
        <p:nvSpPr>
          <p:cNvPr id="46" name="Shape 19"/>
          <p:cNvSpPr/>
          <p:nvPr/>
        </p:nvSpPr>
        <p:spPr>
          <a:xfrm>
            <a:off x="6355080" y="3291840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FCEFEA"/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47" name="Text 20"/>
          <p:cNvSpPr/>
          <p:nvPr/>
        </p:nvSpPr>
        <p:spPr>
          <a:xfrm>
            <a:off x="6537960" y="33832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93C1D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OPC 孵化中心</a:t>
            </a:r>
            <a:endParaRPr lang="en-US" sz="1400" dirty="0"/>
          </a:p>
        </p:txBody>
      </p:sp>
      <p:sp>
        <p:nvSpPr>
          <p:cNvPr id="48" name="Text 21"/>
          <p:cNvSpPr/>
          <p:nvPr/>
        </p:nvSpPr>
        <p:spPr>
          <a:xfrm>
            <a:off x="8823960" y="33832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激活创造力</a:t>
            </a:r>
          </a:p>
        </p:txBody>
      </p:sp>
      <p:sp>
        <p:nvSpPr>
          <p:cNvPr id="49" name="Shape 22"/>
          <p:cNvSpPr/>
          <p:nvPr/>
        </p:nvSpPr>
        <p:spPr>
          <a:xfrm>
            <a:off x="1920240" y="4114800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50" name="Text 23"/>
          <p:cNvSpPr/>
          <p:nvPr/>
        </p:nvSpPr>
        <p:spPr>
          <a:xfrm>
            <a:off x="2103120" y="420624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人才评价中心</a:t>
            </a:r>
            <a:endParaRPr lang="en-US" sz="1400" dirty="0"/>
          </a:p>
        </p:txBody>
      </p:sp>
      <p:sp>
        <p:nvSpPr>
          <p:cNvPr id="51" name="Text 24"/>
          <p:cNvSpPr/>
          <p:nvPr/>
        </p:nvSpPr>
        <p:spPr>
          <a:xfrm>
            <a:off x="4343400" y="4206240"/>
            <a:ext cx="1742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建立能力标准</a:t>
            </a:r>
          </a:p>
        </p:txBody>
      </p:sp>
      <p:sp>
        <p:nvSpPr>
          <p:cNvPr id="52" name="Shape 25"/>
          <p:cNvSpPr/>
          <p:nvPr/>
        </p:nvSpPr>
        <p:spPr>
          <a:xfrm>
            <a:off x="6355080" y="4114800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E6F7F0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53" name="Text 26"/>
          <p:cNvSpPr/>
          <p:nvPr/>
        </p:nvSpPr>
        <p:spPr>
          <a:xfrm>
            <a:off x="6537960" y="420624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6E56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行业赋能中心</a:t>
            </a:r>
            <a:endParaRPr lang="en-US" sz="1400" dirty="0"/>
          </a:p>
        </p:txBody>
      </p:sp>
      <p:sp>
        <p:nvSpPr>
          <p:cNvPr id="54" name="Text 27"/>
          <p:cNvSpPr/>
          <p:nvPr/>
        </p:nvSpPr>
        <p:spPr>
          <a:xfrm>
            <a:off x="8823960" y="42062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1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链接产业需求</a:t>
            </a:r>
          </a:p>
        </p:txBody>
      </p:sp>
      <p:sp>
        <p:nvSpPr>
          <p:cNvPr id="55" name="Shape 28"/>
          <p:cNvSpPr/>
          <p:nvPr/>
        </p:nvSpPr>
        <p:spPr>
          <a:xfrm>
            <a:off x="6080760" y="5029200"/>
            <a:ext cx="0" cy="320040"/>
          </a:xfrm>
          <a:prstGeom prst="line">
            <a:avLst/>
          </a:prstGeom>
          <a:noFill/>
          <a:ln w="63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56" name="Shape 29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3EE"/>
          </a:solidFill>
          <a:ln w="6350">
            <a:solidFill>
              <a:srgbClr val="B4B2A9"/>
            </a:solidFill>
            <a:prstDash val="solid"/>
          </a:ln>
        </p:spPr>
      </p:sp>
      <p:sp>
        <p:nvSpPr>
          <p:cNvPr id="57" name="Text 30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五大生态伙伴</a:t>
            </a:r>
            <a:endParaRPr lang="en-US" sz="1300" dirty="0"/>
          </a:p>
        </p:txBody>
      </p:sp>
      <p:sp>
        <p:nvSpPr>
          <p:cNvPr id="58" name="Text 31"/>
          <p:cNvSpPr/>
          <p:nvPr/>
        </p:nvSpPr>
        <p:spPr>
          <a:xfrm>
            <a:off x="640080" y="58521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魔搭社区</a:t>
            </a:r>
            <a:endParaRPr lang="en-US" sz="1200" dirty="0"/>
          </a:p>
        </p:txBody>
      </p:sp>
      <p:sp>
        <p:nvSpPr>
          <p:cNvPr id="59" name="Text 32"/>
          <p:cNvSpPr/>
          <p:nvPr/>
        </p:nvSpPr>
        <p:spPr>
          <a:xfrm>
            <a:off x="2852928" y="58521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云谷中心</a:t>
            </a:r>
            <a:endParaRPr lang="en-US" sz="1200" dirty="0"/>
          </a:p>
        </p:txBody>
      </p:sp>
      <p:sp>
        <p:nvSpPr>
          <p:cNvPr id="60" name="Text 33"/>
          <p:cNvSpPr/>
          <p:nvPr/>
        </p:nvSpPr>
        <p:spPr>
          <a:xfrm>
            <a:off x="5065776" y="58521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蚂蚁集团</a:t>
            </a:r>
            <a:endParaRPr lang="en-US" sz="1200" dirty="0"/>
          </a:p>
        </p:txBody>
      </p:sp>
      <p:sp>
        <p:nvSpPr>
          <p:cNvPr id="61" name="Text 34"/>
          <p:cNvSpPr/>
          <p:nvPr/>
        </p:nvSpPr>
        <p:spPr>
          <a:xfrm>
            <a:off x="7278370" y="5852160"/>
            <a:ext cx="214185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天工开物开源基金会</a:t>
            </a:r>
            <a:endParaRPr lang="en-US" altLang="zh-CN" sz="1200" dirty="0">
              <a:solidFill>
                <a:srgbClr val="111827"/>
              </a:solidFill>
              <a:latin typeface="Source Han Sans CN" pitchFamily="34" charset="0"/>
              <a:ea typeface="Source Han Sans CN" pitchFamily="34" charset="-122"/>
              <a:cs typeface="Source Han Sans CN" pitchFamily="34" charset="-120"/>
            </a:endParaRPr>
          </a:p>
        </p:txBody>
      </p:sp>
      <p:sp>
        <p:nvSpPr>
          <p:cNvPr id="62" name="Text 35"/>
          <p:cNvSpPr/>
          <p:nvPr/>
        </p:nvSpPr>
        <p:spPr>
          <a:xfrm>
            <a:off x="9491472" y="58521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dirty="0">
                <a:solidFill>
                  <a:srgbClr val="111827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  <a:sym typeface="+mn-ea"/>
              </a:rPr>
              <a:t>杭州资本</a:t>
            </a:r>
            <a:endParaRPr lang="en-US" sz="1200" dirty="0"/>
          </a:p>
        </p:txBody>
      </p:sp>
      <p:sp>
        <p:nvSpPr>
          <p:cNvPr id="63" name="Text 36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学校 + 政府 + 社区第一次站在一起，「没有围墙」成为地图上的坐标</a:t>
            </a:r>
            <a:endParaRPr lang="en-US" sz="1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461962" y="49488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>
                <a:solidFill>
                  <a:schemeClr val="tx1"/>
                </a:solidFill>
                <a:sym typeface="+mn-ea"/>
              </a:rPr>
              <a:t>国内首个</a:t>
            </a:r>
            <a:r>
              <a:rPr lang="en-US" altLang="zh-CN" sz="3600">
                <a:solidFill>
                  <a:schemeClr val="tx1"/>
                </a:solidFill>
                <a:sym typeface="+mn-ea"/>
              </a:rPr>
              <a:t>OPC AI</a:t>
            </a:r>
            <a:r>
              <a:rPr lang="zh-CN" altLang="en-US" sz="3600">
                <a:solidFill>
                  <a:schemeClr val="tx1"/>
                </a:solidFill>
                <a:sym typeface="+mn-ea"/>
              </a:rPr>
              <a:t>开源生态孵化中心</a:t>
            </a:r>
            <a:br>
              <a:rPr lang="zh-CN" altLang="en-US" sz="3600">
                <a:solidFill>
                  <a:schemeClr val="tx1"/>
                </a:solidFill>
                <a:sym typeface="+mn-ea"/>
              </a:rPr>
            </a:br>
            <a:r>
              <a:rPr lang="en-US" altLang="zh-CN" sz="2400" b="0">
                <a:solidFill>
                  <a:schemeClr val="tx1"/>
                </a:solidFill>
                <a:sym typeface="+mn-ea"/>
              </a:rPr>
              <a:t>（</a:t>
            </a:r>
            <a:r>
              <a:rPr lang="zh-CN" altLang="en-US" sz="2400" b="0">
                <a:solidFill>
                  <a:schemeClr val="tx1"/>
                </a:solidFill>
                <a:sym typeface="+mn-ea"/>
              </a:rPr>
              <a:t>武汉市洪武区</a:t>
            </a:r>
            <a:r>
              <a:rPr lang="en-US" altLang="zh-CN" sz="2400" b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2400" b="0">
                <a:solidFill>
                  <a:schemeClr val="tx1"/>
                </a:solidFill>
                <a:sym typeface="+mn-ea"/>
              </a:rPr>
              <a:t>华中科技大学</a:t>
            </a:r>
            <a:r>
              <a:rPr lang="en-US" altLang="zh-CN" sz="2400" b="0">
                <a:solidFill>
                  <a:schemeClr val="tx1"/>
                </a:solidFill>
                <a:sym typeface="+mn-ea"/>
              </a:rPr>
              <a:t>、</a:t>
            </a:r>
            <a:r>
              <a:rPr lang="zh-CN" altLang="en-US" sz="2400" b="0">
                <a:solidFill>
                  <a:schemeClr val="tx1"/>
                </a:solidFill>
                <a:sym typeface="+mn-ea"/>
              </a:rPr>
              <a:t>天工开物开源基金会</a:t>
            </a:r>
            <a:r>
              <a:rPr lang="en-US" altLang="zh-CN" sz="2400" b="0">
                <a:solidFill>
                  <a:schemeClr val="tx1"/>
                </a:solidFill>
                <a:sym typeface="+mn-ea"/>
              </a:rPr>
              <a:t>、Datawhale）</a:t>
            </a:r>
          </a:p>
        </p:txBody>
      </p:sp>
      <p:pic>
        <p:nvPicPr>
          <p:cNvPr id="3" name="图片 2" descr="8496a60a9d845775a1a46487f404a97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985" y="1564005"/>
            <a:ext cx="7351395" cy="49072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四年培养之后，我们到底要交付什么样的人？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4F3EE"/>
          </a:solidFill>
          <a:ln w="6350">
            <a:solidFill>
              <a:srgbClr val="B4B2A9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培养「</a:t>
            </a:r>
            <a:r>
              <a:rPr lang="zh-CN" alt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知识型</a:t>
            </a:r>
            <a:r>
              <a:rPr 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」</a:t>
            </a:r>
            <a:r>
              <a:rPr lang="zh-CN" alt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的人才</a:t>
            </a:r>
          </a:p>
        </p:txBody>
      </p:sp>
      <p:sp>
        <p:nvSpPr>
          <p:cNvPr id="7" name="Shape 3"/>
          <p:cNvSpPr/>
          <p:nvPr/>
        </p:nvSpPr>
        <p:spPr>
          <a:xfrm>
            <a:off x="5897880" y="1554480"/>
            <a:ext cx="50292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4"/>
          <p:cNvSpPr/>
          <p:nvPr/>
        </p:nvSpPr>
        <p:spPr>
          <a:xfrm>
            <a:off x="6400800" y="132588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0" y="1325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知识</a:t>
            </a:r>
            <a:r>
              <a:rPr lang="en-US" altLang="zh-CN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，AI</a:t>
            </a:r>
            <a:r>
              <a:rPr lang="zh-CN" altLang="en-US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记得更全</a:t>
            </a:r>
          </a:p>
        </p:txBody>
      </p:sp>
      <p:sp>
        <p:nvSpPr>
          <p:cNvPr id="10" name="Shape 6"/>
          <p:cNvSpPr/>
          <p:nvPr/>
        </p:nvSpPr>
        <p:spPr>
          <a:xfrm>
            <a:off x="548640" y="187452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4F3EE"/>
          </a:solidFill>
          <a:ln w="6350">
            <a:solidFill>
              <a:srgbClr val="B4B2A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18745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培养「</a:t>
            </a:r>
            <a:r>
              <a:rPr lang="zh-CN" alt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技能型</a:t>
            </a:r>
            <a:r>
              <a:rPr 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」的</a:t>
            </a:r>
            <a:r>
              <a:rPr lang="zh-CN" alt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人才</a:t>
            </a:r>
          </a:p>
        </p:txBody>
      </p:sp>
      <p:sp>
        <p:nvSpPr>
          <p:cNvPr id="12" name="Shape 8"/>
          <p:cNvSpPr/>
          <p:nvPr/>
        </p:nvSpPr>
        <p:spPr>
          <a:xfrm>
            <a:off x="5897880" y="2103120"/>
            <a:ext cx="50292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400800" y="187452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0" y="18745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技能</a:t>
            </a:r>
            <a:r>
              <a:rPr lang="en-US" altLang="zh-CN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，AI</a:t>
            </a:r>
            <a:r>
              <a:rPr lang="zh-CN" altLang="en-US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已经能做</a:t>
            </a:r>
          </a:p>
        </p:txBody>
      </p:sp>
      <p:sp>
        <p:nvSpPr>
          <p:cNvPr id="15" name="Shape 11"/>
          <p:cNvSpPr/>
          <p:nvPr/>
        </p:nvSpPr>
        <p:spPr>
          <a:xfrm>
            <a:off x="548640" y="242316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4F3EE"/>
          </a:solidFill>
          <a:ln w="6350">
            <a:solidFill>
              <a:srgbClr val="B4B2A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24231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培养「</a:t>
            </a:r>
            <a:r>
              <a:rPr lang="zh-CN" alt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执行型</a:t>
            </a:r>
            <a:r>
              <a:rPr 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」的</a:t>
            </a:r>
            <a:r>
              <a:rPr lang="zh-CN" altLang="en-US" sz="13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人才</a:t>
            </a:r>
          </a:p>
        </p:txBody>
      </p:sp>
      <p:sp>
        <p:nvSpPr>
          <p:cNvPr id="17" name="Shape 13"/>
          <p:cNvSpPr/>
          <p:nvPr/>
        </p:nvSpPr>
        <p:spPr>
          <a:xfrm>
            <a:off x="5897880" y="2651760"/>
            <a:ext cx="50292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400800" y="242316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0" y="24231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执行</a:t>
            </a:r>
            <a:r>
              <a:rPr lang="en-US" altLang="zh-CN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，</a:t>
            </a:r>
            <a:r>
              <a:rPr lang="zh-CN" altLang="en-US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正在</a:t>
            </a:r>
            <a:r>
              <a:rPr lang="en-US" sz="13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被自动化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320040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42C53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「AI 人才」的定义必须重新被书写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548640" y="379476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AEEDA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886200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8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OPC</a:t>
            </a:r>
            <a:endParaRPr lang="en-US" sz="8000" dirty="0"/>
          </a:p>
        </p:txBody>
      </p:sp>
      <p:sp>
        <p:nvSpPr>
          <p:cNvPr id="23" name="Text 19"/>
          <p:cNvSpPr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One Person Capability · 一人 AI 全栈能力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54F0B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能独立用 AI 完成价值交付的人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5E5A"/>
                </a:solidFill>
                <a:latin typeface="Source Han Sans CN" pitchFamily="34" charset="0"/>
                <a:ea typeface="Source Han Sans CN" pitchFamily="34" charset="-122"/>
                <a:cs typeface="Source Han Sans CN" pitchFamily="34" charset="-120"/>
              </a:rPr>
              <a:t>这才是 AI 时代真正的人才出口</a:t>
            </a:r>
            <a:endParaRPr lang="en-US" sz="15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5239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424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OPC 九级人才能力标准（试行）· 多方共建落地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283335"/>
            <a:ext cx="2011680" cy="1335024"/>
          </a:xfrm>
          <a:prstGeom prst="roundRect">
            <a:avLst>
              <a:gd name="adj" fmla="val 5479"/>
            </a:avLst>
          </a:prstGeom>
          <a:solidFill>
            <a:srgbClr val="2C5A8C"/>
          </a:solidFill>
        </p:spPr>
      </p:sp>
      <p:sp>
        <p:nvSpPr>
          <p:cNvPr id="4" name="Text 2"/>
          <p:cNvSpPr/>
          <p:nvPr/>
        </p:nvSpPr>
        <p:spPr>
          <a:xfrm>
            <a:off x="868680" y="1557655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Learner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194170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L1 – L3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179447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认知与实践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283335"/>
            <a:ext cx="2761488" cy="1335024"/>
          </a:xfrm>
          <a:prstGeom prst="roundRect">
            <a:avLst>
              <a:gd name="adj" fmla="val 4795"/>
            </a:avLst>
          </a:prstGeom>
          <a:solidFill>
            <a:srgbClr val="E9F0FA"/>
          </a:solidFill>
          <a:ln w="12700">
            <a:solidFill>
              <a:srgbClr val="2C5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393063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5A8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L1 · 认知者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35808" y="1722247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理解 OPC 概念</a:t>
            </a:r>
            <a:endParaRPr lang="en-US" sz="1100" dirty="0"/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具备 AI 素养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35808" y="2188591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E6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39312" y="2197735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C5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97735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5A8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Datawhale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1283335"/>
            <a:ext cx="2761488" cy="1335024"/>
          </a:xfrm>
          <a:prstGeom prst="roundRect">
            <a:avLst>
              <a:gd name="adj" fmla="val 4795"/>
            </a:avLst>
          </a:prstGeom>
          <a:solidFill>
            <a:srgbClr val="E9F0FA"/>
          </a:solidFill>
          <a:ln w="12700">
            <a:solidFill>
              <a:srgbClr val="2C5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1393063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5A8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L2 · 工具使用者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16168" y="1722247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熟用主流 AI 工具</a:t>
            </a:r>
            <a:endParaRPr lang="en-US" sz="1100" dirty="0"/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用对、用好工具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16168" y="2188591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E6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19672" y="2197735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C5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197735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5A8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商汤科技　高等教育出版社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0" y="1283335"/>
            <a:ext cx="2761488" cy="1335024"/>
          </a:xfrm>
          <a:prstGeom prst="roundRect">
            <a:avLst>
              <a:gd name="adj" fmla="val 4795"/>
            </a:avLst>
          </a:prstGeom>
          <a:solidFill>
            <a:srgbClr val="E9F0FA"/>
          </a:solidFill>
          <a:ln w="12700">
            <a:solidFill>
              <a:srgbClr val="2C5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96528" y="1393063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C5A8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L3 · 场景识别者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796528" y="1722247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识别可改造场景</a:t>
            </a:r>
            <a:endParaRPr lang="en-US" sz="1100" dirty="0"/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需求分析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96528" y="2188591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E6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400032" y="2197735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C5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2197735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50" b="1" dirty="0">
                <a:solidFill>
                  <a:srgbClr val="2C5A8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紫金港科技城</a:t>
            </a:r>
          </a:p>
        </p:txBody>
      </p:sp>
      <p:sp>
        <p:nvSpPr>
          <p:cNvPr id="25" name="Shape 23"/>
          <p:cNvSpPr/>
          <p:nvPr/>
        </p:nvSpPr>
        <p:spPr>
          <a:xfrm>
            <a:off x="777240" y="2737231"/>
            <a:ext cx="2011680" cy="1335024"/>
          </a:xfrm>
          <a:prstGeom prst="roundRect">
            <a:avLst>
              <a:gd name="adj" fmla="val 5479"/>
            </a:avLst>
          </a:prstGeom>
          <a:solidFill>
            <a:srgbClr val="3A7048"/>
          </a:solidFill>
        </p:spPr>
      </p:sp>
      <p:sp>
        <p:nvSpPr>
          <p:cNvPr id="26" name="Text 24"/>
          <p:cNvSpPr/>
          <p:nvPr/>
        </p:nvSpPr>
        <p:spPr>
          <a:xfrm>
            <a:off x="868680" y="3011551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Builder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8680" y="3395599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L4 – L6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36333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产品与交付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0" y="2737231"/>
            <a:ext cx="2761488" cy="1335024"/>
          </a:xfrm>
          <a:prstGeom prst="roundRect">
            <a:avLst>
              <a:gd name="adj" fmla="val 4795"/>
            </a:avLst>
          </a:prstGeom>
          <a:solidFill>
            <a:srgbClr val="E6F1E7"/>
          </a:solidFill>
          <a:ln w="12700">
            <a:solidFill>
              <a:srgbClr val="3A70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35808" y="2846959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A7048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L4 · 工作流搭建者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035808" y="3176143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组合多工具</a:t>
            </a:r>
            <a:endParaRPr lang="en-US" sz="1100" dirty="0"/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替代岗位职能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35808" y="3642487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E6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39312" y="3651631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70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651631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7048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商汤科技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06440" y="2737231"/>
            <a:ext cx="2761488" cy="1335024"/>
          </a:xfrm>
          <a:prstGeom prst="roundRect">
            <a:avLst>
              <a:gd name="adj" fmla="val 4795"/>
            </a:avLst>
          </a:prstGeom>
          <a:solidFill>
            <a:srgbClr val="E6F1E7"/>
          </a:solidFill>
          <a:ln w="12700">
            <a:solidFill>
              <a:srgbClr val="3A70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16168" y="2846959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A7048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L5 · 应用构建者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916168" y="3176143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独立做出 AI 应用</a:t>
            </a:r>
            <a:endParaRPr lang="en-US" sz="1100" dirty="0"/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可交付可运行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16168" y="3642487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E6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19672" y="3651631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A70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651631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7048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魔搭社区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686800" y="2737231"/>
            <a:ext cx="2761488" cy="1335024"/>
          </a:xfrm>
          <a:prstGeom prst="roundRect">
            <a:avLst>
              <a:gd name="adj" fmla="val 4795"/>
            </a:avLst>
          </a:prstGeom>
          <a:solidFill>
            <a:srgbClr val="FAEFD7"/>
          </a:solidFill>
          <a:ln w="25400">
            <a:solidFill>
              <a:srgbClr val="B85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96528" y="2846959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A8701A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L6 · 价值交付者 ★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8796528" y="3176143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A6018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真实商业交付</a:t>
            </a:r>
            <a:endParaRPr lang="en-US" sz="1100" dirty="0"/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A6018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从能做到被买单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796528" y="3642487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E6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400032" y="3651631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5C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3651631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701A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杭州资本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7240" y="4191127"/>
            <a:ext cx="2011680" cy="1335024"/>
          </a:xfrm>
          <a:prstGeom prst="roundRect">
            <a:avLst>
              <a:gd name="adj" fmla="val 5479"/>
            </a:avLst>
          </a:prstGeom>
          <a:solidFill>
            <a:srgbClr val="B85C3C"/>
          </a:solidFill>
        </p:spPr>
      </p:sp>
      <p:sp>
        <p:nvSpPr>
          <p:cNvPr id="48" name="Text 46"/>
          <p:cNvSpPr/>
          <p:nvPr/>
        </p:nvSpPr>
        <p:spPr>
          <a:xfrm>
            <a:off x="868680" y="4465447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Founder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868680" y="4849495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L7 – L9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68680" y="5087239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闭环与生态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926080" y="4191127"/>
            <a:ext cx="2761488" cy="1335024"/>
          </a:xfrm>
          <a:prstGeom prst="roundRect">
            <a:avLst>
              <a:gd name="adj" fmla="val 4795"/>
            </a:avLst>
          </a:prstGeom>
          <a:solidFill>
            <a:srgbClr val="FBEDE5"/>
          </a:solidFill>
          <a:ln w="12700">
            <a:solidFill>
              <a:srgbClr val="B85C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35808" y="4300855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85C3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L7 · 业务闭环者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3035808" y="4630039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获客→交付→收款</a:t>
            </a:r>
            <a:endParaRPr lang="en-US" sz="1100" dirty="0"/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持续稳定收入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035808" y="5096383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E6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39312" y="5105527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5C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0" y="5105527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5C3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西湖区组织部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806440" y="4191127"/>
            <a:ext cx="2761488" cy="1335024"/>
          </a:xfrm>
          <a:prstGeom prst="roundRect">
            <a:avLst>
              <a:gd name="adj" fmla="val 4795"/>
            </a:avLst>
          </a:prstGeom>
          <a:solidFill>
            <a:srgbClr val="FBEDE5"/>
          </a:solidFill>
          <a:ln w="12700">
            <a:solidFill>
              <a:srgbClr val="B85C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16168" y="4300855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85C3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L8 · 系统协作者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5916168" y="4630039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调度多 Agent</a:t>
            </a:r>
            <a:endParaRPr lang="en-US" sz="1100" dirty="0"/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一人多角运作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916168" y="5096383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E6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19672" y="5105527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5C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37960" y="5105527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5C3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浙江省智能经济与智慧城市促进会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686800" y="4191127"/>
            <a:ext cx="2761488" cy="1335024"/>
          </a:xfrm>
          <a:prstGeom prst="roundRect">
            <a:avLst>
              <a:gd name="adj" fmla="val 4795"/>
            </a:avLst>
          </a:prstGeom>
          <a:solidFill>
            <a:srgbClr val="FBEDE5"/>
          </a:solidFill>
          <a:ln w="12700">
            <a:solidFill>
              <a:srgbClr val="B85C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96528" y="4300855"/>
            <a:ext cx="2542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85C3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L9 · 生态贡献者</a:t>
            </a:r>
            <a:endParaRPr lang="en-US" sz="1450" dirty="0"/>
          </a:p>
        </p:txBody>
      </p:sp>
      <p:sp>
        <p:nvSpPr>
          <p:cNvPr id="65" name="Text 63"/>
          <p:cNvSpPr/>
          <p:nvPr/>
        </p:nvSpPr>
        <p:spPr>
          <a:xfrm>
            <a:off x="8796528" y="4630039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输出方法论</a:t>
            </a:r>
            <a:endParaRPr lang="en-US" sz="1100" dirty="0"/>
          </a:p>
          <a:p>
            <a:pPr marL="0" indent="0" algn="ctr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培养其他 OPC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796528" y="5096383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E6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试点落地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400032" y="5105527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5C3C"/>
            </a:solidFill>
            <a:prstDash val="solid"/>
          </a:ln>
        </p:spPr>
      </p:sp>
      <p:sp>
        <p:nvSpPr>
          <p:cNvPr id="127" name="Text 66"/>
          <p:cNvSpPr/>
          <p:nvPr/>
        </p:nvSpPr>
        <p:spPr>
          <a:xfrm>
            <a:off x="9418320" y="5105527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85C3C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Datawhale  魔搭社区  </a:t>
            </a:r>
            <a:r>
              <a:rPr lang="en-US" sz="850" b="1" dirty="0">
                <a:solidFill>
                  <a:srgbClr val="B85C3C"/>
                </a:solidFill>
                <a:latin typeface="微软雅黑" charset="0"/>
                <a:ea typeface="微软雅黑" charset="-122"/>
                <a:cs typeface="微软雅黑" pitchFamily="34" charset="-120"/>
                <a:sym typeface="+mn-ea"/>
              </a:rPr>
              <a:t>潮新闻</a:t>
            </a:r>
            <a:endParaRPr lang="en-US" sz="850" dirty="0"/>
          </a:p>
        </p:txBody>
      </p:sp>
      <p:sp>
        <p:nvSpPr>
          <p:cNvPr id="128" name="Shape 67"/>
          <p:cNvSpPr/>
          <p:nvPr/>
        </p:nvSpPr>
        <p:spPr>
          <a:xfrm>
            <a:off x="777240" y="5809615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33424E"/>
          </a:solidFill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9" name="Text 68"/>
          <p:cNvSpPr/>
          <p:nvPr/>
        </p:nvSpPr>
        <p:spPr>
          <a:xfrm>
            <a:off x="960120" y="5809615"/>
            <a:ext cx="4937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BEDE5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人工智能开源生态学院</a:t>
            </a:r>
            <a:endParaRPr lang="en-US" sz="2000" dirty="0"/>
          </a:p>
        </p:txBody>
      </p:sp>
      <p:sp>
        <p:nvSpPr>
          <p:cNvPr id="130" name="Shape 69"/>
          <p:cNvSpPr/>
          <p:nvPr/>
        </p:nvSpPr>
        <p:spPr>
          <a:xfrm>
            <a:off x="6446520" y="5809615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33424E"/>
          </a:solidFill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1" name="Text 70"/>
          <p:cNvSpPr/>
          <p:nvPr/>
        </p:nvSpPr>
        <p:spPr>
          <a:xfrm>
            <a:off x="6629400" y="5809615"/>
            <a:ext cx="4937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浙江省</a:t>
            </a:r>
            <a:endParaRPr lang="en-US" sz="1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BEDE5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人工智能学院</a:t>
            </a:r>
            <a:endParaRPr lang="en-US" sz="19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15239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424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OPC 九级人才能力标准·</a:t>
            </a:r>
            <a:r>
              <a:rPr lang="zh-CN" altLang="en-US" sz="2800" b="1" dirty="0">
                <a:solidFill>
                  <a:srgbClr val="33424E"/>
                </a:solidFill>
                <a:latin typeface="微软雅黑" charset="0"/>
                <a:ea typeface="微软雅黑" charset="-122"/>
                <a:cs typeface="微软雅黑" pitchFamily="34" charset="-120"/>
              </a:rPr>
              <a:t>以政策建议提交到教育部</a:t>
            </a: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0" y="1082040"/>
            <a:ext cx="7411085" cy="55397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/>
        </p:nvSpPr>
        <p:spPr>
          <a:xfrm>
            <a:off x="461962" y="494887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聚焦场景引领、</a:t>
            </a:r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技能、开放资源的</a:t>
            </a:r>
            <a:r>
              <a:rPr lang="en-US" altLang="zh-CN" sz="3600" dirty="0" err="1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 sz="3600" dirty="0" err="1">
                <a:solidFill>
                  <a:schemeClr val="tx1"/>
                </a:solidFill>
                <a:sym typeface="+mn-ea"/>
              </a:rPr>
              <a:t>学习平台</a:t>
            </a:r>
          </a:p>
        </p:txBody>
      </p:sp>
      <p:sp>
        <p:nvSpPr>
          <p:cNvPr id="7" name="文本占位符 26"/>
          <p:cNvSpPr>
            <a:spLocks noGrp="1"/>
          </p:cNvSpPr>
          <p:nvPr/>
        </p:nvSpPr>
        <p:spPr>
          <a:xfrm>
            <a:off x="735330" y="1102995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Datawhale AI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学习中心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汇聚相关生态伙伴，开放算力、模型、内容等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AI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学习资源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刚上线即影响全国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14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个城市</a:t>
            </a:r>
            <a:r>
              <a:rPr 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、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2000+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学习者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681" y="2048414"/>
            <a:ext cx="9012638" cy="247328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121" y="4559069"/>
            <a:ext cx="5873138" cy="21285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5"/>
          <p:cNvSpPr>
            <a:spLocks noGrp="1"/>
          </p:cNvSpPr>
          <p:nvPr/>
        </p:nvSpPr>
        <p:spPr>
          <a:xfrm>
            <a:off x="334962" y="491712"/>
            <a:ext cx="11522075" cy="494674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Alibaba PuHuiTi 2.0 55 Regular" panose="00020600040101010101" pitchFamily="18" charset="-122"/>
                <a:ea typeface="Alibaba PuHuiTi 2.0 55 Regular" panose="00020600040101010101" pitchFamily="18" charset="-122"/>
                <a:cs typeface="Alibaba PuHuiTi 2.0 55 Regular" panose="00020600040101010101" pitchFamily="18" charset="-122"/>
              </a:defRPr>
            </a:lvl1pPr>
          </a:lstStyle>
          <a:p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全国首个</a:t>
            </a:r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AI+X</a:t>
            </a: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高校教育联盟</a:t>
            </a:r>
          </a:p>
        </p:txBody>
      </p:sp>
      <p:sp>
        <p:nvSpPr>
          <p:cNvPr id="5" name="文本占位符 26"/>
          <p:cNvSpPr>
            <a:spLocks noGrp="1"/>
          </p:cNvSpPr>
          <p:nvPr/>
        </p:nvSpPr>
        <p:spPr>
          <a:xfrm>
            <a:off x="608330" y="1099820"/>
            <a:ext cx="10968990" cy="86106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 fontScale="9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2026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年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3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月，正式成立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AI+X</a:t>
            </a:r>
            <a:r>
              <a:rPr lang="zh-CN" altLang="en-US" b="1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高校教育联盟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，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100+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生态伙伴，携手</a:t>
            </a:r>
            <a:r>
              <a:rPr lang="en-US" altLang="zh-CN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200+</a:t>
            </a:r>
            <a:r>
              <a:rPr lang="zh-CN" altLang="en-US" b="1" dirty="0" err="1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高校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，共筑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AI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人才培养新生态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Datawhale、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魔搭社区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、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开放原子开源基金会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、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浙江大学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、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南京大学、复旦大学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、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阿里云</a:t>
            </a:r>
            <a:r>
              <a:rPr lang="en-US" altLang="zh-CN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、</a:t>
            </a:r>
            <a:r>
              <a:rPr lang="zh-CN" altLang="en-US" dirty="0" err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达摩院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6465570" y="1833880"/>
            <a:ext cx="4965065" cy="4884420"/>
            <a:chOff x="10182" y="2952"/>
            <a:chExt cx="7819" cy="7692"/>
          </a:xfrm>
        </p:grpSpPr>
        <p:pic>
          <p:nvPicPr>
            <p:cNvPr id="19" name="图片 18" descr="联盟高校成员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83" y="2952"/>
              <a:ext cx="7818" cy="3922"/>
            </a:xfrm>
            <a:prstGeom prst="rect">
              <a:avLst/>
            </a:prstGeom>
          </p:spPr>
        </p:pic>
        <p:pic>
          <p:nvPicPr>
            <p:cNvPr id="20" name="图片 19" descr="联盟生态伙伴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82" y="6742"/>
              <a:ext cx="7819" cy="3903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/>
        </p:nvGrpSpPr>
        <p:grpSpPr>
          <a:xfrm>
            <a:off x="709930" y="1875790"/>
            <a:ext cx="4761865" cy="4800600"/>
            <a:chOff x="1118" y="2888"/>
            <a:chExt cx="7499" cy="7560"/>
          </a:xfrm>
        </p:grpSpPr>
        <p:grpSp>
          <p:nvGrpSpPr>
            <p:cNvPr id="17" name="组合 16"/>
            <p:cNvGrpSpPr/>
            <p:nvPr/>
          </p:nvGrpSpPr>
          <p:grpSpPr>
            <a:xfrm>
              <a:off x="1122" y="3634"/>
              <a:ext cx="7495" cy="6814"/>
              <a:chOff x="512" y="3267"/>
              <a:chExt cx="7353" cy="6684"/>
            </a:xfrm>
          </p:grpSpPr>
          <p:pic>
            <p:nvPicPr>
              <p:cNvPr id="13" name="图片 12" descr="AI+X高校教育联盟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2" y="3267"/>
                <a:ext cx="7338" cy="4899"/>
              </a:xfrm>
              <a:prstGeom prst="rect">
                <a:avLst/>
              </a:prstGeom>
            </p:spPr>
          </p:pic>
          <p:pic>
            <p:nvPicPr>
              <p:cNvPr id="14" name="图片 13" descr="组织成员代表"/>
              <p:cNvPicPr>
                <a:picLocks noChangeAspect="1"/>
              </p:cNvPicPr>
              <p:nvPr/>
            </p:nvPicPr>
            <p:blipFill>
              <a:blip r:embed="rId6"/>
              <a:srcRect l="6184" t="23234" r="7533" b="12673"/>
              <a:stretch>
                <a:fillRect/>
              </a:stretch>
            </p:blipFill>
            <p:spPr>
              <a:xfrm>
                <a:off x="512" y="7220"/>
                <a:ext cx="7353" cy="2731"/>
              </a:xfrm>
              <a:prstGeom prst="rect">
                <a:avLst/>
              </a:prstGeom>
            </p:spPr>
          </p:pic>
        </p:grp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18" y="2888"/>
              <a:ext cx="7479" cy="1492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21589172,21550086,21581576,21581115,50062603,21581837],&quot;65&quot;:[20205081],&quot;70&quot;:[3312621,3333585,3321884,332792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33585]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3*l_i*1_1"/>
  <p:tag name="KSO_WM_TEMPLATE_CATEGORY" val="diagram"/>
  <p:tag name="KSO_WM_TEMPLATE_INDEX" val="20235178"/>
  <p:tag name="KSO_WM_UNIT_LAYERLEVEL" val="1_1"/>
  <p:tag name="KSO_WM_TAG_VERSION" val="3.0"/>
  <p:tag name="KSO_WM_BEAUTIFY_FLAG" val="#wm#"/>
  <p:tag name="KSO_WM_UNIT_TYPE" val="l_i"/>
  <p:tag name="KSO_WM_UNIT_INDEX" val="1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solid&quot;:{&quot;brightness&quot;:0,&quot;colorType&quot;:1,&quot;foreColorIndex&quot;:5,&quot;transparency&quot;:0.920000016689300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3*l_i*1_2"/>
  <p:tag name="KSO_WM_TEMPLATE_CATEGORY" val="diagram"/>
  <p:tag name="KSO_WM_TEMPLATE_INDEX" val="20235178"/>
  <p:tag name="KSO_WM_UNIT_LAYERLEVEL" val="1_1"/>
  <p:tag name="KSO_WM_TAG_VERSION" val="3.0"/>
  <p:tag name="KSO_WM_BEAUTIFY_FLAG" val="#wm#"/>
  <p:tag name="KSO_WM_UNIT_TYPE" val="l_i"/>
  <p:tag name="KSO_WM_UNIT_INDEX" val="1_2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solid&quot;:{&quot;brightness&quot;:0,&quot;colorType&quot;:1,&quot;foreColorIndex&quot;:5,&quot;transparency&quot;:0.920000016689300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3*l_i*1_3"/>
  <p:tag name="KSO_WM_TEMPLATE_CATEGORY" val="diagram"/>
  <p:tag name="KSO_WM_TEMPLATE_INDEX" val="20235178"/>
  <p:tag name="KSO_WM_UNIT_LAYERLEVEL" val="1_1"/>
  <p:tag name="KSO_WM_TAG_VERSION" val="3.0"/>
  <p:tag name="KSO_WM_BEAUTIFY_FLAG" val="#wm#"/>
  <p:tag name="KSO_WM_UNIT_TYPE" val="l_i"/>
  <p:tag name="KSO_WM_UNIT_INDEX" val="1_3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solid&quot;:{&quot;brightness&quot;:0,&quot;colorType&quot;:1,&quot;foreColorIndex&quot;:5,&quot;transparency&quot;:0.8600000143051147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3*l_h_i*1_1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YPE" val="l_h_i"/>
  <p:tag name="KSO_WM_UNIT_INDEX" val="1_1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gradient&quot;:[{&quot;brightness&quot;:0.8999999761581421,&quot;colorType&quot;:1,&quot;foreColorIndex&quot;:5,&quot;pos&quot;:0,&quot;transparency&quot;:0},{&quot;brightness&quot;:0,&quot;colorType&quot;:1,&quot;foreColorIndex&quot;:5,&quot;pos&quot;:0.7400000095367432,&quot;transparency&quot;:0},{&quot;brightness&quot;:-0.10000000149011612,&quot;colorType&quot;:1,&quot;foreColorIndex&quot;:5,&quot;pos&quot;:0.8299999833106995,&quot;transparency&quot;:0},{&quot;brightness&quot;:-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3*l_h_i*1_2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YPE" val="l_h_i"/>
  <p:tag name="KSO_WM_UNIT_INDEX" val="1_2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gradient&quot;:[{&quot;brightness&quot;:0.9800000190734863,&quot;colorType&quot;:1,&quot;foreColorIndex&quot;:5,&quot;pos&quot;:0,&quot;transparency&quot;:0},{&quot;brightness&quot;:0.699999988079071,&quot;colorType&quot;:1,&quot;foreColorIndex&quot;:5,&quot;pos&quot;:0.7400000095367432,&quot;transparency&quot;:0},{&quot;brightness&quot;:0.6000000238418579,&quot;colorType&quot;:1,&quot;foreColorIndex&quot;:5,&quot;pos&quot;:0.8299999833106995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3*l_h_i*1_4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YPE" val="l_h_i"/>
  <p:tag name="KSO_WM_UNIT_INDEX" val="1_4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gradient&quot;:[{&quot;brightness&quot;:0.8999999761581421,&quot;colorType&quot;:1,&quot;foreColorIndex&quot;:5,&quot;pos&quot;:0,&quot;transparency&quot;:0},{&quot;brightness&quot;:0.3499999940395355,&quot;colorType&quot;:1,&quot;foreColorIndex&quot;:5,&quot;pos&quot;:0.7400000095367432,&quot;transparency&quot;:0},{&quot;brightness&quot;:0.20000000298023224,&quot;colorType&quot;:1,&quot;foreColorIndex&quot;:5,&quot;pos&quot;:0.8299999833106995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178_3*l_h_f*1_1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"/>
  <p:tag name="KSO_WM_DIAGRAM_USE_COLOR_VALUE" val="{&quot;color_scheme&quot;:1,&quot;color_type&quot;:1,&quot;theme_color_indexes&quot;:[]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178_3*l_h_a*1_1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一亿"/>
  <p:tag name="KSO_WM_DIAGRAM_USE_COLOR_VALUE" val="{&quot;color_scheme&quot;:1,&quot;color_type&quot;:1,&quot;theme_color_indexes&quot;:[]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178_3*l_h_f*1_2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178_3*l_h_a*1_2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七千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5178_3*l_h_f*1_4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"/>
  <p:tag name="KSO_WM_DIAGRAM_USE_COLOR_VALUE" val="{&quot;color_scheme&quot;:1,&quot;color_type&quot;:1,&quot;theme_color_indexes&quot;:[]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5178_3*l_h_a*1_4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90%"/>
  <p:tag name="KSO_WM_DIAGRAM_USE_COLOR_VALUE" val="{&quot;color_scheme&quot;:1,&quot;color_type&quot;:1,&quot;theme_color_indexes&quot;:[]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3*l_h_i*1_3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YPE" val="l_h_i"/>
  <p:tag name="KSO_WM_UNIT_INDEX" val="1_3_1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gradient&quot;:[{&quot;brightness&quot;:0.8999999761581421,&quot;colorType&quot;:1,&quot;foreColorIndex&quot;:5,&quot;pos&quot;:0,&quot;transparency&quot;:0},{&quot;brightness&quot;:0.44999998807907104,&quot;colorType&quot;:1,&quot;foreColorIndex&quot;:5,&quot;pos&quot;:0.7400000095367432,&quot;transparency&quot;:0},{&quot;brightness&quot;:0.30000001192092896,&quot;colorType&quot;:1,&quot;foreColorIndex&quot;:5,&quot;pos&quot;:0.8299999833106995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178_3*l_h_f*1_3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178_3*l_h_a*1_3_1"/>
  <p:tag name="KSO_WM_TEMPLATE_CATEGORY" val="diagram"/>
  <p:tag name="KSO_WM_TEMPLATE_INDEX" val="2023517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30+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178_3*l_i*1_4"/>
  <p:tag name="KSO_WM_TEMPLATE_CATEGORY" val="diagram"/>
  <p:tag name="KSO_WM_TEMPLATE_INDEX" val="20235178"/>
  <p:tag name="KSO_WM_UNIT_LAYERLEVEL" val="1_1"/>
  <p:tag name="KSO_WM_TAG_VERSION" val="3.0"/>
  <p:tag name="KSO_WM_BEAUTIFY_FLAG" val="#wm#"/>
  <p:tag name="KSO_WM_UNIT_TYPE" val="l_i"/>
  <p:tag name="KSO_WM_UNIT_INDEX" val="1_4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6.2750030517579,&quot;left&quot;:74.39998779296874,&quot;top&quot;:166.55,&quot;width&quot;:798.6500244140625}"/>
  <p:tag name="KSO_WM_DIAGRAM_COLOR_MATCH_VALUE" val="{&quot;shape&quot;:{&quot;fill&quot;:{&quot;solid&quot;:{&quot;brightness&quot;:0,&quot;colorType&quot;:1,&quot;foreColorIndex&quot;:5,&quot;transparency&quot;:0.94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1506</Words>
  <Application>Microsoft Office PowerPoint</Application>
  <PresentationFormat>宽屏</PresentationFormat>
  <Paragraphs>279</Paragraphs>
  <Slides>27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Alibaba PuHuiTi 2.0 55 Regular</vt:lpstr>
      <vt:lpstr>Microsoft YaHei Light</vt:lpstr>
      <vt:lpstr>PingFang SC</vt:lpstr>
      <vt:lpstr>Source Han Sans CN</vt:lpstr>
      <vt:lpstr>仿宋</vt:lpstr>
      <vt:lpstr>黑体</vt:lpstr>
      <vt:lpstr>苹方-简</vt:lpstr>
      <vt:lpstr>微软雅黑</vt:lpstr>
      <vt:lpstr>Arial</vt:lpstr>
      <vt:lpstr>Wingdings</vt:lpstr>
      <vt:lpstr>WPS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yansong.dys</dc:creator>
  <cp:lastModifiedBy>yansong.dys</cp:lastModifiedBy>
  <cp:revision>484</cp:revision>
  <dcterms:created xsi:type="dcterms:W3CDTF">2026-07-13T07:12:50Z</dcterms:created>
  <dcterms:modified xsi:type="dcterms:W3CDTF">2026-07-19T03:03:13Z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B5A95966B158177BF28F546A8BBD51B7_43</vt:lpwstr>
  </property>
</Properties>
</file>
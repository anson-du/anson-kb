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371600"/>
            <a:ext cx="4206240" cy="4206240"/>
          </a:xfrm>
          <a:prstGeom prst="ellipse">
            <a:avLst/>
          </a:prstGeom>
          <a:solidFill>
            <a:srgbClr val="E8F1FD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680960" y="3108960"/>
            <a:ext cx="2651760" cy="2651760"/>
          </a:xfrm>
          <a:prstGeom prst="ellipse">
            <a:avLst/>
          </a:prstGeom>
          <a:solidFill>
            <a:srgbClr val="E8F1FD">
              <a:alpha val="5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806440" y="3977640"/>
            <a:ext cx="320040" cy="320040"/>
          </a:xfrm>
          <a:prstGeom prst="ellipse">
            <a:avLst/>
          </a:prstGeom>
          <a:solidFill>
            <a:srgbClr val="6FA8F5">
              <a:alpha val="7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E8F1FD">
              <a:alpha val="4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822960" y="109728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 · 人工智能开源学习社区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7315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与开发者一起开源成长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国内领先的人工智能开源学习社区 · 连接全球 4000+ 所高校与数百家科技企业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科鲸（杭州）信息技术有限公司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10241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5" name="Text 3"/>
          <p:cNvSpPr/>
          <p:nvPr/>
        </p:nvSpPr>
        <p:spPr>
          <a:xfrm>
            <a:off x="822960" y="1600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563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基本情况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188366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七年开源社区的规模与团队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0" y="160020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9" name="Text 7"/>
          <p:cNvSpPr/>
          <p:nvPr/>
        </p:nvSpPr>
        <p:spPr>
          <a:xfrm>
            <a:off x="4937760" y="16002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156362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生态演进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23560" y="188366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从社区共建到利益共同体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13" name="Text 11"/>
          <p:cNvSpPr/>
          <p:nvPr/>
        </p:nvSpPr>
        <p:spPr>
          <a:xfrm>
            <a:off x="822960" y="2651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6151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08760" y="293522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一个社区，连接人才与产业两端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265176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17" name="Text 15"/>
          <p:cNvSpPr/>
          <p:nvPr/>
        </p:nvSpPr>
        <p:spPr>
          <a:xfrm>
            <a:off x="4937760" y="2651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261518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开源生态学院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623560" y="293522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全国首个校地企共建样板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21" name="Text 19"/>
          <p:cNvSpPr/>
          <p:nvPr/>
        </p:nvSpPr>
        <p:spPr>
          <a:xfrm>
            <a:off x="822960" y="37033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66674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权威认可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39867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从省级改革到世界舞台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703320"/>
            <a:ext cx="475488" cy="475488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25" name="Text 23"/>
          <p:cNvSpPr/>
          <p:nvPr/>
        </p:nvSpPr>
        <p:spPr>
          <a:xfrm>
            <a:off x="4937760" y="37033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66674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未来布局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623560" y="39867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全国人工智能学习生态网络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基本情况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七年开源，一个有全国影响力的社区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6" name="Text 4"/>
          <p:cNvSpPr/>
          <p:nvPr/>
        </p:nvSpPr>
        <p:spPr>
          <a:xfrm>
            <a:off x="457200" y="1572768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成立年份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从开源课程起步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44752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10" name="Text 8"/>
          <p:cNvSpPr/>
          <p:nvPr/>
        </p:nvSpPr>
        <p:spPr>
          <a:xfrm>
            <a:off x="3246120" y="1572768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40万+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2157984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Star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2468880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开源项目累计获星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444752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14" name="Text 12"/>
          <p:cNvSpPr/>
          <p:nvPr/>
        </p:nvSpPr>
        <p:spPr>
          <a:xfrm>
            <a:off x="6035040" y="1572768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 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2157984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学习类全球排名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0" y="2468880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国内第一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18" name="Text 16"/>
          <p:cNvSpPr/>
          <p:nvPr/>
        </p:nvSpPr>
        <p:spPr>
          <a:xfrm>
            <a:off x="457200" y="3145536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4000+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730752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连接全球高校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覆盖主要 AI 院系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22" name="Text 20"/>
          <p:cNvSpPr/>
          <p:nvPr/>
        </p:nvSpPr>
        <p:spPr>
          <a:xfrm>
            <a:off x="3246120" y="3145536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200万+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46120" y="3730752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服务学习者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4041648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累计触达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24328" cy="1389888"/>
          </a:xfrm>
          <a:prstGeom prst="roundRect">
            <a:avLst>
              <a:gd name="adj" fmla="val 5263"/>
            </a:avLst>
          </a:prstGeom>
          <a:solidFill>
            <a:srgbClr val="F5F9FD"/>
          </a:solidFill>
        </p:spPr>
      </p:sp>
      <p:sp>
        <p:nvSpPr>
          <p:cNvPr id="26" name="Text 24"/>
          <p:cNvSpPr/>
          <p:nvPr/>
        </p:nvSpPr>
        <p:spPr>
          <a:xfrm>
            <a:off x="6035040" y="3145536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1000+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35040" y="3730752"/>
            <a:ext cx="26243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社区贡献者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4041648"/>
            <a:ext cx="2624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来自头部企业与名校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组织总排名位列 GitHub 全球前 20 · 被业界称为人工智能领域的「黄埔军校」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基本情况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谁在做，做出过什么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86200" cy="3383280"/>
          </a:xfrm>
          <a:prstGeom prst="roundRect">
            <a:avLst>
              <a:gd name="adj" fmla="val 2162"/>
            </a:avLst>
          </a:prstGeom>
          <a:solidFill>
            <a:srgbClr val="F5F9FD"/>
          </a:solidFill>
        </p:spPr>
      </p:sp>
      <p:sp>
        <p:nvSpPr>
          <p:cNvPr id="6" name="Text 4"/>
          <p:cNvSpPr/>
          <p:nvPr/>
        </p:nvSpPr>
        <p:spPr>
          <a:xfrm>
            <a:off x="713232" y="15361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成立于 2018 年的 AI 开源学习社区——不做大模型、不做算力，补的是 AI 产业最缺的「人」这一环。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2018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社区成立，开源课程起步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447288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2019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344728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组建全职团队，总部落地杭州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3831336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25880" y="3831336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入驻西湖区云谷中心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4069080" cy="1810512"/>
          </a:xfrm>
          <a:prstGeom prst="roundRect">
            <a:avLst>
              <a:gd name="adj" fmla="val 4040"/>
            </a:avLst>
          </a:prstGeom>
          <a:solidFill>
            <a:srgbClr val="F5F9FD"/>
          </a:solidFill>
        </p:spPr>
      </p:sp>
      <p:sp>
        <p:nvSpPr>
          <p:cNvPr id="16" name="Text 14"/>
          <p:cNvSpPr/>
          <p:nvPr/>
        </p:nvSpPr>
        <p:spPr>
          <a:xfrm>
            <a:off x="4873752" y="1481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创始团队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1828800"/>
            <a:ext cx="36118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范晶晶 · 创始人（杭州电子科技大学硕士）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谢文昕 · 联合创始人（上海交通大学博士）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马晶敏 · 联合创始人（上海交通大学硕士）</a:t>
            </a:r>
            <a:endParaRPr lang="en-US" sz="10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徐旭初 · 浙大、杭电教授，开源生态学院院长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310128"/>
            <a:ext cx="4069080" cy="1399032"/>
          </a:xfrm>
          <a:prstGeom prst="roundRect">
            <a:avLst>
              <a:gd name="adj" fmla="val 5229"/>
            </a:avLst>
          </a:prstGeom>
          <a:solidFill>
            <a:srgbClr val="F5F9FD"/>
          </a:solidFill>
        </p:spPr>
      </p:sp>
      <p:sp>
        <p:nvSpPr>
          <p:cNvPr id="19" name="Text 17"/>
          <p:cNvSpPr/>
          <p:nvPr/>
        </p:nvSpPr>
        <p:spPr>
          <a:xfrm>
            <a:off x="4873752" y="346557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开源产出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3803904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课程覆盖机器学习、深度学习到大模型与 AI Agent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多个项目登上 GitHub Trending 全球榜单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教程被牛津大学图书馆收录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生态演进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从社区共建到利益共同体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7498080" cy="0"/>
          </a:xfrm>
          <a:prstGeom prst="line">
            <a:avLst/>
          </a:prstGeom>
          <a:noFill/>
          <a:ln w="31750">
            <a:solidFill>
              <a:srgbClr val="DC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82496" y="2734056"/>
            <a:ext cx="201168" cy="201168"/>
          </a:xfrm>
          <a:prstGeom prst="ellipse">
            <a:avLst/>
          </a:prstGeom>
          <a:solidFill>
            <a:srgbClr val="2B7D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416" y="2734056"/>
            <a:ext cx="201168" cy="201168"/>
          </a:xfrm>
          <a:prstGeom prst="ellipse">
            <a:avLst/>
          </a:prstGeom>
          <a:solidFill>
            <a:srgbClr val="2B7D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0336" y="2734056"/>
            <a:ext cx="201168" cy="201168"/>
          </a:xfrm>
          <a:prstGeom prst="ellipse">
            <a:avLst/>
          </a:prstGeom>
          <a:solidFill>
            <a:srgbClr val="2B7D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</p:spPr>
      </p:sp>
      <p:sp>
        <p:nvSpPr>
          <p:cNvPr id="10" name="Text 8"/>
          <p:cNvSpPr/>
          <p:nvPr/>
        </p:nvSpPr>
        <p:spPr>
          <a:xfrm>
            <a:off x="685800" y="14813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1.0 社区共建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177393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2018—2020 · 开放内容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029968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学习者 → 内容 → 贡献者，自我造血的闭环；贡献者是从学习者中长出来的。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83080" y="2651760"/>
            <a:ext cx="0" cy="82296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2935224"/>
            <a:ext cx="0" cy="0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2004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</p:spPr>
      </p:sp>
      <p:sp>
        <p:nvSpPr>
          <p:cNvPr id="16" name="Text 14"/>
          <p:cNvSpPr/>
          <p:nvPr/>
        </p:nvSpPr>
        <p:spPr>
          <a:xfrm>
            <a:off x="3474720" y="33101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2.0 生态协同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74720" y="360273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2021—2025 · 开放资源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3858768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学习者站在中间，把高校、科技、产业连成一张网，让资源从学习者身上流过。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935224"/>
            <a:ext cx="0" cy="265176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37160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8F1FD"/>
          </a:solidFill>
        </p:spPr>
      </p:sp>
      <p:sp>
        <p:nvSpPr>
          <p:cNvPr id="21" name="Text 19"/>
          <p:cNvSpPr/>
          <p:nvPr/>
        </p:nvSpPr>
        <p:spPr>
          <a:xfrm>
            <a:off x="6263640" y="14813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3.0 利益共同体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1773936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2026— · 开放生态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2029968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共生平台，连接人才与产业两端；人的能力，成为产业能买到的服务。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60920" y="2651760"/>
            <a:ext cx="0" cy="82296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2935224"/>
            <a:ext cx="0" cy="0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底层逻辑：Open Resource Innovation · 开放资源创新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生态演进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三条价值观，一个生态位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价值观即治理机制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931920" cy="950976"/>
          </a:xfrm>
          <a:prstGeom prst="roundRect">
            <a:avLst>
              <a:gd name="adj" fmla="val 7692"/>
            </a:avLst>
          </a:prstGeom>
          <a:solidFill>
            <a:srgbClr val="F5F9FD"/>
          </a:solidFill>
        </p:spPr>
      </p:sp>
      <p:sp>
        <p:nvSpPr>
          <p:cNvPr id="7" name="Shape 5"/>
          <p:cNvSpPr/>
          <p:nvPr/>
        </p:nvSpPr>
        <p:spPr>
          <a:xfrm>
            <a:off x="676656" y="1792224"/>
            <a:ext cx="438912" cy="438912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8" name="Text 6"/>
          <p:cNvSpPr/>
          <p:nvPr/>
        </p:nvSpPr>
        <p:spPr>
          <a:xfrm>
            <a:off x="676656" y="17922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166420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社区第一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98448" y="197510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让每个人加入后所处的氛围更好——决定与谁合作、不与谁合作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931920" cy="950976"/>
          </a:xfrm>
          <a:prstGeom prst="roundRect">
            <a:avLst>
              <a:gd name="adj" fmla="val 7692"/>
            </a:avLst>
          </a:prstGeom>
          <a:solidFill>
            <a:srgbClr val="F5F9FD"/>
          </a:solidFill>
        </p:spPr>
      </p:sp>
      <p:sp>
        <p:nvSpPr>
          <p:cNvPr id="12" name="Shape 10"/>
          <p:cNvSpPr/>
          <p:nvPr/>
        </p:nvSpPr>
        <p:spPr>
          <a:xfrm>
            <a:off x="676656" y="2871216"/>
            <a:ext cx="438912" cy="438912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13" name="Text 11"/>
          <p:cNvSpPr/>
          <p:nvPr/>
        </p:nvSpPr>
        <p:spPr>
          <a:xfrm>
            <a:off x="676656" y="28712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以学习者为中心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98448" y="305409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以弱者为中心，把资源组织给最需要成长的人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94176"/>
            <a:ext cx="3931920" cy="950976"/>
          </a:xfrm>
          <a:prstGeom prst="roundRect">
            <a:avLst>
              <a:gd name="adj" fmla="val 7692"/>
            </a:avLst>
          </a:prstGeom>
          <a:solidFill>
            <a:srgbClr val="F5F9FD"/>
          </a:solidFill>
        </p:spPr>
      </p:sp>
      <p:sp>
        <p:nvSpPr>
          <p:cNvPr id="17" name="Shape 15"/>
          <p:cNvSpPr/>
          <p:nvPr/>
        </p:nvSpPr>
        <p:spPr>
          <a:xfrm>
            <a:off x="676656" y="3950208"/>
            <a:ext cx="438912" cy="438912"/>
          </a:xfrm>
          <a:prstGeom prst="ellipse">
            <a:avLst/>
          </a:prstGeom>
          <a:solidFill>
            <a:srgbClr val="E8F1FD"/>
          </a:solidFill>
        </p:spPr>
      </p:sp>
      <p:sp>
        <p:nvSpPr>
          <p:cNvPr id="18" name="Text 16"/>
          <p:cNvSpPr/>
          <p:nvPr/>
        </p:nvSpPr>
        <p:spPr>
          <a:xfrm>
            <a:off x="676656" y="39502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382219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成就贡献者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真正成就他人，社区从利益逻辑之外生长出来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1207008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教育科技人才一体化中的生态位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536192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F5F9FD"/>
          </a:solidFill>
        </p:spPr>
      </p:sp>
      <p:sp>
        <p:nvSpPr>
          <p:cNvPr id="23" name="Text 21"/>
          <p:cNvSpPr/>
          <p:nvPr/>
        </p:nvSpPr>
        <p:spPr>
          <a:xfrm>
            <a:off x="5120640" y="1645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 · 培养「人」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20640" y="193852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提供学位 · 承担教学体系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93408" y="2286000"/>
            <a:ext cx="0" cy="256032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542032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2B7DE9"/>
          </a:solidFill>
        </p:spPr>
      </p:sp>
      <p:sp>
        <p:nvSpPr>
          <p:cNvPr id="27" name="Text 25"/>
          <p:cNvSpPr/>
          <p:nvPr/>
        </p:nvSpPr>
        <p:spPr>
          <a:xfrm>
            <a:off x="5120640" y="265176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 生态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20640" y="296265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提供协同接口 · 让人和事持续匹配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93408" y="3410712"/>
            <a:ext cx="0" cy="256032"/>
          </a:xfrm>
          <a:prstGeom prst="line">
            <a:avLst/>
          </a:prstGeom>
          <a:noFill/>
          <a:ln w="19050">
            <a:solidFill>
              <a:srgbClr val="B9D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666744"/>
            <a:ext cx="3611880" cy="749808"/>
          </a:xfrm>
          <a:prstGeom prst="roundRect">
            <a:avLst>
              <a:gd name="adj" fmla="val 9756"/>
            </a:avLst>
          </a:prstGeom>
          <a:solidFill>
            <a:srgbClr val="F5F9FD"/>
          </a:solidFill>
        </p:spPr>
      </p:sp>
      <p:sp>
        <p:nvSpPr>
          <p:cNvPr id="31" name="Text 29"/>
          <p:cNvSpPr/>
          <p:nvPr/>
        </p:nvSpPr>
        <p:spPr>
          <a:xfrm>
            <a:off x="5120640" y="37764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 · 使用「人」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20640" y="40690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提供岗位 · 承担技术演进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 是让高校与产业持续对话的第三方生态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一个社区，连接人才与产业两端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063240" cy="3063240"/>
          </a:xfrm>
          <a:prstGeom prst="roundRect">
            <a:avLst>
              <a:gd name="adj" fmla="val 2388"/>
            </a:avLst>
          </a:prstGeom>
          <a:solidFill>
            <a:srgbClr val="F5F9FD"/>
          </a:solidFill>
        </p:spPr>
      </p:sp>
      <p:sp>
        <p:nvSpPr>
          <p:cNvPr id="6" name="Text 4"/>
          <p:cNvSpPr/>
          <p:nvPr/>
        </p:nvSpPr>
        <p:spPr>
          <a:xfrm>
            <a:off x="685800" y="148132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汇聚成 AI 服务供给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6060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开源课程与组队学习，在真实项目中练出能力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OPC 能力分级，L6 以上对应可验证的商业交付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达级者两去向：OPC 孵化创业，或以 FDE、顾问、讲师身份进入产业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2084832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2B7DE9"/>
          </a:solidFill>
        </p:spPr>
      </p:sp>
      <p:sp>
        <p:nvSpPr>
          <p:cNvPr id="10" name="Text 8"/>
          <p:cNvSpPr/>
          <p:nvPr/>
        </p:nvSpPr>
        <p:spPr>
          <a:xfrm>
            <a:off x="3749040" y="239572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761488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同一套标准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匹配能力与需求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2880360"/>
            <a:ext cx="182880" cy="0"/>
          </a:xfrm>
          <a:prstGeom prst="line">
            <a:avLst/>
          </a:prstGeom>
          <a:noFill/>
          <a:ln w="25400">
            <a:solidFill>
              <a:srgbClr val="6FA8F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67528" y="2880360"/>
            <a:ext cx="182880" cy="0"/>
          </a:xfrm>
          <a:prstGeom prst="line">
            <a:avLst/>
          </a:prstGeom>
          <a:noFill/>
          <a:ln w="25400">
            <a:solidFill>
              <a:srgbClr val="6FA8F5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132588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F5F9FD"/>
          </a:solidFill>
        </p:spPr>
      </p:sp>
      <p:sp>
        <p:nvSpPr>
          <p:cNvPr id="15" name="Text 13"/>
          <p:cNvSpPr/>
          <p:nvPr/>
        </p:nvSpPr>
        <p:spPr>
          <a:xfrm>
            <a:off x="5806440" y="1481328"/>
            <a:ext cx="2651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06440" y="18105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把服务送进企业现场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212848"/>
            <a:ext cx="269748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落地咨询、企业培训、一企一案的解决方案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企业带真实业务命题，FDE 进入现场解题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案例沉淀为可复用的场景清单与课程，向同行业推广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产业端归集的真实场景，反过来成为人才端的训练题目与认证考题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OPC 九级人才能力标准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国内首个面向开源 AI 人才的分级评价标准 · 对人是能力分级，对服务是定价依据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822960" cy="411480"/>
          </a:xfrm>
          <a:prstGeom prst="rect">
            <a:avLst/>
          </a:prstGeom>
          <a:solidFill>
            <a:srgbClr val="B9D4F7"/>
          </a:solidFill>
        </p:spPr>
      </p:sp>
      <p:sp>
        <p:nvSpPr>
          <p:cNvPr id="7" name="Text 5"/>
          <p:cNvSpPr/>
          <p:nvPr/>
        </p:nvSpPr>
        <p:spPr>
          <a:xfrm>
            <a:off x="73152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5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00200" y="3346704"/>
            <a:ext cx="822960" cy="630936"/>
          </a:xfrm>
          <a:prstGeom prst="rect">
            <a:avLst/>
          </a:prstGeom>
          <a:solidFill>
            <a:srgbClr val="B9D4F7"/>
          </a:solidFill>
        </p:spPr>
      </p:sp>
      <p:sp>
        <p:nvSpPr>
          <p:cNvPr id="9" name="Text 7"/>
          <p:cNvSpPr/>
          <p:nvPr/>
        </p:nvSpPr>
        <p:spPr>
          <a:xfrm>
            <a:off x="160020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5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3127248"/>
            <a:ext cx="822960" cy="850392"/>
          </a:xfrm>
          <a:prstGeom prst="rect">
            <a:avLst/>
          </a:prstGeom>
          <a:solidFill>
            <a:srgbClr val="B9D4F7"/>
          </a:solidFill>
        </p:spPr>
      </p:sp>
      <p:sp>
        <p:nvSpPr>
          <p:cNvPr id="11" name="Text 9"/>
          <p:cNvSpPr/>
          <p:nvPr/>
        </p:nvSpPr>
        <p:spPr>
          <a:xfrm>
            <a:off x="246888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5F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907792"/>
            <a:ext cx="822960" cy="1069848"/>
          </a:xfrm>
          <a:prstGeom prst="rect">
            <a:avLst/>
          </a:prstGeom>
          <a:solidFill>
            <a:srgbClr val="6FA8F5"/>
          </a:solidFill>
        </p:spPr>
      </p:sp>
      <p:sp>
        <p:nvSpPr>
          <p:cNvPr id="13" name="Text 11"/>
          <p:cNvSpPr/>
          <p:nvPr/>
        </p:nvSpPr>
        <p:spPr>
          <a:xfrm>
            <a:off x="333756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06240" y="2688336"/>
            <a:ext cx="822960" cy="1289304"/>
          </a:xfrm>
          <a:prstGeom prst="rect">
            <a:avLst/>
          </a:prstGeom>
          <a:solidFill>
            <a:srgbClr val="6FA8F5"/>
          </a:solidFill>
        </p:spPr>
      </p:sp>
      <p:sp>
        <p:nvSpPr>
          <p:cNvPr id="15" name="Text 13"/>
          <p:cNvSpPr/>
          <p:nvPr/>
        </p:nvSpPr>
        <p:spPr>
          <a:xfrm>
            <a:off x="420624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2468880"/>
            <a:ext cx="822960" cy="1508760"/>
          </a:xfrm>
          <a:prstGeom prst="rect">
            <a:avLst/>
          </a:prstGeom>
          <a:solidFill>
            <a:srgbClr val="6FA8F5"/>
          </a:solidFill>
        </p:spPr>
      </p:sp>
      <p:sp>
        <p:nvSpPr>
          <p:cNvPr id="17" name="Text 15"/>
          <p:cNvSpPr/>
          <p:nvPr/>
        </p:nvSpPr>
        <p:spPr>
          <a:xfrm>
            <a:off x="507492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249424"/>
            <a:ext cx="822960" cy="17282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9" name="Text 17"/>
          <p:cNvSpPr/>
          <p:nvPr/>
        </p:nvSpPr>
        <p:spPr>
          <a:xfrm>
            <a:off x="594360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2029968"/>
            <a:ext cx="822960" cy="1947672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21" name="Text 19"/>
          <p:cNvSpPr/>
          <p:nvPr/>
        </p:nvSpPr>
        <p:spPr>
          <a:xfrm>
            <a:off x="681228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1810512"/>
            <a:ext cx="822960" cy="2167128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23" name="Text 21"/>
          <p:cNvSpPr/>
          <p:nvPr/>
        </p:nvSpPr>
        <p:spPr>
          <a:xfrm>
            <a:off x="7680960" y="366674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73752" y="2048256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25" name="Text 23"/>
          <p:cNvSpPr/>
          <p:nvPr/>
        </p:nvSpPr>
        <p:spPr>
          <a:xfrm>
            <a:off x="4873752" y="2048256"/>
            <a:ext cx="1225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真实商业交付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08736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Learner · 认知与实践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37083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认知者 · L2 工具使用者 · L3 场景识别者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37560" y="408736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Builder · 产品与交付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437083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L4 工作流搭建者 · L5 应用构建者 · L6 价值交付者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40873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Founder · 闭环与生态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437083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L7 业务闭环者 · L8 系统协作者 · L9 生态贡献者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FDE：把 AI 服务送进企业现场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FDE · 企业驻场工程师——Datawhale 培养的 AI 服务者，进入企业真实业务现场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5F9FD"/>
          </a:solidFill>
        </p:spPr>
      </p:sp>
      <p:sp>
        <p:nvSpPr>
          <p:cNvPr id="7" name="Text 5"/>
          <p:cNvSpPr/>
          <p:nvPr/>
        </p:nvSpPr>
        <p:spPr>
          <a:xfrm>
            <a:off x="621792" y="16916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9751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真实命题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304288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企业带着真实业务问题进来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01952" y="21945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39696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5F9FD"/>
          </a:solidFill>
        </p:spPr>
      </p:sp>
      <p:sp>
        <p:nvSpPr>
          <p:cNvPr id="12" name="Text 10"/>
          <p:cNvSpPr/>
          <p:nvPr/>
        </p:nvSpPr>
        <p:spPr>
          <a:xfrm>
            <a:off x="2304288" y="16916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19751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现场解题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04288" y="2304288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FDE 进入业务现场驻场解题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84448" y="21945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22192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5F9FD"/>
          </a:solidFill>
        </p:spPr>
      </p:sp>
      <p:sp>
        <p:nvSpPr>
          <p:cNvPr id="17" name="Text 15"/>
          <p:cNvSpPr/>
          <p:nvPr/>
        </p:nvSpPr>
        <p:spPr>
          <a:xfrm>
            <a:off x="3986784" y="16916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6784" y="19751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输出方向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86784" y="2304288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交付可落地的 AI 应用方向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66944" y="21945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04688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5F9FD"/>
          </a:solidFill>
        </p:spPr>
      </p:sp>
      <p:sp>
        <p:nvSpPr>
          <p:cNvPr id="22" name="Text 20"/>
          <p:cNvSpPr/>
          <p:nvPr/>
        </p:nvSpPr>
        <p:spPr>
          <a:xfrm>
            <a:off x="5669280" y="16916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19751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沉淀复用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0" y="2304288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案例沉淀为场景清单与课程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87184" y="155448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5F9FD"/>
          </a:solidFill>
        </p:spPr>
      </p:sp>
      <p:sp>
        <p:nvSpPr>
          <p:cNvPr id="27" name="Text 25"/>
          <p:cNvSpPr/>
          <p:nvPr/>
        </p:nvSpPr>
        <p:spPr>
          <a:xfrm>
            <a:off x="7351776" y="16916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51776" y="197510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行业推广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51776" y="2304288"/>
            <a:ext cx="117043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向同行业复制推广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97280" y="361188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E8F1FD"/>
          </a:solidFill>
        </p:spPr>
      </p:sp>
      <p:sp>
        <p:nvSpPr>
          <p:cNvPr id="31" name="Text 29"/>
          <p:cNvSpPr/>
          <p:nvPr/>
        </p:nvSpPr>
        <p:spPr>
          <a:xfrm>
            <a:off x="1280160" y="3767328"/>
            <a:ext cx="6583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企业不必自建 AI 团队，就能获得与自身业务匹配的 AI 能力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09651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分散的个人能力，由此聚合成一支可调度的 AI 服务力量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端免费，B 端服务</a:t>
            </a:r>
            <a:endParaRPr lang="en-US" sz="25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5F9FD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13232" y="15727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13232" y="157276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端 · 学习者</a:t>
            </a:r>
            <a:endParaRPr lang="en-US" sz="10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13232" y="20299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永远免费开源</a:t>
            </a:r>
            <a:endParaRPr lang="en-US" sz="2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713232" y="2633472"/>
            <a:ext cx="3520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开源课程、组队学习、社区活动，全部免费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规模化培养并汇聚 AI 人才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不向学习者收费，是社区不变的底线</a:t>
            </a:r>
            <a:endParaRPr lang="en-US" sz="105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709160" y="137160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5F9FD"/>
          </a:solidFill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965192" y="15727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B7DE9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965192" y="157276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端 · 企业/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</a:t>
            </a:r>
            <a:endParaRPr lang="zh-CN" altLang="en-US" sz="10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965192" y="20299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服务创造收入</a:t>
            </a:r>
            <a:endParaRPr lang="en-US" sz="22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965192" y="2633472"/>
            <a:ext cx="3520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帮助科技企业构建人才生态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落地咨询、企业培训、一企一案解决方案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FDE 专业服务对接，支撑社区可持续运转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既解决就业，又服务产业——一种现代服务业新业态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开源生态学院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全国首个人工智能开源生态学院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4 月 29 日成立 · 杭州电子科技大学 × 西湖区人民政府 × Datawhale 校地企共建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417320"/>
            <a:ext cx="4937760" cy="530352"/>
          </a:xfrm>
          <a:prstGeom prst="roundRect">
            <a:avLst>
              <a:gd name="adj" fmla="val 17241"/>
            </a:avLst>
          </a:prstGeom>
          <a:solidFill>
            <a:srgbClr val="2B7DE9"/>
          </a:solidFill>
        </p:spPr>
      </p:sp>
      <p:sp>
        <p:nvSpPr>
          <p:cNvPr id="7" name="Text 5"/>
          <p:cNvSpPr/>
          <p:nvPr/>
        </p:nvSpPr>
        <p:spPr>
          <a:xfrm>
            <a:off x="2103120" y="1417320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一目标 · 没有围墙的学院：开放内容 · 开放资源 · 开放生态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三任务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9FD"/>
          </a:solidFill>
        </p:spPr>
      </p:sp>
      <p:sp>
        <p:nvSpPr>
          <p:cNvPr id="10" name="Text 8"/>
          <p:cNvSpPr/>
          <p:nvPr/>
        </p:nvSpPr>
        <p:spPr>
          <a:xfrm>
            <a:off x="685800" y="250545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开源学习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81635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 AI 学习者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395728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9FD"/>
          </a:solidFill>
        </p:spPr>
      </p:sp>
      <p:sp>
        <p:nvSpPr>
          <p:cNvPr id="13" name="Text 11"/>
          <p:cNvSpPr/>
          <p:nvPr/>
        </p:nvSpPr>
        <p:spPr>
          <a:xfrm>
            <a:off x="3474720" y="250545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开源生态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81635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 AI 开发者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2395728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F9FD"/>
          </a:solidFill>
        </p:spPr>
      </p:sp>
      <p:sp>
        <p:nvSpPr>
          <p:cNvPr id="16" name="Text 14"/>
          <p:cNvSpPr/>
          <p:nvPr/>
        </p:nvSpPr>
        <p:spPr>
          <a:xfrm>
            <a:off x="6263640" y="250545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创新创业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81635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 AI 创新者与赋能者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A8F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四中心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1947672" cy="1115568"/>
          </a:xfrm>
          <a:prstGeom prst="roundRect">
            <a:avLst>
              <a:gd name="adj" fmla="val 6557"/>
            </a:avLst>
          </a:prstGeom>
          <a:solidFill>
            <a:srgbClr val="E8F1FD"/>
          </a:solidFill>
        </p:spPr>
      </p:sp>
      <p:sp>
        <p:nvSpPr>
          <p:cNvPr id="20" name="Text 18"/>
          <p:cNvSpPr/>
          <p:nvPr/>
        </p:nvSpPr>
        <p:spPr>
          <a:xfrm>
            <a:off x="621792" y="37124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学习中心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02336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降低入门门槛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学练赛证用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51176" y="3584448"/>
            <a:ext cx="1947672" cy="1115568"/>
          </a:xfrm>
          <a:prstGeom prst="roundRect">
            <a:avLst>
              <a:gd name="adj" fmla="val 6557"/>
            </a:avLst>
          </a:prstGeom>
          <a:solidFill>
            <a:srgbClr val="E8F1FD"/>
          </a:solidFill>
        </p:spPr>
      </p:sp>
      <p:sp>
        <p:nvSpPr>
          <p:cNvPr id="23" name="Text 21"/>
          <p:cNvSpPr/>
          <p:nvPr/>
        </p:nvSpPr>
        <p:spPr>
          <a:xfrm>
            <a:off x="2715768" y="37124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OPC 孵化中心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15768" y="402336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激活创造力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从能做到被买单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45152" y="3584448"/>
            <a:ext cx="1947672" cy="1115568"/>
          </a:xfrm>
          <a:prstGeom prst="roundRect">
            <a:avLst>
              <a:gd name="adj" fmla="val 6557"/>
            </a:avLst>
          </a:prstGeom>
          <a:solidFill>
            <a:srgbClr val="E8F1FD"/>
          </a:solidFill>
        </p:spPr>
      </p:sp>
      <p:sp>
        <p:nvSpPr>
          <p:cNvPr id="26" name="Text 24"/>
          <p:cNvSpPr/>
          <p:nvPr/>
        </p:nvSpPr>
        <p:spPr>
          <a:xfrm>
            <a:off x="4809744" y="37124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人才评价中心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402336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建立能力标准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L1—L9 认定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39128" y="3584448"/>
            <a:ext cx="1947672" cy="1115568"/>
          </a:xfrm>
          <a:prstGeom prst="roundRect">
            <a:avLst>
              <a:gd name="adj" fmla="val 6557"/>
            </a:avLst>
          </a:prstGeom>
          <a:solidFill>
            <a:srgbClr val="E8F1FD"/>
          </a:solidFill>
        </p:spPr>
      </p:sp>
      <p:sp>
        <p:nvSpPr>
          <p:cNvPr id="29" name="Text 27"/>
          <p:cNvSpPr/>
          <p:nvPr/>
        </p:nvSpPr>
        <p:spPr>
          <a:xfrm>
            <a:off x="6903720" y="3712464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产业赋能中心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023360"/>
            <a:ext cx="1691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链接产业需求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场景与转化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开源生态学院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学院落地：阵地 · 标准 · 赛事 · 班级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69080" cy="1591056"/>
          </a:xfrm>
          <a:prstGeom prst="roundRect">
            <a:avLst>
              <a:gd name="adj" fmla="val 4598"/>
            </a:avLst>
          </a:prstGeom>
          <a:solidFill>
            <a:srgbClr val="F5F9FD"/>
          </a:solidFill>
        </p:spPr>
      </p:sp>
      <p:sp>
        <p:nvSpPr>
          <p:cNvPr id="6" name="Shape 4"/>
          <p:cNvSpPr/>
          <p:nvPr/>
        </p:nvSpPr>
        <p:spPr>
          <a:xfrm>
            <a:off x="676656" y="1609344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7" name="Text 5"/>
          <p:cNvSpPr/>
          <p:nvPr/>
        </p:nvSpPr>
        <p:spPr>
          <a:xfrm>
            <a:off x="932688" y="149961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阵地建设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1883664"/>
            <a:ext cx="3639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中国云谷人工智能教科人一体化实践基地落地西湖区，形成「学—练—赛—证—用」AI 学习链；学院实体空间年内挂牌运营。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4069080" cy="1591056"/>
          </a:xfrm>
          <a:prstGeom prst="roundRect">
            <a:avLst>
              <a:gd name="adj" fmla="val 4598"/>
            </a:avLst>
          </a:prstGeom>
          <a:solidFill>
            <a:srgbClr val="F5F9FD"/>
          </a:solidFill>
        </p:spPr>
      </p:sp>
      <p:sp>
        <p:nvSpPr>
          <p:cNvPr id="10" name="Shape 8"/>
          <p:cNvSpPr/>
          <p:nvPr/>
        </p:nvSpPr>
        <p:spPr>
          <a:xfrm>
            <a:off x="4837176" y="1609344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1" name="Text 9"/>
          <p:cNvSpPr/>
          <p:nvPr/>
        </p:nvSpPr>
        <p:spPr>
          <a:xfrm>
            <a:off x="5093208" y="149961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标准建设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1883664"/>
            <a:ext cx="3639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联合杭电、上海交大安泰、商汤科技等发布《OPC 九级人才能力标准（试行）》——国内首个开源 AI 人才分级评价标准；WAIC 2026 签约成立 OPC 人才孵化中心，启动「百业千企共建计划」。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4069080" cy="1591056"/>
          </a:xfrm>
          <a:prstGeom prst="roundRect">
            <a:avLst>
              <a:gd name="adj" fmla="val 4598"/>
            </a:avLst>
          </a:prstGeom>
          <a:solidFill>
            <a:srgbClr val="F5F9FD"/>
          </a:solidFill>
        </p:spPr>
      </p:sp>
      <p:sp>
        <p:nvSpPr>
          <p:cNvPr id="14" name="Shape 12"/>
          <p:cNvSpPr/>
          <p:nvPr/>
        </p:nvSpPr>
        <p:spPr>
          <a:xfrm>
            <a:off x="676656" y="3328416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5" name="Text 13"/>
          <p:cNvSpPr/>
          <p:nvPr/>
        </p:nvSpPr>
        <p:spPr>
          <a:xfrm>
            <a:off x="932688" y="321868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赛事牵引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" y="3602736"/>
            <a:ext cx="3639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全国规模最大的 OPC 能力挑战赛落地西湖区，累计参与 2 万余人，以真实场景任务牵引能力评价，为九级标准提供实测样本。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3090672"/>
            <a:ext cx="4069080" cy="1591056"/>
          </a:xfrm>
          <a:prstGeom prst="roundRect">
            <a:avLst>
              <a:gd name="adj" fmla="val 4598"/>
            </a:avLst>
          </a:prstGeom>
          <a:solidFill>
            <a:srgbClr val="F5F9FD"/>
          </a:solidFill>
        </p:spPr>
      </p:sp>
      <p:sp>
        <p:nvSpPr>
          <p:cNvPr id="18" name="Shape 16"/>
          <p:cNvSpPr/>
          <p:nvPr/>
        </p:nvSpPr>
        <p:spPr>
          <a:xfrm>
            <a:off x="4837176" y="3328416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9" name="Text 17"/>
          <p:cNvSpPr/>
          <p:nvPr/>
        </p:nvSpPr>
        <p:spPr>
          <a:xfrm>
            <a:off x="5093208" y="321868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班级运营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7176" y="3602736"/>
            <a:ext cx="36393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全国首个开源生态运营班、FDE 企业 AI 落地班相继开班，联动杭州 · 上海 · 南京三城，数十家企业创始人、CEO 级决策人带队到场。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权威认可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从地方改革到世界舞台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国务院「人工智能+」行动意见、政府工作报告与「十五五」规划，均明确支持人工智能开源生态建设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069080" cy="1481328"/>
          </a:xfrm>
          <a:prstGeom prst="roundRect">
            <a:avLst>
              <a:gd name="adj" fmla="val 4938"/>
            </a:avLst>
          </a:prstGeom>
          <a:solidFill>
            <a:srgbClr val="F5F9FD"/>
          </a:solidFill>
        </p:spPr>
      </p:sp>
      <p:sp>
        <p:nvSpPr>
          <p:cNvPr id="7" name="Shape 5"/>
          <p:cNvSpPr/>
          <p:nvPr/>
        </p:nvSpPr>
        <p:spPr>
          <a:xfrm>
            <a:off x="676656" y="1700784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8" name="Text 6"/>
          <p:cNvSpPr/>
          <p:nvPr/>
        </p:nvSpPr>
        <p:spPr>
          <a:xfrm>
            <a:off x="932688" y="159105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世界数字教育大会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75104"/>
            <a:ext cx="36393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年杭州开幕式上，作为唯一受邀登台的中国企业代表，向全球分享中国 AI 人才培养与开源生态实践。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481328"/>
            <a:ext cx="4069080" cy="1481328"/>
          </a:xfrm>
          <a:prstGeom prst="roundRect">
            <a:avLst>
              <a:gd name="adj" fmla="val 4938"/>
            </a:avLst>
          </a:prstGeom>
          <a:solidFill>
            <a:srgbClr val="F5F9FD"/>
          </a:solidFill>
        </p:spPr>
      </p:sp>
      <p:sp>
        <p:nvSpPr>
          <p:cNvPr id="11" name="Shape 9"/>
          <p:cNvSpPr/>
          <p:nvPr/>
        </p:nvSpPr>
        <p:spPr>
          <a:xfrm>
            <a:off x="4837176" y="1700784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2" name="Text 10"/>
          <p:cNvSpPr/>
          <p:nvPr/>
        </p:nvSpPr>
        <p:spPr>
          <a:xfrm>
            <a:off x="5093208" y="1591056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省级改革认可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37176" y="1975104"/>
            <a:ext cx="36393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相关做法被《浙里改 · 重大改革月报》收录为典型案例。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69080" cy="1481328"/>
          </a:xfrm>
          <a:prstGeom prst="roundRect">
            <a:avLst>
              <a:gd name="adj" fmla="val 4938"/>
            </a:avLst>
          </a:prstGeom>
          <a:solidFill>
            <a:srgbClr val="F5F9FD"/>
          </a:solidFill>
        </p:spPr>
      </p:sp>
      <p:sp>
        <p:nvSpPr>
          <p:cNvPr id="15" name="Shape 13"/>
          <p:cNvSpPr/>
          <p:nvPr/>
        </p:nvSpPr>
        <p:spPr>
          <a:xfrm>
            <a:off x="676656" y="3328416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16" name="Text 14"/>
          <p:cNvSpPr/>
          <p:nvPr/>
        </p:nvSpPr>
        <p:spPr>
          <a:xfrm>
            <a:off x="932688" y="321868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主流媒体报道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" y="3602736"/>
            <a:ext cx="36393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获中央广播电视总台等主流媒体报道，是杭州「五小凤」代表企业之一。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108960"/>
            <a:ext cx="4069080" cy="1481328"/>
          </a:xfrm>
          <a:prstGeom prst="roundRect">
            <a:avLst>
              <a:gd name="adj" fmla="val 4938"/>
            </a:avLst>
          </a:prstGeom>
          <a:solidFill>
            <a:srgbClr val="F5F9FD"/>
          </a:solidFill>
        </p:spPr>
      </p:sp>
      <p:sp>
        <p:nvSpPr>
          <p:cNvPr id="19" name="Shape 17"/>
          <p:cNvSpPr/>
          <p:nvPr/>
        </p:nvSpPr>
        <p:spPr>
          <a:xfrm>
            <a:off x="4837176" y="3328416"/>
            <a:ext cx="128016" cy="128016"/>
          </a:xfrm>
          <a:prstGeom prst="rect">
            <a:avLst/>
          </a:prstGeom>
          <a:solidFill>
            <a:srgbClr val="2B7DE9"/>
          </a:solidFill>
        </p:spPr>
      </p:sp>
      <p:sp>
        <p:nvSpPr>
          <p:cNvPr id="20" name="Text 18"/>
          <p:cNvSpPr/>
          <p:nvPr/>
        </p:nvSpPr>
        <p:spPr>
          <a:xfrm>
            <a:off x="5093208" y="321868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行业与平台共建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37176" y="3602736"/>
            <a:ext cx="36393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参与发布国内首个开源 AI 人才培养方案，与「学习强国」平台共建 AI 板块。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8F1FD"/>
          </a:solidFill>
        </p:spPr>
      </p:sp>
      <p:sp>
        <p:nvSpPr>
          <p:cNvPr id="3" name="Text 1"/>
          <p:cNvSpPr/>
          <p:nvPr/>
        </p:nvSpPr>
        <p:spPr>
          <a:xfrm>
            <a:off x="457200" y="310896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未来布局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以杭州为策源地，走向全国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OPC 人才评价标准、开源生态学院模式、新型班级体系，均在杭州首创并成型；各城市节点沿用同一套标准与课程体系——杭州是国内开源 AI 人才标准的起点。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学习中心由科技企业、高校学院、地方政府等多方共建，已在多城落地推进。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4630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5F9FD"/>
          </a:solidFill>
        </p:spPr>
      </p:sp>
      <p:sp>
        <p:nvSpPr>
          <p:cNvPr id="8" name="Text 6"/>
          <p:cNvSpPr/>
          <p:nvPr/>
        </p:nvSpPr>
        <p:spPr>
          <a:xfrm>
            <a:off x="4526280" y="15910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城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215798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已推进学习中心建设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14630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5F9FD"/>
          </a:solidFill>
        </p:spPr>
      </p:sp>
      <p:sp>
        <p:nvSpPr>
          <p:cNvPr id="11" name="Text 9"/>
          <p:cNvSpPr/>
          <p:nvPr/>
        </p:nvSpPr>
        <p:spPr>
          <a:xfrm>
            <a:off x="6675120" y="159105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75120" y="215798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核心城市节点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2788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5F9FD"/>
          </a:solidFill>
        </p:spPr>
      </p:sp>
      <p:sp>
        <p:nvSpPr>
          <p:cNvPr id="14" name="Text 12"/>
          <p:cNvSpPr/>
          <p:nvPr/>
        </p:nvSpPr>
        <p:spPr>
          <a:xfrm>
            <a:off x="4526280" y="29169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348386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联合科技企业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788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5F9FD"/>
          </a:solidFill>
        </p:spPr>
      </p:sp>
      <p:sp>
        <p:nvSpPr>
          <p:cNvPr id="17" name="Text 15"/>
          <p:cNvSpPr/>
          <p:nvPr/>
        </p:nvSpPr>
        <p:spPr>
          <a:xfrm>
            <a:off x="6675120" y="29169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 所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3483864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共建高校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1FD"/>
          </a:solidFill>
        </p:spPr>
      </p:sp>
      <p:sp>
        <p:nvSpPr>
          <p:cNvPr id="20" name="Text 1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目标：建成全国最大的人工智能学习生态网络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18120" y="487375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87375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E8F1FD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132320" y="2926080"/>
            <a:ext cx="3291840" cy="3291840"/>
          </a:xfrm>
          <a:prstGeom prst="ellipse">
            <a:avLst/>
          </a:prstGeom>
          <a:solidFill>
            <a:srgbClr val="E8F1FD">
              <a:alpha val="5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138160" y="914400"/>
            <a:ext cx="292608" cy="292608"/>
          </a:xfrm>
          <a:prstGeom prst="ellipse">
            <a:avLst/>
          </a:prstGeom>
          <a:solidFill>
            <a:srgbClr val="6FA8F5">
              <a:alpha val="7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14400" y="17830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2B7D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开源 · 共建 · 成长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0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Datawhale · 与开发者一起开源成长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www.datawhale.cn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2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3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4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5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6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7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8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9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ags/tag10.xml><?xml version="1.0" encoding="utf-8"?>
<p:tagLst xmlns:p="http://schemas.openxmlformats.org/presentationml/2006/main">
  <p:tag name="KSO_WM_DIAGRAM_VIRTUALLY_FRAME" val="{&quot;height&quot;:212.4,&quot;left&quot;:36,&quot;top&quot;:108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3144</Words>
  <Application>WPS 演示</Application>
  <PresentationFormat>On-screen Show (16:9)</PresentationFormat>
  <Paragraphs>496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Datawhale 介绍</dc:title>
  <dc:creator>Datawhale</dc:creator>
  <dc:subject>PptxGenJS Presentation</dc:subject>
  <cp:lastModifiedBy>Anson</cp:lastModifiedBy>
  <cp:revision>2</cp:revision>
  <dcterms:created xsi:type="dcterms:W3CDTF">2026-09-19T08:03:00Z</dcterms:created>
  <dcterms:modified xsi:type="dcterms:W3CDTF">2026-09-19T08:23:52Z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</Properties>
</file>
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731520"/>
            <a:ext cx="3291840" cy="329184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DATAWHALE  ·  2026.07.13  ·  杭州</a:t>
            </a:r>
            <a:endParaRPr sz="13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没有围墙的大学</a:t>
            </a:r>
            <a:endParaRPr sz="4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开源生态如何加速教育科技人才一体化</a:t>
            </a:r>
            <a:endParaRPr sz="28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浙江省杭州市西湖区  ·  开源教育生态大会</a:t>
            </a:r>
            <a:endParaRPr sz="14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DATAWHALE 简介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杭州“五小凤”代表</a:t>
            </a:r>
            <a:endParaRPr sz="3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央视《经济半小时》专题报道的生态建设典范</a:t>
            </a:r>
            <a:endParaRPr sz="15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029200" cy="38404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572000" cy="18288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Datawhale 是一个开源学习社区，致力于推进 AI 开源学习与共建
AI 开源生态。通过连接学习者、贡献者、合作者与客户生态，实现
资源的高效链接与有效赋能。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Github TOP25</a:t>
            </a:r>
            <a:endParaRPr sz="1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420624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全球开源社区排名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100万+</a:t>
            </a:r>
            <a:endParaRPr sz="1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480060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全球学习者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59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3000+</a:t>
            </a:r>
            <a:endParaRPr sz="1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5394959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合作高校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5669280" cy="3177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POLICY CONTEXT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人工智能开源生态：产业落地转化的关键</a:t>
            </a:r>
            <a:endParaRPr sz="30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政策高度重视：打造智能经济新形态、支持开源社区建设、促进开源生态繁荣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3832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38328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国务院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《关于深入实施“人工智能+”行动的意见》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促进开源生态繁荣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1959" y="1965960"/>
            <a:ext cx="33832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338328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2026年政府工作报告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支持人工智能开源社区建设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促进开源生态繁荣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55279" y="1965960"/>
            <a:ext cx="33832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965960"/>
            <a:ext cx="338328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21031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十五五规划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38159" y="246888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推进开源体系建设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59" y="30175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完善开源运行机制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3" name="Picture 2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39"/>
            <a:ext cx="2086051" cy="2651760"/>
          </a:xfrm>
          <a:prstGeom prst="rect">
            <a:avLst/>
          </a:prstGeom>
        </p:spPr>
      </p:pic>
      <p:pic>
        <p:nvPicPr>
          <p:cNvPr id="24" name="Picture 2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749039"/>
            <a:ext cx="6143127" cy="2651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3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EDUCATION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人工智能开源生态：教育部重点推进</a:t>
            </a:r>
            <a:endParaRPr sz="30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教育部高度重视：建设人工智能学习社区、汇聚开源课程、鼓励师生参与开源生态建设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47548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01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建设AI学习社区</a:t>
            </a:r>
            <a:endParaRPr sz="16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3749039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打造面向高校的人工智能
学习社区与开源课程体系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47548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02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352044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汇聚开源课程</a:t>
            </a:r>
            <a:endParaRPr sz="16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3749039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整合全球优质AI教育资源
鼓励师生共建开源内容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47548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03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49377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师生参与开源生态</a:t>
            </a:r>
            <a:endParaRPr sz="16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5349240"/>
            <a:ext cx="3749039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连接产业一线与开发者社区
培养实战型AI人才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3" name="Picture 22" descr="image5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011680"/>
            <a:ext cx="6092175" cy="4572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4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第一段 · 为什么需要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AI+X 时代，培养一个学生需要——</a:t>
            </a:r>
            <a:endParaRPr sz="2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59436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最新的知识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5486400" cy="594360"/>
          </a:xfrm>
          <a:prstGeom prst="round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901952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在开源社区</a:t>
            </a:r>
            <a:endParaRPr sz="16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657600" cy="59436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最强的模型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79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03520" y="2651760"/>
            <a:ext cx="5486400" cy="594360"/>
          </a:xfrm>
          <a:prstGeom prst="round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724912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在 AI 公司</a:t>
            </a:r>
            <a:endParaRPr sz="16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657600" cy="59436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真实的场景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3520439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03520" y="3474720"/>
            <a:ext cx="5486400" cy="594360"/>
          </a:xfrm>
          <a:prstGeom prst="round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547872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在产业一线</a:t>
            </a:r>
            <a:endParaRPr sz="16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3657600" cy="59436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同伴和导师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343400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03520" y="4297680"/>
            <a:ext cx="5486400" cy="594360"/>
          </a:xfrm>
          <a:prstGeom prst="round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370832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在跨地域的开发者生态</a:t>
            </a:r>
            <a:endParaRPr sz="16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3657600" cy="59436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93792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认证和机会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0" y="5166359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03520" y="5120640"/>
            <a:ext cx="5486400" cy="594360"/>
          </a:xfrm>
          <a:prstGeom prst="round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5193792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在更广的开放生态</a:t>
            </a:r>
            <a:endParaRPr sz="16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6035040"/>
            <a:ext cx="1069848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过去可以被一所大学单独提供。今天，任何大学都拥有不了。</a:t>
            </a:r>
            <a:endParaRPr sz="15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5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第一段 · 为什么需要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这不是大学跟不上，</a:t>
            </a:r>
            <a:endParaRPr sz="3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这是 AI+X 时代的资源，</a:t>
            </a:r>
            <a:endParaRPr sz="3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本来就分散在生态里。</a:t>
            </a:r>
            <a:endParaRPr sz="3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512064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大学的不变价值：治学传统、思想沉淀、人格培养、长期主义</a:t>
            </a:r>
            <a:endParaRPr sz="16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6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第一段 · 为什么需要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既然资源分散，教育科技人才一体化：</a:t>
            </a:r>
            <a:endParaRPr sz="22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协同是必需，不是选项。</a:t>
            </a:r>
            <a:endParaRPr sz="3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00400" cy="18288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2004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7432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不能是单一企业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立场偏</a:t>
            </a:r>
            <a:endParaRPr sz="14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200400" cy="18288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2004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27432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不能是单一大学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资源缺</a:t>
            </a:r>
            <a:endParaRPr sz="14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200400" cy="18288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32004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27432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不能是单一社区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320" y="37490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深度不够</a:t>
            </a:r>
            <a:endParaRPr sz="14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→  必须是一所新形态，开源生态几乎是唯一的出路</a:t>
            </a:r>
            <a:endParaRPr sz="1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7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第二段 · 如何推动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在教育科技人才一体化的版图中，Datawhale 在哪一块？</a:t>
            </a:r>
            <a:endParaRPr sz="26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9184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8346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高校</a:t>
            </a:r>
            <a:endParaRPr sz="2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提供学位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承担教学体系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培养「人」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6240" y="1828800"/>
            <a:ext cx="329184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29184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28346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产业</a:t>
            </a:r>
            <a:endParaRPr sz="2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283464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提供岗位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338328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承担技术演进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使用「人」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63840" y="1828800"/>
            <a:ext cx="329184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828800"/>
            <a:ext cx="3291840" cy="54864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03120"/>
            <a:ext cx="28346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生态</a:t>
            </a:r>
            <a:endParaRPr sz="2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2440" y="283464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提供协同接口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92440" y="338328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承担规模化连接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2440" y="3931920"/>
            <a:ext cx="28346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让人和事持续匹配</a:t>
            </a:r>
            <a:endParaRPr sz="14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5577840"/>
            <a:ext cx="10698480" cy="640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Datawhale 作为开源学习社区 — 是让高校和产业能够持续对话的第三方生态</a:t>
            </a:r>
            <a:endParaRPr sz="15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8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12205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CORE MISSION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Datawhale 两大核心任务</a:t>
            </a:r>
            <a:endParaRPr sz="30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推进 AI 开源学习  &amp;  共建 AI 开源生态</a:t>
            </a:r>
            <a:endParaRPr sz="16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4864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01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推进 AI 开源学习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384048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连接全球学习者与贡献者，
打造最大的AI开源学习社区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377440"/>
            <a:ext cx="54864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02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共建 AI 开源生态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2926080"/>
            <a:ext cx="384048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联合科技企业、高校、政府，
构建开放协同的生态体系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8" name="Picture 17" descr="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3365"/>
            <a:ext cx="2640683" cy="2468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577965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开源学习社区运营实景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0" name="Picture 1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063365"/>
            <a:ext cx="2506945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0" y="6577965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AI 开源生态共建现场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0" y="6303645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9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OPEN ECOSYSTEM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打造开放的 AI 开源生态圈</a:t>
            </a:r>
            <a:endParaRPr sz="30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连接学习者、贡献者、合作者、客户生态，实现资源的高效链接与有效赋能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1828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学习者生态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92608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全球超百万的学习者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贡献者生态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全球的开源贡献者力量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73152" cy="1828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526280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合作者生态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507492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与全球数百家高校和企业
及相关政府、社区共建资源池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343400"/>
            <a:ext cx="530352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343400"/>
            <a:ext cx="73152" cy="1828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80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客户生态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07492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科技企业、高校等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10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DATAWHALE AI ECOSYSTEM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Datawhale 的 AI 开源生态圈</a:t>
            </a:r>
            <a:endParaRPr sz="3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Github 全球排名 TOP25，国内第一的 AI 开源学习社区</a:t>
            </a:r>
            <a:endParaRPr sz="16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TOP 25</a:t>
            </a:r>
            <a:endParaRPr sz="120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Github 全球开源社区排名</a:t>
            </a:r>
            <a:endParaRPr sz="22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0" y="5669280"/>
            <a:ext cx="393192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11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COLLABORATION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协同高校、产业与社区</a:t>
            </a:r>
            <a:endParaRPr sz="30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学练赛证用：形成有效的 AI 学习链</a:t>
            </a:r>
            <a:endParaRPr sz="15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5839" y="2423160"/>
            <a:ext cx="1005840" cy="1005840"/>
          </a:xfrm>
          <a:prstGeom prst="ellipse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9202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学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743200"/>
            <a:ext cx="274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6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解决孤独感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200400" y="2423160"/>
            <a:ext cx="1005840" cy="1005840"/>
          </a:xfrm>
          <a:prstGeom prst="ellipse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14600"/>
            <a:ext cx="19202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练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74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6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3749039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听懂到做出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94959" y="2423160"/>
            <a:ext cx="1005840" cy="1005840"/>
          </a:xfrm>
          <a:prstGeom prst="ellipse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2514600"/>
            <a:ext cx="19202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赛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274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6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59" y="3749039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做出到做好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589519" y="2423160"/>
            <a:ext cx="1005840" cy="1005840"/>
          </a:xfrm>
          <a:prstGeom prst="ellipse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2514600"/>
            <a:ext cx="19202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证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52559" y="2743200"/>
            <a:ext cx="2743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6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19" y="3749039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做好被看见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784080" y="2423160"/>
            <a:ext cx="1005840" cy="1005840"/>
          </a:xfrm>
          <a:prstGeom prst="ellipse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514600"/>
            <a:ext cx="19202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用</a:t>
            </a:r>
            <a:endParaRPr sz="2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3749039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看见到创造价值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10698480" cy="640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我们不再只是把知识打开，而是把整条资源链组织起来。</a:t>
            </a:r>
            <a:endParaRPr sz="15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12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CASE 01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与浙江大学联合共建 AI 通识课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与浙江大学智海Mo平台联合共建《OPEN 1+X AI通识课》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176272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国内首个由头部开源社区和顶尖高校联合打造的AI通识课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679191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3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面向高校各个学科的人工智能通识培养方案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面向行业培养AI+X复合型人才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4" name="Picture 13" descr="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5029200" cy="1995964"/>
          </a:xfrm>
          <a:prstGeom prst="rect">
            <a:avLst/>
          </a:prstGeom>
        </p:spPr>
      </p:pic>
      <p:pic>
        <p:nvPicPr>
          <p:cNvPr id="15" name="Picture 1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0"/>
            <a:ext cx="4385378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13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CASE 02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联合魔搭社区完成“学练赛证用”闭环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2023年12月，一个月内吸引1000+开发者深度学习Agent框架，创作100+AI Agent作品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5603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2860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1000+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开发者参与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5603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22860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100+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27432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AI Agent作品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5603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2860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Top5中3个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来自学习培育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5603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22860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首个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89720" y="27432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Agent Engineer认证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0" name="Picture 19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2194560" cy="428716"/>
          </a:xfrm>
          <a:prstGeom prst="rect">
            <a:avLst/>
          </a:prstGeom>
        </p:spPr>
      </p:pic>
      <p:pic>
        <p:nvPicPr>
          <p:cNvPr id="21" name="Picture 20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657600"/>
            <a:ext cx="1965277" cy="1371600"/>
          </a:xfrm>
          <a:prstGeom prst="rect">
            <a:avLst/>
          </a:prstGeom>
        </p:spPr>
      </p:pic>
      <p:pic>
        <p:nvPicPr>
          <p:cNvPr id="22" name="Picture 21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657600"/>
            <a:ext cx="2194560" cy="1234440"/>
          </a:xfrm>
          <a:prstGeom prst="rect">
            <a:avLst/>
          </a:prstGeom>
        </p:spPr>
      </p:pic>
      <p:pic>
        <p:nvPicPr>
          <p:cNvPr id="23" name="Picture 22" descr="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00"/>
            <a:ext cx="2194560" cy="601612"/>
          </a:xfrm>
          <a:prstGeom prst="rect">
            <a:avLst/>
          </a:prstGeom>
        </p:spPr>
      </p:pic>
      <p:pic>
        <p:nvPicPr>
          <p:cNvPr id="24" name="Picture 23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3657600"/>
            <a:ext cx="1828800" cy="1070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14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CASE 03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全国线上规模最大的 AI 夏令营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自2023年起，与100+联合组织方共同打造全国规模最大的AI夏令营，已连续举办三届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3832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3000+</a:t>
            </a:r>
            <a:endParaRPr sz="26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合作高校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79" y="2103120"/>
            <a:ext cx="33832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19456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70,000+</a:t>
            </a:r>
            <a:endParaRPr sz="26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59" y="26974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学习者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9" y="2103120"/>
            <a:ext cx="33832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19456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100+</a:t>
            </a:r>
            <a:endParaRPr sz="26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9" y="26974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AI实际场景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7" name="Picture 16" descr="imag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0"/>
            <a:ext cx="2743200" cy="2138495"/>
          </a:xfrm>
          <a:prstGeom prst="rect">
            <a:avLst/>
          </a:prstGeom>
        </p:spPr>
      </p:pic>
      <p:pic>
        <p:nvPicPr>
          <p:cNvPr id="18" name="Picture 17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474720"/>
            <a:ext cx="2743200" cy="1333050"/>
          </a:xfrm>
          <a:prstGeom prst="rect">
            <a:avLst/>
          </a:prstGeom>
        </p:spPr>
      </p:pic>
      <p:pic>
        <p:nvPicPr>
          <p:cNvPr id="19" name="Picture 18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74720"/>
            <a:ext cx="1079055" cy="2286000"/>
          </a:xfrm>
          <a:prstGeom prst="rect">
            <a:avLst/>
          </a:prstGeom>
        </p:spPr>
      </p:pic>
      <p:pic>
        <p:nvPicPr>
          <p:cNvPr id="20" name="Picture 19" descr="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474720"/>
            <a:ext cx="3108960" cy="18056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15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CASE 04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全国线下最大规模 AI 黑客松高校联赛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2026年，与魔搭社区共同发起，11所顶尖高校、50+评委、3000+创造者，产出410+ AI应用作品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5603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11所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顶尖高校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5603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50+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行业评委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5603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3000+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创造者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5603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410+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89720" y="2606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AI应用作品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0" name="Picture 19" descr="image2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4804353" cy="3200400"/>
          </a:xfrm>
          <a:prstGeom prst="rect">
            <a:avLst/>
          </a:prstGeom>
        </p:spPr>
      </p:pic>
      <p:pic>
        <p:nvPicPr>
          <p:cNvPr id="21" name="Picture 20" descr="image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83280"/>
            <a:ext cx="4800600" cy="320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16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第三段 · 如何持续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建设全球最大的人工智能学习生态网络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2026年，联合50+科技企业与100+高校，在全国15+核心城市建立学习中心节点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4688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46888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学习中心</a:t>
            </a:r>
            <a:endParaRPr sz="15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降低入门门槛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24688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4688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OPC 孵化中心</a:t>
            </a:r>
            <a:endParaRPr sz="15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9000" y="2834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激活创造力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35040" y="2103120"/>
            <a:ext cx="24688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103120"/>
            <a:ext cx="246888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人才评价中心</a:t>
            </a:r>
            <a:endParaRPr sz="15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2200" y="2834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建立能力标准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778240" y="2103120"/>
            <a:ext cx="24688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2103120"/>
            <a:ext cx="246888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行业赋能中心</a:t>
            </a:r>
            <a:endParaRPr sz="15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15400" y="2834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链接产业需求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39"/>
            <a:ext cx="1069848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一纵战略 — 8个微推动 · 4+2+2 结构：4个学习类 + 2个实践类 + 2个创业类</a:t>
            </a:r>
            <a:endParaRPr sz="13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5371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微场景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基于真实场景的学习案例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291840" y="448056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55371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微技能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8328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模块化的AI技能实践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35040" y="448056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9" y="455371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微应用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26479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用AI解决场景问题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778240" y="448056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55371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微交流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6968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学习交流与知识分享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8640" y="557784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509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微课程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0080" y="6035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短小精悍的AI学习路径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291840" y="557784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6509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微实训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83280" y="6035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参与AI项目实训营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035040" y="557784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79" y="56509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微空间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26479" y="6035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创新实验与协作空间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778240" y="5577840"/>
            <a:ext cx="2468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56509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微创业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69680" y="60350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从创意到创业的孵化</a:t>
            </a:r>
            <a:endParaRPr sz="10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17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PARTNERSHIPS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共建 AI 学习中心：从开放知识到开放资源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科技企业类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高校学院类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37759" y="164592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1691640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地方政府类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19" y="164592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691640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国家媒体类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326880" y="164592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691640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社团组织类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7" name="Picture 16" descr="image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3662680"/>
          </a:xfrm>
          <a:prstGeom prst="rect">
            <a:avLst/>
          </a:prstGeom>
        </p:spPr>
      </p:pic>
      <p:pic>
        <p:nvPicPr>
          <p:cNvPr id="18" name="Picture 17" descr="image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77440"/>
            <a:ext cx="5486400" cy="3086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18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LEARNING CENTERS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三大学习中心 · 学科覆盖面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06984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965960"/>
            <a:ext cx="1097280" cy="36576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93392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经管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上海交通大学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× 安泰经济与管理学院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核心：AI+经管实训营 · 连续三年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06984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3429000"/>
            <a:ext cx="1097280" cy="36576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56432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理工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东南大学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× 国家卓越工程师学院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核心：大模型实训营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0698480" cy="1234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73152" cy="1234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4892040"/>
            <a:ext cx="1097280" cy="36576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919472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通识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浙江大学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× 浙大未来学习中心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核心：Datawhale-ZJU 开源社区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069848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学习中心是接口，学院是实体 — 从单点共建到系统共建</a:t>
            </a:r>
            <a:endParaRPr sz="13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19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MILESTONE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国内首个人工智能开源生态学院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校地企联合共建：杭州电子科技大学、西湖区政府、Datawhale
产业生态伙伴：魔搭社区、云谷中心、蚂蚁集团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8" name="Picture 7" descr="image3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3878580"/>
          </a:xfrm>
          <a:prstGeom prst="rect">
            <a:avLst/>
          </a:prstGeom>
        </p:spPr>
      </p:pic>
      <p:pic>
        <p:nvPicPr>
          <p:cNvPr id="9" name="Picture 8" descr="image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77440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20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OPEN ACADEMY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没有围墙的学院：人工智能开源生态学院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校地企融合的系统样板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291840" cy="7315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2148840"/>
            <a:ext cx="548640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76272"/>
            <a:ext cx="5486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校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杭州电子科技大学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6240" y="2011680"/>
            <a:ext cx="3291840" cy="7315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32918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59" y="2148840"/>
            <a:ext cx="548640" cy="3657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176272"/>
            <a:ext cx="5486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地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1945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西湖区政府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863840" y="2011680"/>
            <a:ext cx="3291840" cy="7315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011680"/>
            <a:ext cx="329184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24159" y="2148840"/>
            <a:ext cx="548640" cy="36576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9" y="2176272"/>
            <a:ext cx="5486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企/社区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01000" y="21945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Datawhale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017520"/>
            <a:ext cx="1069848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632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人工智能开源生态学院 · 四大中心</a:t>
            </a:r>
            <a:endParaRPr sz="14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24688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49039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学习中心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降低入门门槛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91840" y="3657600"/>
            <a:ext cx="24688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749039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OPC 孵化中心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29000" y="4114800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激活创造力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035040" y="3657600"/>
            <a:ext cx="24688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749039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人才评价中心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72200" y="4114800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建立能力标准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778240" y="3657600"/>
            <a:ext cx="24688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749039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行业赋能中心</a:t>
            </a:r>
            <a:endParaRPr sz="13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15400" y="4114800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链接产业需求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五大生态伙伴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48072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魔搭社区</a:t>
            </a:r>
            <a:endParaRPr sz="11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743200" y="512064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5148072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云谷中心</a:t>
            </a:r>
            <a:endParaRPr sz="11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937759" y="512064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199" y="5148072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蚂蚁集团</a:t>
            </a:r>
            <a:endParaRPr sz="11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132319" y="512064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59" y="5148072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天工开物开源基金会</a:t>
            </a:r>
            <a:endParaRPr sz="11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326880" y="5120640"/>
            <a:ext cx="1965960" cy="4572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19" y="5148072"/>
            <a:ext cx="1783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杭州资本</a:t>
            </a:r>
            <a:endParaRPr sz="11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学校 + 政府 + 社区第一次站在一起，「没有围墙」成为地图上的坐标</a:t>
            </a:r>
            <a:endParaRPr sz="13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21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INCUBATION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国内首个 OPC AI 开源生态孵化中心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武汉市洪武区 · 华中科技大学 · 天工开物开源基金会 · Datawhale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8" name="Picture 7" descr="image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713088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2103120"/>
            <a:ext cx="4297680" cy="44805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2103120"/>
            <a:ext cx="42976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孵化中心核心功能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0" y="3108960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090672"/>
            <a:ext cx="3383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AI 创业孵化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79" y="347472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为 OPC 创业者提供技术、资金与导师支持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0" y="4206240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187952"/>
            <a:ext cx="3383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开源项目实训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457200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真实项目驱动的能力培养体系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0" y="5303520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285232"/>
            <a:ext cx="33832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产业对接平台</a:t>
            </a:r>
            <a:endParaRPr sz="14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79" y="566928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连接企业需求与人才输出通道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22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OPC · ONE PERSON CAPABILITY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四年培养之后，我们到底要交付什么样的人？</a:t>
            </a:r>
            <a:endParaRPr sz="2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培养「知识型」人才</a:t>
            </a:r>
            <a:endParaRPr sz="1600" b="1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1828800" cy="2743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知识，AI记得更全</a:t>
            </a:r>
            <a:endParaRPr sz="13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13716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培养「技能型」人才</a:t>
            </a:r>
            <a:endParaRPr sz="1600" b="1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0" y="2743200"/>
            <a:ext cx="1828800" cy="2743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技能，AI已经能做</a:t>
            </a:r>
            <a:endParaRPr sz="13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291840" cy="137160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培养「执行型」人才</a:t>
            </a:r>
            <a:endParaRPr sz="1600" b="1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1828800" cy="2743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执行，正在被自动化</a:t>
            </a:r>
            <a:endParaRPr sz="13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69848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「AI 人才」的定义必须重新被书写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28800" y="4846320"/>
            <a:ext cx="8503920" cy="1645920"/>
          </a:xfrm>
          <a:prstGeom prst="roundRect">
            <a:avLst/>
          </a:prstGeom>
          <a:solidFill>
            <a:srgbClr val="17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4846320"/>
            <a:ext cx="850392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029200"/>
            <a:ext cx="27432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8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OPC</a:t>
            </a:r>
            <a:endParaRPr sz="48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0" y="50749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One Person Capability · 一人 AI 全栈能力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0" y="55778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能独立用 AI 完成价值交付的人</a:t>
            </a:r>
            <a:endParaRPr sz="14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0" y="598932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这才是 AI 时代真正的人才出口</a:t>
            </a:r>
            <a:endParaRPr sz="13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23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OPC STANDARD</a:t>
            </a:r>
            <a:endParaRPr sz="11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OPC 九级人才能力标准（试行）· 多方共建落地</a:t>
            </a:r>
            <a:endParaRPr sz="2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463040" cy="1783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14630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Learner</a:t>
            </a:r>
            <a:endParaRPr sz="16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L1 – L3</a:t>
            </a:r>
            <a:endParaRPr sz="11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205740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认知与实践</a:t>
            </a:r>
            <a:endParaRPr sz="10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20240" y="109728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097280"/>
            <a:ext cx="324612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207007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L1 · 认知者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9968" y="155448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理解OPC概念
具备AI素养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29968" y="242316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44144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试点：Datawhale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49240" y="109728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097280"/>
            <a:ext cx="324612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1207007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L2 · 工具使用者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58968" y="155448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熟用主流AI工具
用对、用好工具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58968" y="242316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44144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试点：商汤科技 / 高教社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778240" y="109728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1097280"/>
            <a:ext cx="324612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7" y="1207007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L3 · 场景识别者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87967" y="155448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识别可改造场景
需求分析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887967" y="242316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244144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试点：紫金港科技城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" y="3017520"/>
            <a:ext cx="1463040" cy="1783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200400"/>
            <a:ext cx="14630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Builder</a:t>
            </a:r>
            <a:endParaRPr sz="1600" b="1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4320" y="365760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L4 – L6</a:t>
            </a:r>
            <a:endParaRPr sz="11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4320" y="3977639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产品与交付</a:t>
            </a:r>
            <a:endParaRPr sz="10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920240" y="301752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20240" y="3017520"/>
            <a:ext cx="324612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29968" y="312724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L4 · 工作流搭建者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29968" y="347472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组合多工具
替代岗位职能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029968" y="434340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436168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试点：商汤科技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349240" y="301752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49240" y="3017520"/>
            <a:ext cx="324612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58968" y="312724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L5 · 应用构建者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58968" y="347472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独立做出AI应用
可交付可运行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458968" y="434340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436168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试点：魔搭社区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778240" y="301752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0" y="3017520"/>
            <a:ext cx="324612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7" y="312724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L6 · 价值交付者 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87967" y="347472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真实商业交付
从能做到被买单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887967" y="434340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19" y="436168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试点：杭州资本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74320" y="4937760"/>
            <a:ext cx="1463040" cy="1783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120640"/>
            <a:ext cx="146304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A855F7"/>
                </a:solidFill>
                <a:latin typeface="Calibri" panose="020F0502020204030204"/>
                <a:ea typeface="微软雅黑" panose="020B0503020204020204" charset="-122"/>
              </a:rPr>
              <a:t>Founder</a:t>
            </a:r>
            <a:endParaRPr sz="1600" b="1">
              <a:solidFill>
                <a:srgbClr val="A855F7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4320" y="557784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L7 – L9</a:t>
            </a:r>
            <a:endParaRPr sz="11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4320" y="589788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 panose="020F0502020204030204"/>
                <a:ea typeface="微软雅黑" panose="020B0503020204020204" charset="-122"/>
              </a:rPr>
              <a:t>闭环与生态</a:t>
            </a:r>
            <a:endParaRPr sz="1000" b="0">
              <a:solidFill>
                <a:srgbClr val="CBD5E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920240" y="493776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20240" y="4937760"/>
            <a:ext cx="3246120" cy="3657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9968" y="504748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L7 · 业务闭环者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029968" y="539496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获客→交付→收款
持续稳定收入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029968" y="626364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03120" y="628192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试点：西湖区组织部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349240" y="493776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49240" y="4937760"/>
            <a:ext cx="3246120" cy="3657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58968" y="504748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L8 · 系统协作者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58968" y="539496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调度多Agent
一人多角运作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458968" y="626364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2120" y="628192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试点：浙江省智能经济促进会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778240" y="4937760"/>
            <a:ext cx="3246120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937760"/>
            <a:ext cx="3246120" cy="3657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87967" y="5047488"/>
            <a:ext cx="3026663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L9 · 生态贡献者</a:t>
            </a:r>
            <a:endParaRPr sz="12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887967" y="5394960"/>
            <a:ext cx="3026663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输出方法论
培养其他OPC</a:t>
            </a:r>
            <a:endParaRPr sz="10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887967" y="6263640"/>
            <a:ext cx="3026663" cy="320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61119" y="6281928"/>
            <a:ext cx="2880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试点：Datawhale / 魔搭 / 潮新闻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24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POLICY IMPACT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OPC 九级人才能力标准 · 以政策建议提交教育部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7" name="Picture 6" descr="image3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483273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737360"/>
            <a:ext cx="4480560" cy="48463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737360"/>
            <a:ext cx="448056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01168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政策建议核心</a:t>
            </a:r>
            <a:endParaRPr sz="1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89520" y="2788920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743200"/>
            <a:ext cx="356616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将 OPC 九级能力标准纳入教育部人才评价体系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89520" y="3657600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611880"/>
            <a:ext cx="356616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推动高校设立 AI+X 复合型人才培养方案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89520" y="4526280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480560"/>
            <a:ext cx="356616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建立校-企-社区三方协同的开源教育认证机制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0" y="5394959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349240"/>
            <a:ext cx="356616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以开源生态为载体，加速教育科技人才一体化</a:t>
            </a:r>
            <a:endParaRPr sz="13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25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AI LEARNING PLATFORM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聚焦场景引领、AI技能、开放资源的学习平台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Datawhale AI学习中心 汇聚生态伙伴，开放算力、模型、内容等AI学习资源
刚上线即影响全国14个城市、2000+学习者</a:t>
            </a:r>
            <a:endParaRPr sz="13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37744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14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城市覆盖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91840" y="2286000"/>
            <a:ext cx="237744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2000+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学习者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5040" y="2286000"/>
            <a:ext cx="237744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50+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生态伙伴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78240" y="2286000"/>
            <a:ext cx="237744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100+</a:t>
            </a:r>
            <a:endParaRPr sz="2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课程资源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20" name="Picture 19" descr="image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5486400" cy="1505602"/>
          </a:xfrm>
          <a:prstGeom prst="rect">
            <a:avLst/>
          </a:prstGeom>
        </p:spPr>
      </p:pic>
      <p:pic>
        <p:nvPicPr>
          <p:cNvPr id="21" name="Picture 20" descr="imag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83280"/>
            <a:ext cx="5486400" cy="18606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" y="5669280"/>
            <a:ext cx="11064240" cy="73152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开放算力  ·  开放模型  ·  开放内容  ·  开放课程  ·  面向所有学习者免费使用</a:t>
            </a:r>
            <a:endParaRPr sz="14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26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11247120" cy="45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ALLIANCE</a:t>
            </a:r>
            <a:endParaRPr sz="1200" b="1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全国首个 AI+X 高校教育联盟</a:t>
            </a:r>
            <a:endParaRPr sz="2800" b="1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2026年3月正式成立，100+生态伙伴，携手200+高校，共筑AI人才培养新生态</a:t>
            </a:r>
            <a:endParaRPr sz="14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4055"/>
                </a:solidFill>
                <a:latin typeface="Calibri" panose="020F0502020204030204"/>
                <a:ea typeface="微软雅黑" panose="020B0503020204020204" charset="-122"/>
              </a:rPr>
              <a:t>Datawhale、魔搭社区、开放原子开源基金会、浙江大学、南京大学、复旦大学、阿里云、达摩院</a:t>
            </a:r>
            <a:endParaRPr sz="1200" b="0">
              <a:solidFill>
                <a:srgbClr val="334055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9" name="Picture 8" descr="image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3657600" cy="1834849"/>
          </a:xfrm>
          <a:prstGeom prst="rect">
            <a:avLst/>
          </a:prstGeom>
        </p:spPr>
      </p:pic>
      <p:pic>
        <p:nvPicPr>
          <p:cNvPr id="10" name="Picture 9" descr="image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560320"/>
            <a:ext cx="3657600" cy="1825781"/>
          </a:xfrm>
          <a:prstGeom prst="rect">
            <a:avLst/>
          </a:prstGeom>
        </p:spPr>
      </p:pic>
      <p:pic>
        <p:nvPicPr>
          <p:cNvPr id="11" name="Picture 10" descr="image4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560320"/>
            <a:ext cx="3474720" cy="2319376"/>
          </a:xfrm>
          <a:prstGeom prst="rect">
            <a:avLst/>
          </a:prstGeom>
        </p:spPr>
      </p:pic>
      <p:pic>
        <p:nvPicPr>
          <p:cNvPr id="12" name="Picture 11" descr="image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4023360" cy="2011680"/>
          </a:xfrm>
          <a:prstGeom prst="rect">
            <a:avLst/>
          </a:prstGeom>
        </p:spPr>
      </p:pic>
      <p:pic>
        <p:nvPicPr>
          <p:cNvPr id="13" name="Picture 12" descr="image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572000"/>
            <a:ext cx="5303520" cy="1058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27 / 27</a:t>
            </a:r>
            <a:endParaRPr sz="9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-457200"/>
            <a:ext cx="3657600" cy="36576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2560320"/>
            <a:ext cx="393192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谢谢</a:t>
            </a:r>
            <a:endParaRPr sz="6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 panose="020F0502020204030204"/>
                <a:ea typeface="微软雅黑" panose="020B0503020204020204" charset="-122"/>
              </a:rPr>
              <a:t>没有围墙的大学  ·  开源生态加速教育科技人才一体化</a:t>
            </a:r>
            <a:endParaRPr sz="1600" b="0">
              <a:solidFill>
                <a:srgbClr val="94A3B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300" b="0">
                <a:solidFill>
                  <a:srgbClr val="00D4FF"/>
                </a:solidFill>
                <a:latin typeface="Calibri" panose="020F0502020204030204"/>
                <a:ea typeface="微软雅黑" panose="020B0503020204020204" charset="-122"/>
              </a:rPr>
              <a:t>Datawhale  ·  2026.07.13  ·  杭州</a:t>
            </a:r>
            <a:endParaRPr sz="1300" b="0">
              <a:solidFill>
                <a:srgbClr val="00D4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4072</Words>
  <Application>WPS 演示</Application>
  <PresentationFormat>On-screen Show (4:3)</PresentationFormat>
  <Paragraphs>718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Anson</cp:lastModifiedBy>
  <cp:revision>3</cp:revision>
  <dcterms:created xsi:type="dcterms:W3CDTF">2013-01-27T09:14:00Z</dcterms:created>
  <dcterms:modified xsi:type="dcterms:W3CDTF">2026-07-22T15:29:57Z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401CDAF9ECD04B8A823C038C12A48E27_13</vt:lpwstr>
  </property>
</Properties>
</file>
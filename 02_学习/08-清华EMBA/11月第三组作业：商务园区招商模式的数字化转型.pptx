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61" r:id="rId5"/>
    <p:sldId id="262" r:id="rId6"/>
    <p:sldId id="266" r:id="rId7"/>
    <p:sldId id="270" r:id="rId8"/>
    <p:sldId id="268" r:id="rId9"/>
    <p:sldId id="267" r:id="rId10"/>
    <p:sldId id="269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A6C06B-97E2-4AE8-A507-290BFD540C73}" type="doc">
      <dgm:prSet loTypeId="urn:microsoft.com/office/officeart/2008/layout/IncreasingCircleProces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6F94CE8-8447-409D-ADDA-E361FDE079A4}">
      <dgm:prSet phldrT="[文本]"/>
      <dgm:spPr/>
      <dgm:t>
        <a:bodyPr/>
        <a:lstStyle/>
        <a:p>
          <a:r>
            <a:rPr lang="zh-CN" altLang="en-US" b="1" dirty="0">
              <a:solidFill>
                <a:schemeClr val="accent4"/>
              </a:solidFill>
            </a:rPr>
            <a:t>园区主题定位</a:t>
          </a:r>
        </a:p>
      </dgm:t>
    </dgm:pt>
    <dgm:pt modelId="{0E734C71-39F9-4A62-B1E2-712D90D564CB}" type="parTrans" cxnId="{495F24F4-3327-483E-89FD-9A01E6FB1A30}">
      <dgm:prSet/>
      <dgm:spPr/>
      <dgm:t>
        <a:bodyPr/>
        <a:lstStyle/>
        <a:p>
          <a:endParaRPr lang="zh-CN" altLang="en-US"/>
        </a:p>
      </dgm:t>
    </dgm:pt>
    <dgm:pt modelId="{F2C4CDA3-A879-41F1-AC29-F25DBBE72641}" type="sibTrans" cxnId="{495F24F4-3327-483E-89FD-9A01E6FB1A30}">
      <dgm:prSet/>
      <dgm:spPr/>
      <dgm:t>
        <a:bodyPr/>
        <a:lstStyle/>
        <a:p>
          <a:endParaRPr lang="zh-CN" altLang="en-US"/>
        </a:p>
      </dgm:t>
    </dgm:pt>
    <dgm:pt modelId="{5AF80E18-21E1-41BF-94F6-D74339EE0C82}">
      <dgm:prSet phldrT="[文本]"/>
      <dgm:spPr/>
      <dgm:t>
        <a:bodyPr/>
        <a:lstStyle/>
        <a:p>
          <a:r>
            <a:rPr lang="zh-CN" altLang="en-US" dirty="0"/>
            <a:t>产业主题</a:t>
          </a:r>
        </a:p>
      </dgm:t>
    </dgm:pt>
    <dgm:pt modelId="{D76E9D58-65B2-4CC3-9438-C52B4D676EDC}" type="parTrans" cxnId="{28193780-F1BC-4D1C-A3D6-C9C492A075CB}">
      <dgm:prSet/>
      <dgm:spPr/>
      <dgm:t>
        <a:bodyPr/>
        <a:lstStyle/>
        <a:p>
          <a:endParaRPr lang="zh-CN" altLang="en-US"/>
        </a:p>
      </dgm:t>
    </dgm:pt>
    <dgm:pt modelId="{3115C211-AF74-4574-8DC6-9D8ECC64E2A9}" type="sibTrans" cxnId="{28193780-F1BC-4D1C-A3D6-C9C492A075CB}">
      <dgm:prSet/>
      <dgm:spPr/>
      <dgm:t>
        <a:bodyPr/>
        <a:lstStyle/>
        <a:p>
          <a:endParaRPr lang="zh-CN" altLang="en-US"/>
        </a:p>
      </dgm:t>
    </dgm:pt>
    <dgm:pt modelId="{759591F8-F0E7-4504-A31B-7E3202E70D3C}">
      <dgm:prSet phldrT="[文本]"/>
      <dgm:spPr/>
      <dgm:t>
        <a:bodyPr/>
        <a:lstStyle/>
        <a:p>
          <a:r>
            <a:rPr lang="zh-CN" altLang="en-US" b="1" dirty="0">
              <a:solidFill>
                <a:schemeClr val="accent4"/>
              </a:solidFill>
            </a:rPr>
            <a:t>招商签约入驻</a:t>
          </a:r>
        </a:p>
      </dgm:t>
    </dgm:pt>
    <dgm:pt modelId="{3B543E5B-C6F8-40CC-A038-24661373A4C1}" type="parTrans" cxnId="{494CC942-7B62-4FDA-98C0-BBE89772FBA6}">
      <dgm:prSet/>
      <dgm:spPr/>
      <dgm:t>
        <a:bodyPr/>
        <a:lstStyle/>
        <a:p>
          <a:endParaRPr lang="zh-CN" altLang="en-US"/>
        </a:p>
      </dgm:t>
    </dgm:pt>
    <dgm:pt modelId="{EE350F98-D2DE-4D00-B90F-0D5AD52843B5}" type="sibTrans" cxnId="{494CC942-7B62-4FDA-98C0-BBE89772FBA6}">
      <dgm:prSet/>
      <dgm:spPr/>
      <dgm:t>
        <a:bodyPr/>
        <a:lstStyle/>
        <a:p>
          <a:endParaRPr lang="zh-CN" altLang="en-US"/>
        </a:p>
      </dgm:t>
    </dgm:pt>
    <dgm:pt modelId="{ABB2B7B8-7E5A-45B6-80B9-EB3E78C6D989}">
      <dgm:prSet phldrT="[文本]"/>
      <dgm:spPr/>
      <dgm:t>
        <a:bodyPr/>
        <a:lstStyle/>
        <a:p>
          <a:r>
            <a:rPr lang="zh-CN" altLang="en-US" dirty="0"/>
            <a:t>邀约到访</a:t>
          </a:r>
        </a:p>
      </dgm:t>
    </dgm:pt>
    <dgm:pt modelId="{63B75FC3-62E4-4607-9300-AD5BE04D5312}" type="parTrans" cxnId="{EEA6CA3C-9E7B-4FDB-9D09-D82102571A63}">
      <dgm:prSet/>
      <dgm:spPr/>
      <dgm:t>
        <a:bodyPr/>
        <a:lstStyle/>
        <a:p>
          <a:endParaRPr lang="zh-CN" altLang="en-US"/>
        </a:p>
      </dgm:t>
    </dgm:pt>
    <dgm:pt modelId="{723AA1BD-C7D9-4C61-948F-A89B79CFA653}" type="sibTrans" cxnId="{EEA6CA3C-9E7B-4FDB-9D09-D82102571A63}">
      <dgm:prSet/>
      <dgm:spPr/>
      <dgm:t>
        <a:bodyPr/>
        <a:lstStyle/>
        <a:p>
          <a:endParaRPr lang="zh-CN" altLang="en-US"/>
        </a:p>
      </dgm:t>
    </dgm:pt>
    <dgm:pt modelId="{167D61E8-007B-430C-8F23-76CFED6DA1F1}">
      <dgm:prSet phldrT="[文本]"/>
      <dgm:spPr/>
      <dgm:t>
        <a:bodyPr/>
        <a:lstStyle/>
        <a:p>
          <a:r>
            <a:rPr lang="zh-CN" altLang="en-US" b="1" dirty="0">
              <a:solidFill>
                <a:schemeClr val="accent4"/>
              </a:solidFill>
            </a:rPr>
            <a:t>园区运营</a:t>
          </a:r>
          <a:r>
            <a:rPr lang="en-US" altLang="zh-CN" b="1" dirty="0">
              <a:solidFill>
                <a:schemeClr val="accent4"/>
              </a:solidFill>
            </a:rPr>
            <a:t>/</a:t>
          </a:r>
          <a:r>
            <a:rPr lang="zh-CN" altLang="en-US" b="1" dirty="0">
              <a:solidFill>
                <a:schemeClr val="accent4"/>
              </a:solidFill>
            </a:rPr>
            <a:t>企业服务</a:t>
          </a:r>
        </a:p>
      </dgm:t>
    </dgm:pt>
    <dgm:pt modelId="{EC904592-F959-4436-B29D-F3C5EAF5FD09}" type="parTrans" cxnId="{187D2980-0585-411D-BFF9-948A198EB678}">
      <dgm:prSet/>
      <dgm:spPr/>
      <dgm:t>
        <a:bodyPr/>
        <a:lstStyle/>
        <a:p>
          <a:endParaRPr lang="zh-CN" altLang="en-US"/>
        </a:p>
      </dgm:t>
    </dgm:pt>
    <dgm:pt modelId="{2C44CE19-63D3-4580-8ABD-C57CFFCECADC}" type="sibTrans" cxnId="{187D2980-0585-411D-BFF9-948A198EB678}">
      <dgm:prSet/>
      <dgm:spPr/>
      <dgm:t>
        <a:bodyPr/>
        <a:lstStyle/>
        <a:p>
          <a:endParaRPr lang="zh-CN" altLang="en-US"/>
        </a:p>
      </dgm:t>
    </dgm:pt>
    <dgm:pt modelId="{5142FA6C-22DF-4141-B0A0-D1B83CE1D5FF}">
      <dgm:prSet phldrT="[文本]"/>
      <dgm:spPr/>
      <dgm:t>
        <a:bodyPr/>
        <a:lstStyle/>
        <a:p>
          <a:r>
            <a:rPr lang="zh-CN" altLang="en-US" dirty="0"/>
            <a:t>物业服务</a:t>
          </a:r>
        </a:p>
      </dgm:t>
    </dgm:pt>
    <dgm:pt modelId="{6406CD54-2DF6-4855-B7CF-B5ED14FAB921}" type="parTrans" cxnId="{5C0993D6-112A-41AA-A488-0C0D90E7EA4B}">
      <dgm:prSet/>
      <dgm:spPr/>
      <dgm:t>
        <a:bodyPr/>
        <a:lstStyle/>
        <a:p>
          <a:endParaRPr lang="zh-CN" altLang="en-US"/>
        </a:p>
      </dgm:t>
    </dgm:pt>
    <dgm:pt modelId="{86E0CF99-5391-4DED-8CAF-ECB370AB8511}" type="sibTrans" cxnId="{5C0993D6-112A-41AA-A488-0C0D90E7EA4B}">
      <dgm:prSet/>
      <dgm:spPr/>
      <dgm:t>
        <a:bodyPr/>
        <a:lstStyle/>
        <a:p>
          <a:endParaRPr lang="zh-CN" altLang="en-US"/>
        </a:p>
      </dgm:t>
    </dgm:pt>
    <dgm:pt modelId="{92F8A553-2E5C-40E9-8A98-EB43607E0F19}">
      <dgm:prSet phldrT="[文本]"/>
      <dgm:spPr/>
      <dgm:t>
        <a:bodyPr/>
        <a:lstStyle/>
        <a:p>
          <a:r>
            <a:rPr lang="zh-CN" altLang="en-US" dirty="0"/>
            <a:t>行业方向</a:t>
          </a:r>
        </a:p>
      </dgm:t>
    </dgm:pt>
    <dgm:pt modelId="{D6B7968C-BD67-4C7F-8658-EDECEBC8398B}" type="parTrans" cxnId="{EEE4D282-71D9-43DF-AC73-A680C8627AEA}">
      <dgm:prSet/>
      <dgm:spPr/>
      <dgm:t>
        <a:bodyPr/>
        <a:lstStyle/>
        <a:p>
          <a:endParaRPr lang="zh-CN" altLang="en-US"/>
        </a:p>
      </dgm:t>
    </dgm:pt>
    <dgm:pt modelId="{A18063AF-ACD0-4BCB-B64D-D34FC7A4A06A}" type="sibTrans" cxnId="{EEE4D282-71D9-43DF-AC73-A680C8627AEA}">
      <dgm:prSet/>
      <dgm:spPr/>
      <dgm:t>
        <a:bodyPr/>
        <a:lstStyle/>
        <a:p>
          <a:endParaRPr lang="zh-CN" altLang="en-US"/>
        </a:p>
      </dgm:t>
    </dgm:pt>
    <dgm:pt modelId="{CCC51F7C-6A25-4A54-8443-45E32D0E52EB}">
      <dgm:prSet phldrT="[文本]"/>
      <dgm:spPr/>
      <dgm:t>
        <a:bodyPr/>
        <a:lstStyle/>
        <a:p>
          <a:r>
            <a:rPr lang="zh-CN" altLang="en-US" dirty="0"/>
            <a:t>客户需求洞察</a:t>
          </a:r>
        </a:p>
      </dgm:t>
    </dgm:pt>
    <dgm:pt modelId="{7CEC2EA7-3D6C-487E-BC24-81A6130F70F3}" type="parTrans" cxnId="{C1BA0DC3-B548-400E-88BC-30541B432047}">
      <dgm:prSet/>
      <dgm:spPr/>
      <dgm:t>
        <a:bodyPr/>
        <a:lstStyle/>
        <a:p>
          <a:endParaRPr lang="zh-CN" altLang="en-US"/>
        </a:p>
      </dgm:t>
    </dgm:pt>
    <dgm:pt modelId="{CA9D761E-0B56-4D54-BE4F-C58624801029}" type="sibTrans" cxnId="{C1BA0DC3-B548-400E-88BC-30541B432047}">
      <dgm:prSet/>
      <dgm:spPr/>
      <dgm:t>
        <a:bodyPr/>
        <a:lstStyle/>
        <a:p>
          <a:endParaRPr lang="zh-CN" altLang="en-US"/>
        </a:p>
      </dgm:t>
    </dgm:pt>
    <dgm:pt modelId="{D85D747F-818C-4DA1-A779-96E6BDFF9636}">
      <dgm:prSet phldrT="[文本]"/>
      <dgm:spPr/>
      <dgm:t>
        <a:bodyPr/>
        <a:lstStyle/>
        <a:p>
          <a:r>
            <a:rPr lang="zh-CN" altLang="en-US"/>
            <a:t>空间</a:t>
          </a:r>
          <a:r>
            <a:rPr lang="zh-CN" altLang="en-US" dirty="0"/>
            <a:t>产品细分</a:t>
          </a:r>
        </a:p>
      </dgm:t>
    </dgm:pt>
    <dgm:pt modelId="{DD4FA21B-E37C-4528-8722-BD1EF38E695C}" type="parTrans" cxnId="{8A3C8EEB-685B-4712-A29F-8B7FAA374449}">
      <dgm:prSet/>
      <dgm:spPr/>
      <dgm:t>
        <a:bodyPr/>
        <a:lstStyle/>
        <a:p>
          <a:endParaRPr lang="zh-CN" altLang="en-US"/>
        </a:p>
      </dgm:t>
    </dgm:pt>
    <dgm:pt modelId="{943EEC88-C0C9-4B54-8D28-90958FDE8B92}" type="sibTrans" cxnId="{8A3C8EEB-685B-4712-A29F-8B7FAA374449}">
      <dgm:prSet/>
      <dgm:spPr/>
      <dgm:t>
        <a:bodyPr/>
        <a:lstStyle/>
        <a:p>
          <a:endParaRPr lang="zh-CN" altLang="en-US"/>
        </a:p>
      </dgm:t>
    </dgm:pt>
    <dgm:pt modelId="{BFE37051-6DBD-47F8-959B-2E6E1650E6D0}">
      <dgm:prSet phldrT="[文本]"/>
      <dgm:spPr/>
      <dgm:t>
        <a:bodyPr/>
        <a:lstStyle/>
        <a:p>
          <a:r>
            <a:rPr lang="zh-CN" altLang="en-US" dirty="0"/>
            <a:t>租赁谈判</a:t>
          </a:r>
        </a:p>
      </dgm:t>
    </dgm:pt>
    <dgm:pt modelId="{D734155C-36E7-4FAB-8683-CD1AFED648BC}" type="parTrans" cxnId="{D1F81539-582E-4AA4-A6AF-A909F6176DD6}">
      <dgm:prSet/>
      <dgm:spPr/>
      <dgm:t>
        <a:bodyPr/>
        <a:lstStyle/>
        <a:p>
          <a:endParaRPr lang="zh-CN" altLang="en-US"/>
        </a:p>
      </dgm:t>
    </dgm:pt>
    <dgm:pt modelId="{D9B5567F-CFC4-4B1F-9B3D-FDD421F8BBE5}" type="sibTrans" cxnId="{D1F81539-582E-4AA4-A6AF-A909F6176DD6}">
      <dgm:prSet/>
      <dgm:spPr/>
      <dgm:t>
        <a:bodyPr/>
        <a:lstStyle/>
        <a:p>
          <a:endParaRPr lang="zh-CN" altLang="en-US"/>
        </a:p>
      </dgm:t>
    </dgm:pt>
    <dgm:pt modelId="{949ADE39-1C46-4636-AB73-5401C75C2808}">
      <dgm:prSet phldrT="[文本]"/>
      <dgm:spPr/>
      <dgm:t>
        <a:bodyPr/>
        <a:lstStyle/>
        <a:p>
          <a:r>
            <a:rPr lang="zh-CN" altLang="en-US" dirty="0"/>
            <a:t>合同签约</a:t>
          </a:r>
        </a:p>
      </dgm:t>
    </dgm:pt>
    <dgm:pt modelId="{DF7756E6-9FCD-4E5A-8402-A93C32F021AE}" type="parTrans" cxnId="{DA1C5269-C0B1-418D-B61A-8816C205D79E}">
      <dgm:prSet/>
      <dgm:spPr/>
      <dgm:t>
        <a:bodyPr/>
        <a:lstStyle/>
        <a:p>
          <a:endParaRPr lang="zh-CN" altLang="en-US"/>
        </a:p>
      </dgm:t>
    </dgm:pt>
    <dgm:pt modelId="{1CEC9FF1-5D74-4531-86B2-D7564F34A339}" type="sibTrans" cxnId="{DA1C5269-C0B1-418D-B61A-8816C205D79E}">
      <dgm:prSet/>
      <dgm:spPr/>
      <dgm:t>
        <a:bodyPr/>
        <a:lstStyle/>
        <a:p>
          <a:endParaRPr lang="zh-CN" altLang="en-US"/>
        </a:p>
      </dgm:t>
    </dgm:pt>
    <dgm:pt modelId="{1AAE60C7-EA74-4B60-8DD6-9C30212284D7}">
      <dgm:prSet phldrT="[文本]"/>
      <dgm:spPr/>
      <dgm:t>
        <a:bodyPr/>
        <a:lstStyle/>
        <a:p>
          <a:r>
            <a:rPr lang="zh-CN" altLang="en-US" dirty="0"/>
            <a:t>企业服务</a:t>
          </a:r>
          <a:endParaRPr lang="en-US" altLang="zh-CN" dirty="0"/>
        </a:p>
        <a:p>
          <a:r>
            <a:rPr lang="zh-CN" altLang="en-US" dirty="0"/>
            <a:t>续约维系</a:t>
          </a:r>
        </a:p>
      </dgm:t>
    </dgm:pt>
    <dgm:pt modelId="{C8B7FD59-E4F5-4EB7-83F8-59C065A3976D}" type="parTrans" cxnId="{16E309A0-E816-401E-8BD6-29FD301DC3B7}">
      <dgm:prSet/>
      <dgm:spPr/>
      <dgm:t>
        <a:bodyPr/>
        <a:lstStyle/>
        <a:p>
          <a:endParaRPr lang="zh-CN" altLang="en-US"/>
        </a:p>
      </dgm:t>
    </dgm:pt>
    <dgm:pt modelId="{71573DDF-8AF3-4948-8182-2E900B09F994}" type="sibTrans" cxnId="{16E309A0-E816-401E-8BD6-29FD301DC3B7}">
      <dgm:prSet/>
      <dgm:spPr/>
      <dgm:t>
        <a:bodyPr/>
        <a:lstStyle/>
        <a:p>
          <a:endParaRPr lang="zh-CN" altLang="en-US"/>
        </a:p>
      </dgm:t>
    </dgm:pt>
    <dgm:pt modelId="{FE1536B7-E21E-4632-9785-DBB5412F2E4C}">
      <dgm:prSet phldrT="[文本]"/>
      <dgm:spPr/>
      <dgm:t>
        <a:bodyPr/>
        <a:lstStyle/>
        <a:p>
          <a:endParaRPr lang="zh-CN" altLang="en-US" dirty="0"/>
        </a:p>
      </dgm:t>
    </dgm:pt>
    <dgm:pt modelId="{92CC6ACC-0401-476F-8509-3E870CC034EE}" type="parTrans" cxnId="{D689EF1D-87BC-47DC-B7F6-A5CEA89EB570}">
      <dgm:prSet/>
      <dgm:spPr/>
      <dgm:t>
        <a:bodyPr/>
        <a:lstStyle/>
        <a:p>
          <a:endParaRPr lang="zh-CN" altLang="en-US"/>
        </a:p>
      </dgm:t>
    </dgm:pt>
    <dgm:pt modelId="{42DBF2A4-43F0-4077-9CCF-E94BC15D1B88}" type="sibTrans" cxnId="{D689EF1D-87BC-47DC-B7F6-A5CEA89EB570}">
      <dgm:prSet/>
      <dgm:spPr/>
      <dgm:t>
        <a:bodyPr/>
        <a:lstStyle/>
        <a:p>
          <a:endParaRPr lang="zh-CN" altLang="en-US"/>
        </a:p>
      </dgm:t>
    </dgm:pt>
    <dgm:pt modelId="{D50E2832-E1A6-4E5C-8F72-4049EBADF4A5}" type="pres">
      <dgm:prSet presAssocID="{31A6C06B-97E2-4AE8-A507-290BFD540C73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BAF22C30-1042-43D5-A2EC-7AA64E076979}" type="pres">
      <dgm:prSet presAssocID="{56F94CE8-8447-409D-ADDA-E361FDE079A4}" presName="composite" presStyleCnt="0"/>
      <dgm:spPr/>
    </dgm:pt>
    <dgm:pt modelId="{A1844340-A0F0-40F7-B008-7D7C86283209}" type="pres">
      <dgm:prSet presAssocID="{56F94CE8-8447-409D-ADDA-E361FDE079A4}" presName="BackAccent" presStyleLbl="bgShp" presStyleIdx="0" presStyleCnt="3"/>
      <dgm:spPr/>
    </dgm:pt>
    <dgm:pt modelId="{687E3DDD-EA48-4C7F-824F-840A43DD9783}" type="pres">
      <dgm:prSet presAssocID="{56F94CE8-8447-409D-ADDA-E361FDE079A4}" presName="Accent" presStyleLbl="alignNode1" presStyleIdx="0" presStyleCnt="3"/>
      <dgm:spPr/>
    </dgm:pt>
    <dgm:pt modelId="{546EF0A0-B51A-4E28-8A7E-6A2B38DCED14}" type="pres">
      <dgm:prSet presAssocID="{56F94CE8-8447-409D-ADDA-E361FDE079A4}" presName="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EBEDA757-09CF-4396-B03A-1CD7F4729914}" type="pres">
      <dgm:prSet presAssocID="{56F94CE8-8447-409D-ADDA-E361FDE079A4}" presName="Parent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BF6C6B09-4E58-411E-B50F-0A9A89DA9BC2}" type="pres">
      <dgm:prSet presAssocID="{F2C4CDA3-A879-41F1-AC29-F25DBBE72641}" presName="sibTrans" presStyleCnt="0"/>
      <dgm:spPr/>
    </dgm:pt>
    <dgm:pt modelId="{C7773493-C03F-43CD-AD84-51BDADB813CF}" type="pres">
      <dgm:prSet presAssocID="{759591F8-F0E7-4504-A31B-7E3202E70D3C}" presName="composite" presStyleCnt="0"/>
      <dgm:spPr/>
    </dgm:pt>
    <dgm:pt modelId="{FFA6F4EE-1CCC-4EDE-819C-872CE5ACC648}" type="pres">
      <dgm:prSet presAssocID="{759591F8-F0E7-4504-A31B-7E3202E70D3C}" presName="BackAccent" presStyleLbl="bgShp" presStyleIdx="1" presStyleCnt="3"/>
      <dgm:spPr/>
    </dgm:pt>
    <dgm:pt modelId="{1AAF1F52-2D1E-4275-972B-7731B60346CA}" type="pres">
      <dgm:prSet presAssocID="{759591F8-F0E7-4504-A31B-7E3202E70D3C}" presName="Accent" presStyleLbl="alignNode1" presStyleIdx="1" presStyleCnt="3"/>
      <dgm:spPr/>
    </dgm:pt>
    <dgm:pt modelId="{EBC9089D-1719-40F1-BC27-E92A182E37D8}" type="pres">
      <dgm:prSet presAssocID="{759591F8-F0E7-4504-A31B-7E3202E70D3C}" presName="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4E6CBB98-B2F5-4D95-A1F1-AA28760F055D}" type="pres">
      <dgm:prSet presAssocID="{759591F8-F0E7-4504-A31B-7E3202E70D3C}" presName="Parent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13EF0575-69A2-4061-BDB5-203804538B91}" type="pres">
      <dgm:prSet presAssocID="{EE350F98-D2DE-4D00-B90F-0D5AD52843B5}" presName="sibTrans" presStyleCnt="0"/>
      <dgm:spPr/>
    </dgm:pt>
    <dgm:pt modelId="{FC14328B-30FC-442A-818F-6123462913C2}" type="pres">
      <dgm:prSet presAssocID="{167D61E8-007B-430C-8F23-76CFED6DA1F1}" presName="composite" presStyleCnt="0"/>
      <dgm:spPr/>
    </dgm:pt>
    <dgm:pt modelId="{5774498C-823F-4FAC-B751-FFAFE7E59BCD}" type="pres">
      <dgm:prSet presAssocID="{167D61E8-007B-430C-8F23-76CFED6DA1F1}" presName="BackAccent" presStyleLbl="bgShp" presStyleIdx="2" presStyleCnt="3"/>
      <dgm:spPr/>
    </dgm:pt>
    <dgm:pt modelId="{7B7EABCA-D002-4CC9-9BFA-EAC639B13A6F}" type="pres">
      <dgm:prSet presAssocID="{167D61E8-007B-430C-8F23-76CFED6DA1F1}" presName="Accent" presStyleLbl="alignNode1" presStyleIdx="2" presStyleCnt="3"/>
      <dgm:spPr/>
    </dgm:pt>
    <dgm:pt modelId="{62A9C37A-58FC-4CCE-B108-061DF658E501}" type="pres">
      <dgm:prSet presAssocID="{167D61E8-007B-430C-8F23-76CFED6DA1F1}" presName="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5A5411F7-500F-4869-93AC-841A924AB307}" type="pres">
      <dgm:prSet presAssocID="{167D61E8-007B-430C-8F23-76CFED6DA1F1}" presName="Parent" presStyleLbl="revTx" presStyleIdx="5" presStyleCnt="6" custScaleX="113747">
        <dgm:presLayoutVars>
          <dgm:chMax val="1"/>
          <dgm:chPref val="1"/>
          <dgm:bulletEnabled val="1"/>
        </dgm:presLayoutVars>
      </dgm:prSet>
      <dgm:spPr/>
    </dgm:pt>
  </dgm:ptLst>
  <dgm:cxnLst>
    <dgm:cxn modelId="{5C96B401-7AE9-43C7-9915-25F14A7C4BDA}" type="presOf" srcId="{D85D747F-818C-4DA1-A779-96E6BDFF9636}" destId="{546EF0A0-B51A-4E28-8A7E-6A2B38DCED14}" srcOrd="0" destOrd="3" presId="urn:microsoft.com/office/officeart/2008/layout/IncreasingCircleProcess"/>
    <dgm:cxn modelId="{827C0502-97EF-4020-A1F4-2EF93D8585E9}" type="presOf" srcId="{31A6C06B-97E2-4AE8-A507-290BFD540C73}" destId="{D50E2832-E1A6-4E5C-8F72-4049EBADF4A5}" srcOrd="0" destOrd="0" presId="urn:microsoft.com/office/officeart/2008/layout/IncreasingCircleProcess"/>
    <dgm:cxn modelId="{D9C19406-9CBC-4ABC-965A-D5C148B4EDEE}" type="presOf" srcId="{FE1536B7-E21E-4632-9785-DBB5412F2E4C}" destId="{62A9C37A-58FC-4CCE-B108-061DF658E501}" srcOrd="0" destOrd="2" presId="urn:microsoft.com/office/officeart/2008/layout/IncreasingCircleProcess"/>
    <dgm:cxn modelId="{96C73E0E-5D0D-464D-BA9A-ED68BA5D4F8D}" type="presOf" srcId="{167D61E8-007B-430C-8F23-76CFED6DA1F1}" destId="{5A5411F7-500F-4869-93AC-841A924AB307}" srcOrd="0" destOrd="0" presId="urn:microsoft.com/office/officeart/2008/layout/IncreasingCircleProcess"/>
    <dgm:cxn modelId="{D689EF1D-87BC-47DC-B7F6-A5CEA89EB570}" srcId="{167D61E8-007B-430C-8F23-76CFED6DA1F1}" destId="{FE1536B7-E21E-4632-9785-DBB5412F2E4C}" srcOrd="2" destOrd="0" parTransId="{92CC6ACC-0401-476F-8509-3E870CC034EE}" sibTransId="{42DBF2A4-43F0-4077-9CCF-E94BC15D1B88}"/>
    <dgm:cxn modelId="{D1F81539-582E-4AA4-A6AF-A909F6176DD6}" srcId="{759591F8-F0E7-4504-A31B-7E3202E70D3C}" destId="{BFE37051-6DBD-47F8-959B-2E6E1650E6D0}" srcOrd="1" destOrd="0" parTransId="{D734155C-36E7-4FAB-8683-CD1AFED648BC}" sibTransId="{D9B5567F-CFC4-4B1F-9B3D-FDD421F8BBE5}"/>
    <dgm:cxn modelId="{EEA6CA3C-9E7B-4FDB-9D09-D82102571A63}" srcId="{759591F8-F0E7-4504-A31B-7E3202E70D3C}" destId="{ABB2B7B8-7E5A-45B6-80B9-EB3E78C6D989}" srcOrd="0" destOrd="0" parTransId="{63B75FC3-62E4-4607-9300-AD5BE04D5312}" sibTransId="{723AA1BD-C7D9-4C61-948F-A89B79CFA653}"/>
    <dgm:cxn modelId="{494CC942-7B62-4FDA-98C0-BBE89772FBA6}" srcId="{31A6C06B-97E2-4AE8-A507-290BFD540C73}" destId="{759591F8-F0E7-4504-A31B-7E3202E70D3C}" srcOrd="1" destOrd="0" parTransId="{3B543E5B-C6F8-40CC-A038-24661373A4C1}" sibTransId="{EE350F98-D2DE-4D00-B90F-0D5AD52843B5}"/>
    <dgm:cxn modelId="{DA1C5269-C0B1-418D-B61A-8816C205D79E}" srcId="{759591F8-F0E7-4504-A31B-7E3202E70D3C}" destId="{949ADE39-1C46-4636-AB73-5401C75C2808}" srcOrd="2" destOrd="0" parTransId="{DF7756E6-9FCD-4E5A-8402-A93C32F021AE}" sibTransId="{1CEC9FF1-5D74-4531-86B2-D7564F34A339}"/>
    <dgm:cxn modelId="{40F58353-431B-4704-BD69-679431FD6906}" type="presOf" srcId="{CCC51F7C-6A25-4A54-8443-45E32D0E52EB}" destId="{546EF0A0-B51A-4E28-8A7E-6A2B38DCED14}" srcOrd="0" destOrd="2" presId="urn:microsoft.com/office/officeart/2008/layout/IncreasingCircleProcess"/>
    <dgm:cxn modelId="{187D2980-0585-411D-BFF9-948A198EB678}" srcId="{31A6C06B-97E2-4AE8-A507-290BFD540C73}" destId="{167D61E8-007B-430C-8F23-76CFED6DA1F1}" srcOrd="2" destOrd="0" parTransId="{EC904592-F959-4436-B29D-F3C5EAF5FD09}" sibTransId="{2C44CE19-63D3-4580-8ABD-C57CFFCECADC}"/>
    <dgm:cxn modelId="{28193780-F1BC-4D1C-A3D6-C9C492A075CB}" srcId="{56F94CE8-8447-409D-ADDA-E361FDE079A4}" destId="{5AF80E18-21E1-41BF-94F6-D74339EE0C82}" srcOrd="0" destOrd="0" parTransId="{D76E9D58-65B2-4CC3-9438-C52B4D676EDC}" sibTransId="{3115C211-AF74-4574-8DC6-9D8ECC64E2A9}"/>
    <dgm:cxn modelId="{EEE4D282-71D9-43DF-AC73-A680C8627AEA}" srcId="{56F94CE8-8447-409D-ADDA-E361FDE079A4}" destId="{92F8A553-2E5C-40E9-8A98-EB43607E0F19}" srcOrd="1" destOrd="0" parTransId="{D6B7968C-BD67-4C7F-8658-EDECEBC8398B}" sibTransId="{A18063AF-ACD0-4BCB-B64D-D34FC7A4A06A}"/>
    <dgm:cxn modelId="{1BDEA686-C92E-4EDA-A908-3B0BAE59527E}" type="presOf" srcId="{BFE37051-6DBD-47F8-959B-2E6E1650E6D0}" destId="{EBC9089D-1719-40F1-BC27-E92A182E37D8}" srcOrd="0" destOrd="1" presId="urn:microsoft.com/office/officeart/2008/layout/IncreasingCircleProcess"/>
    <dgm:cxn modelId="{9D4EA094-CEF4-41F2-AD2F-134DBF9EF6FA}" type="presOf" srcId="{5142FA6C-22DF-4141-B0A0-D1B83CE1D5FF}" destId="{62A9C37A-58FC-4CCE-B108-061DF658E501}" srcOrd="0" destOrd="0" presId="urn:microsoft.com/office/officeart/2008/layout/IncreasingCircleProcess"/>
    <dgm:cxn modelId="{0D7F3199-057E-469C-BAB5-58C1214C7009}" type="presOf" srcId="{949ADE39-1C46-4636-AB73-5401C75C2808}" destId="{EBC9089D-1719-40F1-BC27-E92A182E37D8}" srcOrd="0" destOrd="2" presId="urn:microsoft.com/office/officeart/2008/layout/IncreasingCircleProcess"/>
    <dgm:cxn modelId="{16E309A0-E816-401E-8BD6-29FD301DC3B7}" srcId="{167D61E8-007B-430C-8F23-76CFED6DA1F1}" destId="{1AAE60C7-EA74-4B60-8DD6-9C30212284D7}" srcOrd="1" destOrd="0" parTransId="{C8B7FD59-E4F5-4EB7-83F8-59C065A3976D}" sibTransId="{71573DDF-8AF3-4948-8182-2E900B09F994}"/>
    <dgm:cxn modelId="{322F86A1-7807-487E-94D9-FD93DF1D35B9}" type="presOf" srcId="{759591F8-F0E7-4504-A31B-7E3202E70D3C}" destId="{4E6CBB98-B2F5-4D95-A1F1-AA28760F055D}" srcOrd="0" destOrd="0" presId="urn:microsoft.com/office/officeart/2008/layout/IncreasingCircleProcess"/>
    <dgm:cxn modelId="{8BE8DBA2-594F-4442-AFEC-55B349D54D10}" type="presOf" srcId="{92F8A553-2E5C-40E9-8A98-EB43607E0F19}" destId="{546EF0A0-B51A-4E28-8A7E-6A2B38DCED14}" srcOrd="0" destOrd="1" presId="urn:microsoft.com/office/officeart/2008/layout/IncreasingCircleProcess"/>
    <dgm:cxn modelId="{DF07B2B0-E7EC-41BB-9E45-902811C06DDE}" type="presOf" srcId="{56F94CE8-8447-409D-ADDA-E361FDE079A4}" destId="{EBEDA757-09CF-4396-B03A-1CD7F4729914}" srcOrd="0" destOrd="0" presId="urn:microsoft.com/office/officeart/2008/layout/IncreasingCircleProcess"/>
    <dgm:cxn modelId="{467A99B8-9AE7-43A6-B5EB-DF27FDCFB8EC}" type="presOf" srcId="{ABB2B7B8-7E5A-45B6-80B9-EB3E78C6D989}" destId="{EBC9089D-1719-40F1-BC27-E92A182E37D8}" srcOrd="0" destOrd="0" presId="urn:microsoft.com/office/officeart/2008/layout/IncreasingCircleProcess"/>
    <dgm:cxn modelId="{C1BA0DC3-B548-400E-88BC-30541B432047}" srcId="{56F94CE8-8447-409D-ADDA-E361FDE079A4}" destId="{CCC51F7C-6A25-4A54-8443-45E32D0E52EB}" srcOrd="2" destOrd="0" parTransId="{7CEC2EA7-3D6C-487E-BC24-81A6130F70F3}" sibTransId="{CA9D761E-0B56-4D54-BE4F-C58624801029}"/>
    <dgm:cxn modelId="{5C0993D6-112A-41AA-A488-0C0D90E7EA4B}" srcId="{167D61E8-007B-430C-8F23-76CFED6DA1F1}" destId="{5142FA6C-22DF-4141-B0A0-D1B83CE1D5FF}" srcOrd="0" destOrd="0" parTransId="{6406CD54-2DF6-4855-B7CF-B5ED14FAB921}" sibTransId="{86E0CF99-5391-4DED-8CAF-ECB370AB8511}"/>
    <dgm:cxn modelId="{4D5327EB-C335-4CD2-9033-37965D4C26D5}" type="presOf" srcId="{1AAE60C7-EA74-4B60-8DD6-9C30212284D7}" destId="{62A9C37A-58FC-4CCE-B108-061DF658E501}" srcOrd="0" destOrd="1" presId="urn:microsoft.com/office/officeart/2008/layout/IncreasingCircleProcess"/>
    <dgm:cxn modelId="{8A3C8EEB-685B-4712-A29F-8B7FAA374449}" srcId="{56F94CE8-8447-409D-ADDA-E361FDE079A4}" destId="{D85D747F-818C-4DA1-A779-96E6BDFF9636}" srcOrd="3" destOrd="0" parTransId="{DD4FA21B-E37C-4528-8722-BD1EF38E695C}" sibTransId="{943EEC88-C0C9-4B54-8D28-90958FDE8B92}"/>
    <dgm:cxn modelId="{495F24F4-3327-483E-89FD-9A01E6FB1A30}" srcId="{31A6C06B-97E2-4AE8-A507-290BFD540C73}" destId="{56F94CE8-8447-409D-ADDA-E361FDE079A4}" srcOrd="0" destOrd="0" parTransId="{0E734C71-39F9-4A62-B1E2-712D90D564CB}" sibTransId="{F2C4CDA3-A879-41F1-AC29-F25DBBE72641}"/>
    <dgm:cxn modelId="{2615C0FC-1051-4219-813C-3DEB92DBB758}" type="presOf" srcId="{5AF80E18-21E1-41BF-94F6-D74339EE0C82}" destId="{546EF0A0-B51A-4E28-8A7E-6A2B38DCED14}" srcOrd="0" destOrd="0" presId="urn:microsoft.com/office/officeart/2008/layout/IncreasingCircleProcess"/>
    <dgm:cxn modelId="{4A794791-6565-4E90-8DBD-4779F5DB9C56}" type="presParOf" srcId="{D50E2832-E1A6-4E5C-8F72-4049EBADF4A5}" destId="{BAF22C30-1042-43D5-A2EC-7AA64E076979}" srcOrd="0" destOrd="0" presId="urn:microsoft.com/office/officeart/2008/layout/IncreasingCircleProcess"/>
    <dgm:cxn modelId="{8114A27F-A647-447F-A5FD-DA0124B300C9}" type="presParOf" srcId="{BAF22C30-1042-43D5-A2EC-7AA64E076979}" destId="{A1844340-A0F0-40F7-B008-7D7C86283209}" srcOrd="0" destOrd="0" presId="urn:microsoft.com/office/officeart/2008/layout/IncreasingCircleProcess"/>
    <dgm:cxn modelId="{BE944782-B73B-4B83-94F9-32754C81F3C1}" type="presParOf" srcId="{BAF22C30-1042-43D5-A2EC-7AA64E076979}" destId="{687E3DDD-EA48-4C7F-824F-840A43DD9783}" srcOrd="1" destOrd="0" presId="urn:microsoft.com/office/officeart/2008/layout/IncreasingCircleProcess"/>
    <dgm:cxn modelId="{28736B4E-F891-4C07-B05D-4D5E8D6D28A7}" type="presParOf" srcId="{BAF22C30-1042-43D5-A2EC-7AA64E076979}" destId="{546EF0A0-B51A-4E28-8A7E-6A2B38DCED14}" srcOrd="2" destOrd="0" presId="urn:microsoft.com/office/officeart/2008/layout/IncreasingCircleProcess"/>
    <dgm:cxn modelId="{9795B98C-6D2D-4F8A-9FCB-684C11FFC591}" type="presParOf" srcId="{BAF22C30-1042-43D5-A2EC-7AA64E076979}" destId="{EBEDA757-09CF-4396-B03A-1CD7F4729914}" srcOrd="3" destOrd="0" presId="urn:microsoft.com/office/officeart/2008/layout/IncreasingCircleProcess"/>
    <dgm:cxn modelId="{C88C383F-02EC-4F3C-AA61-8033133383DA}" type="presParOf" srcId="{D50E2832-E1A6-4E5C-8F72-4049EBADF4A5}" destId="{BF6C6B09-4E58-411E-B50F-0A9A89DA9BC2}" srcOrd="1" destOrd="0" presId="urn:microsoft.com/office/officeart/2008/layout/IncreasingCircleProcess"/>
    <dgm:cxn modelId="{85EFF7BC-0642-4085-A82E-530571E42006}" type="presParOf" srcId="{D50E2832-E1A6-4E5C-8F72-4049EBADF4A5}" destId="{C7773493-C03F-43CD-AD84-51BDADB813CF}" srcOrd="2" destOrd="0" presId="urn:microsoft.com/office/officeart/2008/layout/IncreasingCircleProcess"/>
    <dgm:cxn modelId="{9E6AEF75-197F-42BB-B5B7-AB13CA93A101}" type="presParOf" srcId="{C7773493-C03F-43CD-AD84-51BDADB813CF}" destId="{FFA6F4EE-1CCC-4EDE-819C-872CE5ACC648}" srcOrd="0" destOrd="0" presId="urn:microsoft.com/office/officeart/2008/layout/IncreasingCircleProcess"/>
    <dgm:cxn modelId="{72DB73C4-99E3-4CAF-BC89-0C60309658D7}" type="presParOf" srcId="{C7773493-C03F-43CD-AD84-51BDADB813CF}" destId="{1AAF1F52-2D1E-4275-972B-7731B60346CA}" srcOrd="1" destOrd="0" presId="urn:microsoft.com/office/officeart/2008/layout/IncreasingCircleProcess"/>
    <dgm:cxn modelId="{11DD702E-0872-4221-9430-4B94C0ECF154}" type="presParOf" srcId="{C7773493-C03F-43CD-AD84-51BDADB813CF}" destId="{EBC9089D-1719-40F1-BC27-E92A182E37D8}" srcOrd="2" destOrd="0" presId="urn:microsoft.com/office/officeart/2008/layout/IncreasingCircleProcess"/>
    <dgm:cxn modelId="{225FF306-63F8-4C94-9509-C7FDE2ACF1ED}" type="presParOf" srcId="{C7773493-C03F-43CD-AD84-51BDADB813CF}" destId="{4E6CBB98-B2F5-4D95-A1F1-AA28760F055D}" srcOrd="3" destOrd="0" presId="urn:microsoft.com/office/officeart/2008/layout/IncreasingCircleProcess"/>
    <dgm:cxn modelId="{BC380B50-DDD9-4D94-85D5-86E3687A7DB6}" type="presParOf" srcId="{D50E2832-E1A6-4E5C-8F72-4049EBADF4A5}" destId="{13EF0575-69A2-4061-BDB5-203804538B91}" srcOrd="3" destOrd="0" presId="urn:microsoft.com/office/officeart/2008/layout/IncreasingCircleProcess"/>
    <dgm:cxn modelId="{EE65B5B7-7E4C-4FE4-A95F-278B940288CA}" type="presParOf" srcId="{D50E2832-E1A6-4E5C-8F72-4049EBADF4A5}" destId="{FC14328B-30FC-442A-818F-6123462913C2}" srcOrd="4" destOrd="0" presId="urn:microsoft.com/office/officeart/2008/layout/IncreasingCircleProcess"/>
    <dgm:cxn modelId="{C497B29D-47B4-435E-B449-C431A0FB0C4C}" type="presParOf" srcId="{FC14328B-30FC-442A-818F-6123462913C2}" destId="{5774498C-823F-4FAC-B751-FFAFE7E59BCD}" srcOrd="0" destOrd="0" presId="urn:microsoft.com/office/officeart/2008/layout/IncreasingCircleProcess"/>
    <dgm:cxn modelId="{BB45098D-313F-47BB-8DBB-710C9763277F}" type="presParOf" srcId="{FC14328B-30FC-442A-818F-6123462913C2}" destId="{7B7EABCA-D002-4CC9-9BFA-EAC639B13A6F}" srcOrd="1" destOrd="0" presId="urn:microsoft.com/office/officeart/2008/layout/IncreasingCircleProcess"/>
    <dgm:cxn modelId="{D927ECDB-F03C-4E7F-8D02-F667063A5936}" type="presParOf" srcId="{FC14328B-30FC-442A-818F-6123462913C2}" destId="{62A9C37A-58FC-4CCE-B108-061DF658E501}" srcOrd="2" destOrd="0" presId="urn:microsoft.com/office/officeart/2008/layout/IncreasingCircleProcess"/>
    <dgm:cxn modelId="{70F0245E-5972-48CD-A851-54D1E957662A}" type="presParOf" srcId="{FC14328B-30FC-442A-818F-6123462913C2}" destId="{5A5411F7-500F-4869-93AC-841A924AB307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44340-A0F0-40F7-B008-7D7C86283209}">
      <dsp:nvSpPr>
        <dsp:cNvPr id="0" name=""/>
        <dsp:cNvSpPr/>
      </dsp:nvSpPr>
      <dsp:spPr>
        <a:xfrm>
          <a:off x="2039" y="0"/>
          <a:ext cx="625732" cy="62573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7E3DDD-EA48-4C7F-824F-840A43DD9783}">
      <dsp:nvSpPr>
        <dsp:cNvPr id="0" name=""/>
        <dsp:cNvSpPr/>
      </dsp:nvSpPr>
      <dsp:spPr>
        <a:xfrm>
          <a:off x="64612" y="62573"/>
          <a:ext cx="500586" cy="500586"/>
        </a:xfrm>
        <a:prstGeom prst="chord">
          <a:avLst>
            <a:gd name="adj1" fmla="val 1168272"/>
            <a:gd name="adj2" fmla="val 963172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6EF0A0-B51A-4E28-8A7E-6A2B38DCED14}">
      <dsp:nvSpPr>
        <dsp:cNvPr id="0" name=""/>
        <dsp:cNvSpPr/>
      </dsp:nvSpPr>
      <dsp:spPr>
        <a:xfrm>
          <a:off x="758132" y="625732"/>
          <a:ext cx="1851126" cy="2633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产业主题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行业方向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客户需求洞察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/>
            <a:t>空间</a:t>
          </a:r>
          <a:r>
            <a:rPr lang="zh-CN" altLang="en-US" sz="1900" kern="1200" dirty="0"/>
            <a:t>产品细分</a:t>
          </a:r>
        </a:p>
      </dsp:txBody>
      <dsp:txXfrm>
        <a:off x="758132" y="625732"/>
        <a:ext cx="1851126" cy="2633292"/>
      </dsp:txXfrm>
    </dsp:sp>
    <dsp:sp modelId="{EBEDA757-09CF-4396-B03A-1CD7F4729914}">
      <dsp:nvSpPr>
        <dsp:cNvPr id="0" name=""/>
        <dsp:cNvSpPr/>
      </dsp:nvSpPr>
      <dsp:spPr>
        <a:xfrm>
          <a:off x="758132" y="0"/>
          <a:ext cx="1851126" cy="625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1" kern="1200" dirty="0">
              <a:solidFill>
                <a:schemeClr val="accent4"/>
              </a:solidFill>
            </a:rPr>
            <a:t>园区主题定位</a:t>
          </a:r>
        </a:p>
      </dsp:txBody>
      <dsp:txXfrm>
        <a:off x="758132" y="0"/>
        <a:ext cx="1851126" cy="625732"/>
      </dsp:txXfrm>
    </dsp:sp>
    <dsp:sp modelId="{FFA6F4EE-1CCC-4EDE-819C-872CE5ACC648}">
      <dsp:nvSpPr>
        <dsp:cNvPr id="0" name=""/>
        <dsp:cNvSpPr/>
      </dsp:nvSpPr>
      <dsp:spPr>
        <a:xfrm>
          <a:off x="2739620" y="0"/>
          <a:ext cx="625732" cy="62573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AF1F52-2D1E-4275-972B-7731B60346CA}">
      <dsp:nvSpPr>
        <dsp:cNvPr id="0" name=""/>
        <dsp:cNvSpPr/>
      </dsp:nvSpPr>
      <dsp:spPr>
        <a:xfrm>
          <a:off x="2802193" y="62573"/>
          <a:ext cx="500586" cy="500586"/>
        </a:xfrm>
        <a:prstGeom prst="chord">
          <a:avLst>
            <a:gd name="adj1" fmla="val 20431728"/>
            <a:gd name="adj2" fmla="val 1196827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9089D-1719-40F1-BC27-E92A182E37D8}">
      <dsp:nvSpPr>
        <dsp:cNvPr id="0" name=""/>
        <dsp:cNvSpPr/>
      </dsp:nvSpPr>
      <dsp:spPr>
        <a:xfrm>
          <a:off x="3495714" y="625732"/>
          <a:ext cx="1851126" cy="2633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邀约到访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租赁谈判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合同签约</a:t>
          </a:r>
        </a:p>
      </dsp:txBody>
      <dsp:txXfrm>
        <a:off x="3495714" y="625732"/>
        <a:ext cx="1851126" cy="2633292"/>
      </dsp:txXfrm>
    </dsp:sp>
    <dsp:sp modelId="{4E6CBB98-B2F5-4D95-A1F1-AA28760F055D}">
      <dsp:nvSpPr>
        <dsp:cNvPr id="0" name=""/>
        <dsp:cNvSpPr/>
      </dsp:nvSpPr>
      <dsp:spPr>
        <a:xfrm>
          <a:off x="3495714" y="0"/>
          <a:ext cx="1851126" cy="625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1" kern="1200" dirty="0">
              <a:solidFill>
                <a:schemeClr val="accent4"/>
              </a:solidFill>
            </a:rPr>
            <a:t>招商签约入驻</a:t>
          </a:r>
        </a:p>
      </dsp:txBody>
      <dsp:txXfrm>
        <a:off x="3495714" y="0"/>
        <a:ext cx="1851126" cy="625732"/>
      </dsp:txXfrm>
    </dsp:sp>
    <dsp:sp modelId="{5774498C-823F-4FAC-B751-FFAFE7E59BCD}">
      <dsp:nvSpPr>
        <dsp:cNvPr id="0" name=""/>
        <dsp:cNvSpPr/>
      </dsp:nvSpPr>
      <dsp:spPr>
        <a:xfrm>
          <a:off x="5477201" y="0"/>
          <a:ext cx="625732" cy="62573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7EABCA-D002-4CC9-9BFA-EAC639B13A6F}">
      <dsp:nvSpPr>
        <dsp:cNvPr id="0" name=""/>
        <dsp:cNvSpPr/>
      </dsp:nvSpPr>
      <dsp:spPr>
        <a:xfrm>
          <a:off x="5539774" y="62573"/>
          <a:ext cx="500586" cy="500586"/>
        </a:xfrm>
        <a:prstGeom prst="chord">
          <a:avLst>
            <a:gd name="adj1" fmla="val 162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A9C37A-58FC-4CCE-B108-061DF658E501}">
      <dsp:nvSpPr>
        <dsp:cNvPr id="0" name=""/>
        <dsp:cNvSpPr/>
      </dsp:nvSpPr>
      <dsp:spPr>
        <a:xfrm>
          <a:off x="6233295" y="625732"/>
          <a:ext cx="1851126" cy="26332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物业服务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企业服务</a:t>
          </a:r>
          <a:endParaRPr lang="en-US" altLang="zh-CN" sz="1900" kern="1200" dirty="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kern="1200" dirty="0"/>
            <a:t>续约维系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900" kern="1200" dirty="0"/>
        </a:p>
      </dsp:txBody>
      <dsp:txXfrm>
        <a:off x="6233295" y="625732"/>
        <a:ext cx="1851126" cy="2633292"/>
      </dsp:txXfrm>
    </dsp:sp>
    <dsp:sp modelId="{5A5411F7-500F-4869-93AC-841A924AB307}">
      <dsp:nvSpPr>
        <dsp:cNvPr id="0" name=""/>
        <dsp:cNvSpPr/>
      </dsp:nvSpPr>
      <dsp:spPr>
        <a:xfrm>
          <a:off x="6106058" y="0"/>
          <a:ext cx="2105600" cy="6257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900" b="1" kern="1200" dirty="0">
              <a:solidFill>
                <a:schemeClr val="accent4"/>
              </a:solidFill>
            </a:rPr>
            <a:t>园区运营</a:t>
          </a:r>
          <a:r>
            <a:rPr lang="en-US" altLang="zh-CN" sz="1900" b="1" kern="1200" dirty="0">
              <a:solidFill>
                <a:schemeClr val="accent4"/>
              </a:solidFill>
            </a:rPr>
            <a:t>/</a:t>
          </a:r>
          <a:r>
            <a:rPr lang="zh-CN" altLang="en-US" sz="1900" b="1" kern="1200" dirty="0">
              <a:solidFill>
                <a:schemeClr val="accent4"/>
              </a:solidFill>
            </a:rPr>
            <a:t>企业服务</a:t>
          </a:r>
        </a:p>
      </dsp:txBody>
      <dsp:txXfrm>
        <a:off x="6106058" y="0"/>
        <a:ext cx="2105600" cy="625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15CB61-9744-42AD-BE0C-B3AF337C2E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商务园区招商模式的数字化转型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175037F-0F2F-4087-947C-EF1559478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小组：章如海、谢立拓、吴丽卿、章佩玲、贺增光、姜曙明、张省林、翟书胜、严鲁彬、王志刚、杜岩松</a:t>
            </a:r>
          </a:p>
        </p:txBody>
      </p:sp>
    </p:spTree>
    <p:extLst>
      <p:ext uri="{BB962C8B-B14F-4D97-AF65-F5344CB8AC3E}">
        <p14:creationId xmlns:p14="http://schemas.microsoft.com/office/powerpoint/2010/main" val="437714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B7FFB2-6DA0-462B-94D8-83D72E307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传统的商务园区招商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924EB4-0555-44B6-9E5F-3759FCC9C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2148" y="2136317"/>
            <a:ext cx="7315200" cy="3000226"/>
          </a:xfrm>
        </p:spPr>
        <p:txBody>
          <a:bodyPr>
            <a:normAutofit/>
          </a:bodyPr>
          <a:lstStyle/>
          <a:p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70%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以上的租赁线索和客户来自于中介</a:t>
            </a:r>
            <a:endParaRPr lang="en-US" altLang="zh-CN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来访签约转化率：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20%(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万科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线上推广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网络通路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新媒体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带来的签约不足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20%</a:t>
            </a:r>
          </a:p>
          <a:p>
            <a:r>
              <a: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到期续约率</a:t>
            </a:r>
            <a:r>
              <a:rPr lang="en-US" altLang="zh-CN" sz="1600" dirty="0">
                <a:latin typeface="华文楷体" panose="02010600040101010101" pitchFamily="2" charset="-122"/>
                <a:ea typeface="华文楷体" panose="02010600040101010101" pitchFamily="2" charset="-122"/>
              </a:rPr>
              <a:t>60%-70%</a:t>
            </a:r>
          </a:p>
          <a:p>
            <a:endParaRPr lang="zh-CN" altLang="en-US" sz="16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0646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3889D8-76F5-402B-BE06-32EE9F3D8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行业内渠道的占比和效率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0A146C-F6B6-4BA9-96A2-01EE26646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029D2E20-FC2D-4D42-AB0E-E7F7E9709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883948"/>
              </p:ext>
            </p:extLst>
          </p:nvPr>
        </p:nvGraphicFramePr>
        <p:xfrm>
          <a:off x="3760967" y="864108"/>
          <a:ext cx="8050696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296">
                  <a:extLst>
                    <a:ext uri="{9D8B030D-6E8A-4147-A177-3AD203B41FA5}">
                      <a16:colId xmlns:a16="http://schemas.microsoft.com/office/drawing/2014/main" val="394464743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8364402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3504716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3632634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29227603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zh-CN" altLang="en-US" sz="160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来访渠道占比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来访成交转化率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7808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渠道分类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Vanke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Savills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Vanke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Savills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7621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线上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30%-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10%-20%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3329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网络通路类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12%-15%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9974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新媒体渠道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5%-10%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7867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线下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1918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中介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40%+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80%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10%-20%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9861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楼体广告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0145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外部资源推介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15%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5315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老带新转介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5%+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20%+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8703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内部资源推介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20%+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2105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圈层协会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5%-10%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70274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政府推介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10%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25%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0107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陌拜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3%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1%</a:t>
                      </a:r>
                      <a:endParaRPr lang="zh-CN" altLang="en-US" sz="16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326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678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417B8-0E72-4EF2-812A-7D30F16C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核心城市</a:t>
            </a:r>
            <a:r>
              <a:rPr lang="en-US" altLang="zh-CN" sz="2400" dirty="0"/>
              <a:t>2003Q3</a:t>
            </a:r>
            <a:r>
              <a:rPr lang="zh-CN" altLang="en-US" sz="2400" dirty="0"/>
              <a:t>空置率继续上升</a:t>
            </a:r>
            <a:r>
              <a:rPr lang="en-US" altLang="zh-CN" sz="2400" dirty="0"/>
              <a:t>2pt</a:t>
            </a:r>
            <a:br>
              <a:rPr lang="en-US" altLang="zh-CN" sz="2400" dirty="0"/>
            </a:br>
            <a:r>
              <a:rPr lang="zh-CN" altLang="en-US" sz="2400" dirty="0"/>
              <a:t>北京：</a:t>
            </a:r>
            <a:r>
              <a:rPr lang="en-US" altLang="zh-CN" sz="2400" dirty="0"/>
              <a:t>21%</a:t>
            </a:r>
            <a:br>
              <a:rPr lang="en-US" altLang="zh-CN" sz="2400" dirty="0"/>
            </a:br>
            <a:r>
              <a:rPr lang="zh-CN" altLang="en-US" sz="2400" dirty="0"/>
              <a:t>上海：</a:t>
            </a:r>
            <a:r>
              <a:rPr lang="en-US" altLang="zh-CN" sz="2400" dirty="0"/>
              <a:t>20%</a:t>
            </a:r>
            <a:br>
              <a:rPr lang="en-US" altLang="zh-CN" sz="2400" dirty="0"/>
            </a:br>
            <a:r>
              <a:rPr lang="zh-CN" altLang="en-US" sz="2400" dirty="0"/>
              <a:t>深圳：</a:t>
            </a:r>
            <a:r>
              <a:rPr lang="en-US" altLang="zh-CN" sz="2400" dirty="0"/>
              <a:t>21%</a:t>
            </a:r>
            <a:br>
              <a:rPr lang="en-US" altLang="zh-CN" sz="2400" dirty="0"/>
            </a:br>
            <a:r>
              <a:rPr lang="zh-CN" altLang="en-US" sz="2400" dirty="0"/>
              <a:t>杭州：</a:t>
            </a:r>
            <a:r>
              <a:rPr lang="en-US" altLang="zh-CN" sz="2400" dirty="0"/>
              <a:t>23%</a:t>
            </a:r>
            <a:br>
              <a:rPr lang="en-US" altLang="zh-CN" sz="2400" dirty="0"/>
            </a:br>
            <a:r>
              <a:rPr lang="zh-CN" altLang="en-US" sz="2400" dirty="0"/>
              <a:t>广州：</a:t>
            </a:r>
            <a:r>
              <a:rPr lang="en-US" altLang="zh-CN" sz="2400" dirty="0"/>
              <a:t>17%</a:t>
            </a:r>
            <a:br>
              <a:rPr lang="en-US" altLang="zh-CN" sz="2400" dirty="0"/>
            </a:br>
            <a:r>
              <a:rPr lang="zh-CN" altLang="en-US" sz="2400" dirty="0"/>
              <a:t>成都：</a:t>
            </a:r>
            <a:r>
              <a:rPr lang="en-US" altLang="zh-CN" sz="2400" dirty="0"/>
              <a:t>25%</a:t>
            </a:r>
            <a:endParaRPr lang="zh-CN" altLang="en-US" sz="2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1098AF-827F-4FD4-9E56-909DC1992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BEE312-7C19-431A-A3DE-B3EDFABAD2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15" t="7305" r="8902" b="48638"/>
          <a:stretch/>
        </p:blipFill>
        <p:spPr>
          <a:xfrm>
            <a:off x="3916019" y="673277"/>
            <a:ext cx="6639339" cy="5311471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71D84BBB-CABF-495D-A5E4-D36DB4022C96}"/>
              </a:ext>
            </a:extLst>
          </p:cNvPr>
          <p:cNvSpPr/>
          <p:nvPr/>
        </p:nvSpPr>
        <p:spPr>
          <a:xfrm>
            <a:off x="8491994" y="3951798"/>
            <a:ext cx="636104" cy="628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杭州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759DAD0-23D5-479C-9F6A-7E18972CEFFE}"/>
              </a:ext>
            </a:extLst>
          </p:cNvPr>
          <p:cNvSpPr/>
          <p:nvPr/>
        </p:nvSpPr>
        <p:spPr>
          <a:xfrm>
            <a:off x="9128098" y="3753015"/>
            <a:ext cx="397565" cy="39756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上海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432A6B5-488C-4DAB-BC8D-A2A96CDEFB33}"/>
              </a:ext>
            </a:extLst>
          </p:cNvPr>
          <p:cNvSpPr/>
          <p:nvPr/>
        </p:nvSpPr>
        <p:spPr>
          <a:xfrm>
            <a:off x="8293211" y="2707419"/>
            <a:ext cx="397565" cy="397565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北京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D60D811-8A22-49F3-A2A9-846B17A28AA9}"/>
              </a:ext>
            </a:extLst>
          </p:cNvPr>
          <p:cNvSpPr/>
          <p:nvPr/>
        </p:nvSpPr>
        <p:spPr>
          <a:xfrm>
            <a:off x="8213698" y="5002761"/>
            <a:ext cx="270344" cy="27561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广州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067ED7B-47F7-4367-AC51-998E21661FE3}"/>
              </a:ext>
            </a:extLst>
          </p:cNvPr>
          <p:cNvSpPr/>
          <p:nvPr/>
        </p:nvSpPr>
        <p:spPr>
          <a:xfrm>
            <a:off x="8491993" y="5140567"/>
            <a:ext cx="270344" cy="275612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深圳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C0A2FB5-ED57-44D6-BC75-99858AB15EA1}"/>
              </a:ext>
            </a:extLst>
          </p:cNvPr>
          <p:cNvSpPr/>
          <p:nvPr/>
        </p:nvSpPr>
        <p:spPr>
          <a:xfrm>
            <a:off x="6925585" y="3983605"/>
            <a:ext cx="201802" cy="18153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成都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27A9A34-BCA5-4A08-81A2-139FE32BD37D}"/>
              </a:ext>
            </a:extLst>
          </p:cNvPr>
          <p:cNvSpPr/>
          <p:nvPr/>
        </p:nvSpPr>
        <p:spPr>
          <a:xfrm>
            <a:off x="7606378" y="3956448"/>
            <a:ext cx="201802" cy="18153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重庆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2B9FEE1E-3A02-4815-B0E1-3E6E5C7CC964}"/>
              </a:ext>
            </a:extLst>
          </p:cNvPr>
          <p:cNvSpPr/>
          <p:nvPr/>
        </p:nvSpPr>
        <p:spPr>
          <a:xfrm>
            <a:off x="8926296" y="3662246"/>
            <a:ext cx="201802" cy="18153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南京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395A89C-66FF-47F3-A31E-38C64F3DFD3B}"/>
              </a:ext>
            </a:extLst>
          </p:cNvPr>
          <p:cNvSpPr/>
          <p:nvPr/>
        </p:nvSpPr>
        <p:spPr>
          <a:xfrm>
            <a:off x="8043700" y="3862366"/>
            <a:ext cx="201802" cy="18153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武汉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273D6FE-B313-46C6-BB7F-3085FC015F20}"/>
              </a:ext>
            </a:extLst>
          </p:cNvPr>
          <p:cNvSpPr/>
          <p:nvPr/>
        </p:nvSpPr>
        <p:spPr>
          <a:xfrm>
            <a:off x="7470658" y="4544839"/>
            <a:ext cx="201802" cy="18153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贵阳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85D6868-2912-4B47-A96E-E71F765F0C5D}"/>
              </a:ext>
            </a:extLst>
          </p:cNvPr>
          <p:cNvSpPr/>
          <p:nvPr/>
        </p:nvSpPr>
        <p:spPr>
          <a:xfrm>
            <a:off x="8259708" y="3402515"/>
            <a:ext cx="201802" cy="181537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n>
                <a:solidFill>
                  <a:schemeClr val="accent4"/>
                </a:solidFill>
              </a:ln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dirty="0">
                <a:ln>
                  <a:solidFill>
                    <a:schemeClr val="accent4"/>
                  </a:solidFill>
                </a:ln>
                <a:latin typeface="华文楷体" panose="02010600040101010101" pitchFamily="2" charset="-122"/>
                <a:ea typeface="华文楷体" panose="02010600040101010101" pitchFamily="2" charset="-122"/>
              </a:rPr>
              <a:t>郑州</a:t>
            </a:r>
          </a:p>
        </p:txBody>
      </p:sp>
    </p:spTree>
    <p:extLst>
      <p:ext uri="{BB962C8B-B14F-4D97-AF65-F5344CB8AC3E}">
        <p14:creationId xmlns:p14="http://schemas.microsoft.com/office/powerpoint/2010/main" val="225724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3D4C3-65E1-4FD9-9BBE-910513F78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商务园区招商的业务场景和需求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07DF577-3E31-49DA-8D65-2265255938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5652511"/>
              </p:ext>
            </p:extLst>
          </p:nvPr>
        </p:nvGraphicFramePr>
        <p:xfrm>
          <a:off x="3434963" y="2138901"/>
          <a:ext cx="8213698" cy="3737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4925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43961A-2E0D-4379-B6CC-83121A35D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商务园区运营数字化总体思路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42F153-61EB-4814-963C-B8ED6B2B5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、园区运营数字化首先要解决供给端产品数字化和需求端客户数字化。</a:t>
            </a:r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、建立大数据为基础，人工智能驱动的数字化运营平台，精准寻找客户，匹配产品。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、数据价值释放。以场景为核心，建立数据驱动的持续运营体系（园区定位、招商、维系）。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3290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66D35-4DB5-4B31-9FA3-357C5A1C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总体架构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6DD614-B2A9-42B6-819E-F1A63410241E}"/>
              </a:ext>
            </a:extLst>
          </p:cNvPr>
          <p:cNvSpPr/>
          <p:nvPr/>
        </p:nvSpPr>
        <p:spPr>
          <a:xfrm>
            <a:off x="4102873" y="2592124"/>
            <a:ext cx="6806317" cy="19321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9924F25-1471-4435-9DB1-F55173B82AE1}"/>
              </a:ext>
            </a:extLst>
          </p:cNvPr>
          <p:cNvSpPr/>
          <p:nvPr/>
        </p:nvSpPr>
        <p:spPr>
          <a:xfrm>
            <a:off x="4850296" y="3005592"/>
            <a:ext cx="1423283" cy="120064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客户</a:t>
            </a:r>
            <a:endParaRPr lang="en-US" altLang="zh-CN" dirty="0"/>
          </a:p>
          <a:p>
            <a:pPr algn="ctr"/>
            <a:r>
              <a:rPr lang="zh-CN" altLang="en-US" dirty="0"/>
              <a:t>洞察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873ED4B-897E-4BF7-8860-09C56CB72FFA}"/>
              </a:ext>
            </a:extLst>
          </p:cNvPr>
          <p:cNvSpPr/>
          <p:nvPr/>
        </p:nvSpPr>
        <p:spPr>
          <a:xfrm>
            <a:off x="8791784" y="3005592"/>
            <a:ext cx="1423283" cy="120064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产品</a:t>
            </a:r>
            <a:endParaRPr lang="en-US" altLang="zh-CN" dirty="0"/>
          </a:p>
          <a:p>
            <a:pPr algn="ctr"/>
            <a:r>
              <a:rPr lang="zh-CN" altLang="en-US" dirty="0"/>
              <a:t>数字化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6A5C6D-C86D-435A-B78E-615723333E97}"/>
              </a:ext>
            </a:extLst>
          </p:cNvPr>
          <p:cNvSpPr/>
          <p:nvPr/>
        </p:nvSpPr>
        <p:spPr>
          <a:xfrm>
            <a:off x="4102873" y="5144575"/>
            <a:ext cx="1789044" cy="9341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阿里体系数据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1F7915-9799-45D4-B11B-3BF794D5F35E}"/>
              </a:ext>
            </a:extLst>
          </p:cNvPr>
          <p:cNvSpPr/>
          <p:nvPr/>
        </p:nvSpPr>
        <p:spPr>
          <a:xfrm>
            <a:off x="6639448" y="5144575"/>
            <a:ext cx="1789044" cy="9341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公开市场数据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AEA4D5-BBE2-4356-B880-F693EE1AE26A}"/>
              </a:ext>
            </a:extLst>
          </p:cNvPr>
          <p:cNvSpPr/>
          <p:nvPr/>
        </p:nvSpPr>
        <p:spPr>
          <a:xfrm>
            <a:off x="9097359" y="5144574"/>
            <a:ext cx="1789044" cy="93419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政府数据</a:t>
            </a:r>
          </a:p>
        </p:txBody>
      </p:sp>
      <p:sp>
        <p:nvSpPr>
          <p:cNvPr id="12" name="箭头: 上 11">
            <a:extLst>
              <a:ext uri="{FF2B5EF4-FFF2-40B4-BE49-F238E27FC236}">
                <a16:creationId xmlns:a16="http://schemas.microsoft.com/office/drawing/2014/main" id="{EFBE4804-BA4D-48F0-86D2-0E157C5B8A4F}"/>
              </a:ext>
            </a:extLst>
          </p:cNvPr>
          <p:cNvSpPr/>
          <p:nvPr/>
        </p:nvSpPr>
        <p:spPr>
          <a:xfrm>
            <a:off x="4683318" y="4627658"/>
            <a:ext cx="763325" cy="453225"/>
          </a:xfrm>
          <a:prstGeom prst="up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上 12">
            <a:extLst>
              <a:ext uri="{FF2B5EF4-FFF2-40B4-BE49-F238E27FC236}">
                <a16:creationId xmlns:a16="http://schemas.microsoft.com/office/drawing/2014/main" id="{83C83B6F-1EDD-4BBB-A562-2D8AEF4CA4EA}"/>
              </a:ext>
            </a:extLst>
          </p:cNvPr>
          <p:cNvSpPr/>
          <p:nvPr/>
        </p:nvSpPr>
        <p:spPr>
          <a:xfrm>
            <a:off x="7152307" y="4617123"/>
            <a:ext cx="763325" cy="453225"/>
          </a:xfrm>
          <a:prstGeom prst="up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上 13">
            <a:extLst>
              <a:ext uri="{FF2B5EF4-FFF2-40B4-BE49-F238E27FC236}">
                <a16:creationId xmlns:a16="http://schemas.microsoft.com/office/drawing/2014/main" id="{21772F05-3DF0-4E45-877A-3335B14C6C4E}"/>
              </a:ext>
            </a:extLst>
          </p:cNvPr>
          <p:cNvSpPr/>
          <p:nvPr/>
        </p:nvSpPr>
        <p:spPr>
          <a:xfrm>
            <a:off x="9610218" y="4634912"/>
            <a:ext cx="763325" cy="453225"/>
          </a:xfrm>
          <a:prstGeom prst="up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上 14">
            <a:extLst>
              <a:ext uri="{FF2B5EF4-FFF2-40B4-BE49-F238E27FC236}">
                <a16:creationId xmlns:a16="http://schemas.microsoft.com/office/drawing/2014/main" id="{8196D0EF-3A74-49BF-BFF5-907B23549189}"/>
              </a:ext>
            </a:extLst>
          </p:cNvPr>
          <p:cNvSpPr/>
          <p:nvPr/>
        </p:nvSpPr>
        <p:spPr>
          <a:xfrm>
            <a:off x="7152307" y="2073581"/>
            <a:ext cx="763325" cy="469227"/>
          </a:xfrm>
          <a:prstGeom prst="up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B6FECBF-3581-48DC-9199-8BD0FA734020}"/>
              </a:ext>
            </a:extLst>
          </p:cNvPr>
          <p:cNvSpPr txBox="1"/>
          <p:nvPr/>
        </p:nvSpPr>
        <p:spPr>
          <a:xfrm>
            <a:off x="4107815" y="258457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大数据平台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72D230E-72D1-4A5F-8060-840ED3966A56}"/>
              </a:ext>
            </a:extLst>
          </p:cNvPr>
          <p:cNvSpPr txBox="1"/>
          <p:nvPr/>
        </p:nvSpPr>
        <p:spPr>
          <a:xfrm>
            <a:off x="6512119" y="1350743"/>
            <a:ext cx="1800493" cy="646331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zh-CN" altLang="en-US" dirty="0"/>
              <a:t>招商：</a:t>
            </a:r>
            <a:endParaRPr lang="en-US" altLang="zh-CN" dirty="0"/>
          </a:p>
          <a:p>
            <a:r>
              <a:rPr lang="zh-CN" altLang="en-US" dirty="0"/>
              <a:t>潜在新客户匹配</a:t>
            </a:r>
            <a:endParaRPr lang="en-US" altLang="zh-CN" dirty="0"/>
          </a:p>
        </p:txBody>
      </p: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3CAD62A5-015B-432E-AF8B-B003919A206B}"/>
              </a:ext>
            </a:extLst>
          </p:cNvPr>
          <p:cNvCxnSpPr>
            <a:cxnSpLocks/>
            <a:stCxn id="29" idx="3"/>
            <a:endCxn id="4" idx="3"/>
          </p:cNvCxnSpPr>
          <p:nvPr/>
        </p:nvCxnSpPr>
        <p:spPr>
          <a:xfrm flipH="1">
            <a:off x="10909190" y="1812407"/>
            <a:ext cx="35427" cy="1745801"/>
          </a:xfrm>
          <a:prstGeom prst="bentConnector3">
            <a:avLst>
              <a:gd name="adj1" fmla="val -64527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F3BF130-6DDB-436B-954C-ACD6ABDF179F}"/>
              </a:ext>
            </a:extLst>
          </p:cNvPr>
          <p:cNvSpPr txBox="1"/>
          <p:nvPr/>
        </p:nvSpPr>
        <p:spPr>
          <a:xfrm>
            <a:off x="10831085" y="24815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结果标注</a:t>
            </a:r>
          </a:p>
        </p:txBody>
      </p:sp>
      <p:sp>
        <p:nvSpPr>
          <p:cNvPr id="23" name="箭头: 左 22">
            <a:extLst>
              <a:ext uri="{FF2B5EF4-FFF2-40B4-BE49-F238E27FC236}">
                <a16:creationId xmlns:a16="http://schemas.microsoft.com/office/drawing/2014/main" id="{00DA7C4A-8653-4953-9E96-FFC11F98969A}"/>
              </a:ext>
            </a:extLst>
          </p:cNvPr>
          <p:cNvSpPr/>
          <p:nvPr/>
        </p:nvSpPr>
        <p:spPr>
          <a:xfrm>
            <a:off x="8245503" y="3315694"/>
            <a:ext cx="453224" cy="548640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八边形 24">
            <a:extLst>
              <a:ext uri="{FF2B5EF4-FFF2-40B4-BE49-F238E27FC236}">
                <a16:creationId xmlns:a16="http://schemas.microsoft.com/office/drawing/2014/main" id="{523BB83A-AB1E-4FA8-82A1-A1241E0F253F}"/>
              </a:ext>
            </a:extLst>
          </p:cNvPr>
          <p:cNvSpPr/>
          <p:nvPr/>
        </p:nvSpPr>
        <p:spPr>
          <a:xfrm>
            <a:off x="6942446" y="2971859"/>
            <a:ext cx="1208708" cy="1208708"/>
          </a:xfrm>
          <a:prstGeom prst="octagon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智能模型</a:t>
            </a:r>
            <a:endParaRPr lang="en-US" altLang="zh-CN" dirty="0"/>
          </a:p>
        </p:txBody>
      </p:sp>
      <p:sp>
        <p:nvSpPr>
          <p:cNvPr id="26" name="箭头: 左 25">
            <a:extLst>
              <a:ext uri="{FF2B5EF4-FFF2-40B4-BE49-F238E27FC236}">
                <a16:creationId xmlns:a16="http://schemas.microsoft.com/office/drawing/2014/main" id="{50B21E0A-35C6-4FC1-AE6B-AC05CBBB6EFF}"/>
              </a:ext>
            </a:extLst>
          </p:cNvPr>
          <p:cNvSpPr/>
          <p:nvPr/>
        </p:nvSpPr>
        <p:spPr>
          <a:xfrm flipH="1">
            <a:off x="6355565" y="3301893"/>
            <a:ext cx="504895" cy="548640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383ED12-9EF3-4737-96F7-A16D61C24D59}"/>
              </a:ext>
            </a:extLst>
          </p:cNvPr>
          <p:cNvSpPr txBox="1"/>
          <p:nvPr/>
        </p:nvSpPr>
        <p:spPr>
          <a:xfrm>
            <a:off x="4110946" y="1350742"/>
            <a:ext cx="1800493" cy="92333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园区规划定位：</a:t>
            </a:r>
            <a:endParaRPr lang="en-US" altLang="zh-CN" dirty="0"/>
          </a:p>
          <a:p>
            <a:r>
              <a:rPr lang="zh-CN" altLang="en-US" dirty="0"/>
              <a:t>区域产业分析</a:t>
            </a:r>
            <a:endParaRPr lang="en-US" altLang="zh-CN" dirty="0"/>
          </a:p>
          <a:p>
            <a:r>
              <a:rPr lang="zh-CN" altLang="en-US" dirty="0"/>
              <a:t>新生的行业机会</a:t>
            </a:r>
            <a:endParaRPr lang="en-US" altLang="zh-CN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C8BED50-650B-4C38-8E73-06F72E66977D}"/>
              </a:ext>
            </a:extLst>
          </p:cNvPr>
          <p:cNvSpPr txBox="1"/>
          <p:nvPr/>
        </p:nvSpPr>
        <p:spPr>
          <a:xfrm>
            <a:off x="8913292" y="1350742"/>
            <a:ext cx="2031325" cy="92333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</a:lstStyle>
          <a:p>
            <a:r>
              <a:rPr lang="zh-CN" altLang="en-US" dirty="0"/>
              <a:t>存量维系：</a:t>
            </a:r>
            <a:endParaRPr lang="en-US" altLang="zh-CN" dirty="0"/>
          </a:p>
          <a:p>
            <a:r>
              <a:rPr lang="zh-CN" altLang="en-US" dirty="0"/>
              <a:t>续签、扩租名单</a:t>
            </a:r>
            <a:endParaRPr lang="en-US" altLang="zh-CN" dirty="0"/>
          </a:p>
          <a:p>
            <a:r>
              <a:rPr lang="zh-CN" altLang="en-US" dirty="0"/>
              <a:t>高危流失客户名单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9917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E161CC-A6C9-49ED-887B-B3C483737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商务园区运营数字化</a:t>
            </a:r>
            <a:r>
              <a:rPr lang="en-US" altLang="zh-CN" dirty="0"/>
              <a:t>——</a:t>
            </a:r>
            <a:r>
              <a:rPr lang="zh-CN" altLang="en-US" dirty="0"/>
              <a:t>产品数字化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0F5482-B9DA-4C3B-9E33-C6AADD181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供给端</a:t>
            </a:r>
            <a:r>
              <a:rPr lang="en-US" altLang="zh-CN" dirty="0"/>
              <a:t>——</a:t>
            </a:r>
            <a:r>
              <a:rPr lang="zh-CN" altLang="en-US" dirty="0"/>
              <a:t>产品数字化：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sz="2000" dirty="0"/>
              <a:t>1</a:t>
            </a:r>
            <a:r>
              <a:rPr lang="zh-CN" altLang="en-US" sz="2000" dirty="0"/>
              <a:t>、数字孪生，产品可视化，线上带看</a:t>
            </a:r>
            <a:endParaRPr lang="en-US" altLang="zh-CN" sz="2000" dirty="0"/>
          </a:p>
          <a:p>
            <a:r>
              <a:rPr lang="en-US" altLang="zh-CN" sz="2000" dirty="0"/>
              <a:t>2</a:t>
            </a:r>
            <a:r>
              <a:rPr lang="zh-CN" altLang="en-US" sz="2000" dirty="0"/>
              <a:t>、产品分级、分类、标签化（地段、空间细分、商业级别</a:t>
            </a:r>
            <a:r>
              <a:rPr lang="zh-CN" altLang="en-US" dirty="0"/>
              <a:t>、适合</a:t>
            </a:r>
            <a:r>
              <a:rPr lang="zh-CN" altLang="en-US" sz="2000" dirty="0"/>
              <a:t>行业）</a:t>
            </a:r>
            <a:endParaRPr lang="en-US" altLang="zh-CN" sz="2000" dirty="0"/>
          </a:p>
          <a:p>
            <a:r>
              <a:rPr lang="en-US" altLang="zh-CN" sz="2000" dirty="0"/>
              <a:t>3</a:t>
            </a:r>
            <a:r>
              <a:rPr lang="zh-CN" altLang="en-US" sz="2000" dirty="0"/>
              <a:t>、营销内容数字化、定制化、智能化</a:t>
            </a:r>
          </a:p>
        </p:txBody>
      </p:sp>
    </p:spTree>
    <p:extLst>
      <p:ext uri="{BB962C8B-B14F-4D97-AF65-F5344CB8AC3E}">
        <p14:creationId xmlns:p14="http://schemas.microsoft.com/office/powerpoint/2010/main" val="1519841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BB5B4-517C-4AE5-8B81-93BFD98EC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商务园区运营数字化</a:t>
            </a:r>
            <a:r>
              <a:rPr lang="en-US" altLang="zh-CN" dirty="0"/>
              <a:t>——</a:t>
            </a:r>
            <a:r>
              <a:rPr lang="zh-CN" altLang="en-US" dirty="0"/>
              <a:t>客户数字化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2B5712-0EA4-4D36-B35D-BA42378EF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z="2000" dirty="0"/>
              <a:t>需求端</a:t>
            </a:r>
            <a:r>
              <a:rPr lang="en-US" altLang="zh-CN" sz="2000" dirty="0"/>
              <a:t>——</a:t>
            </a:r>
            <a:r>
              <a:rPr lang="zh-CN" altLang="en-US" sz="2000" dirty="0"/>
              <a:t>客户数字化</a:t>
            </a:r>
            <a:r>
              <a:rPr lang="en-US" altLang="zh-CN" sz="2000" dirty="0"/>
              <a:t>:</a:t>
            </a:r>
          </a:p>
          <a:p>
            <a:pPr lvl="0"/>
            <a:endParaRPr lang="en-US" altLang="zh-CN" dirty="0"/>
          </a:p>
          <a:p>
            <a:pPr lvl="0"/>
            <a:r>
              <a:rPr lang="en-US" altLang="zh-CN" sz="2000" dirty="0"/>
              <a:t>1</a:t>
            </a:r>
            <a:r>
              <a:rPr lang="zh-CN" altLang="en-US" sz="2000" dirty="0"/>
              <a:t>、整合全域数据：</a:t>
            </a:r>
            <a:endParaRPr lang="en-US" altLang="zh-CN" sz="2000" dirty="0"/>
          </a:p>
          <a:p>
            <a:pPr lvl="0"/>
            <a:r>
              <a:rPr lang="zh-CN" altLang="en-US" sz="2000" dirty="0"/>
              <a:t>阿里生态数据：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供应商、生态圈、被投企业、平台交易量、风控数据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/>
            <a:r>
              <a:rPr lang="zh-CN" altLang="en-US" dirty="0"/>
              <a:t>市场公开数据：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招投标、社会融资、企业公告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0"/>
            <a:r>
              <a:rPr lang="zh-CN" altLang="en-US" sz="2000" dirty="0"/>
              <a:t>政府数据：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工商、纳税、融资、新注册知识产权数量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投促局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CIM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系统数据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/>
            <a:endParaRPr lang="zh-CN" altLang="en-US" sz="2000" dirty="0"/>
          </a:p>
          <a:p>
            <a:pPr lvl="0"/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zh-CN" altLang="en-US" sz="2000" dirty="0"/>
              <a:t>客户洞察，形成客户标签（行业、规模、地域等）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753227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2F3C65-46F1-46C9-A86A-F9B104B1E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商务园区的数字化招商</a:t>
            </a:r>
            <a:r>
              <a:rPr lang="en-US" altLang="zh-CN" dirty="0"/>
              <a:t>——</a:t>
            </a:r>
            <a:r>
              <a:rPr lang="zh-CN" altLang="en-US" dirty="0"/>
              <a:t>场景建模、精准匹配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00DDD2-5358-4F21-BC70-AF546382F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根据场景建模，释放数据价值。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招商：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、工商新注册企业拉新。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、大企业中标企业。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、阿里体系内交易量激增。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、阿里体系内紧密合作伙伴拉新。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存量维系：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、老客户用电量增加、员工人数增加，存量扩容。</a:t>
            </a:r>
            <a:endParaRPr lang="en-US" altLang="zh-CN" dirty="0"/>
          </a:p>
          <a:p>
            <a:r>
              <a:rPr lang="en-US" altLang="zh-CN" dirty="0"/>
              <a:t>6</a:t>
            </a:r>
            <a:r>
              <a:rPr lang="zh-CN" altLang="en-US" dirty="0"/>
              <a:t>、高危流失客户挽留。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园区定位：</a:t>
            </a:r>
            <a:endParaRPr lang="en-US" altLang="zh-CN" dirty="0"/>
          </a:p>
          <a:p>
            <a:r>
              <a:rPr lang="en-US" altLang="zh-CN" dirty="0"/>
              <a:t>7</a:t>
            </a:r>
            <a:r>
              <a:rPr lang="zh-CN" altLang="en-US" dirty="0"/>
              <a:t>、区域行业分析、客群分析、业态分析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71984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284C47-28FB-4043-9393-1D08279E4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谢谢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CA3593-B47D-478F-A816-5050ACA3B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405291"/>
      </p:ext>
    </p:extLst>
  </p:cSld>
  <p:clrMapOvr>
    <a:masterClrMapping/>
  </p:clrMapOvr>
</p:sld>
</file>

<file path=ppt/theme/theme1.xml><?xml version="1.0" encoding="utf-8"?>
<a:theme xmlns:a="http://schemas.openxmlformats.org/drawingml/2006/main" name="框架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TM03457475[[fn=框架]]</Template>
  <TotalTime>1596</TotalTime>
  <Words>651</Words>
  <Application>Microsoft Office PowerPoint</Application>
  <PresentationFormat>宽屏</PresentationFormat>
  <Paragraphs>131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华文楷体</vt:lpstr>
      <vt:lpstr>楷体</vt:lpstr>
      <vt:lpstr>Corbel</vt:lpstr>
      <vt:lpstr>Wingdings 2</vt:lpstr>
      <vt:lpstr>框架</vt:lpstr>
      <vt:lpstr>商务园区招商模式的数字化转型</vt:lpstr>
      <vt:lpstr>传统的商务园区招商</vt:lpstr>
      <vt:lpstr>行业内渠道的占比和效率</vt:lpstr>
      <vt:lpstr>核心城市2003Q3空置率继续上升2pt 北京：21% 上海：20% 深圳：21% 杭州：23% 广州：17% 成都：25%</vt:lpstr>
      <vt:lpstr>商务园区招商的业务场景和需求</vt:lpstr>
      <vt:lpstr>商务园区运营数字化总体思路</vt:lpstr>
      <vt:lpstr>总体架构</vt:lpstr>
      <vt:lpstr>商务园区运营数字化——产品数字化</vt:lpstr>
      <vt:lpstr>商务园区运营数字化——客户数字化</vt:lpstr>
      <vt:lpstr>商务园区的数字化招商——场景建模、精准匹配</vt:lpstr>
      <vt:lpstr>谢谢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商务园区招商模式的数字化转型</dc:title>
  <dc:creator>yansong.dys</dc:creator>
  <cp:lastModifiedBy>yansong.dys</cp:lastModifiedBy>
  <cp:revision>66</cp:revision>
  <dcterms:created xsi:type="dcterms:W3CDTF">2023-11-02T02:50:18Z</dcterms:created>
  <dcterms:modified xsi:type="dcterms:W3CDTF">2023-11-03T06:52:38Z</dcterms:modified>
</cp:coreProperties>
</file>